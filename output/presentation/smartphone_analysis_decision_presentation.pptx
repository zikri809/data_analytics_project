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c1d9ee90fa4f50" /><Relationship Type="http://schemas.openxmlformats.org/officeDocument/2006/relationships/extended-properties" Target="/docProps/app.xml" Id="R62dfa2d7dad84c6a" /><Relationship Type="http://schemas.openxmlformats.org/officeDocument/2006/relationships/officeDocument" Target="/ppt/presentation.xml" Id="R2e8d6e7a1bb64e00" /></Relationships>
</file>

<file path=ppt/presentation.xml><?xml version="1.0" encoding="utf-8"?>
<p:presentation xmlns:p="http://schemas.openxmlformats.org/presentationml/2006/main">
  <p:sldMasterIdLst>
    <p:sldMasterId xmlns:r="http://schemas.openxmlformats.org/officeDocument/2006/relationships" id="2147483648" r:id="Rca6ea37e6723445a"/>
  </p:sldMasterIdLst>
  <p:notesMasterIdLst>
    <p:notesMasterId xmlns:r="http://schemas.openxmlformats.org/officeDocument/2006/relationships" r:id="R10b45a43fc2a435a"/>
  </p:notesMasterIdLst>
  <p:sldIdLst>
    <p:sldId xmlns:r="http://schemas.openxmlformats.org/officeDocument/2006/relationships" id="256" r:id="R514e4728880d4648"/>
    <p:sldId xmlns:r="http://schemas.openxmlformats.org/officeDocument/2006/relationships" id="257" r:id="R82e7c7e422df444a"/>
    <p:sldId xmlns:r="http://schemas.openxmlformats.org/officeDocument/2006/relationships" id="258" r:id="R4ba5914811f94f45"/>
    <p:sldId xmlns:r="http://schemas.openxmlformats.org/officeDocument/2006/relationships" id="259" r:id="Recef8f080da74520"/>
    <p:sldId xmlns:r="http://schemas.openxmlformats.org/officeDocument/2006/relationships" id="260" r:id="R40f1e0f5da974cce"/>
    <p:sldId xmlns:r="http://schemas.openxmlformats.org/officeDocument/2006/relationships" id="261" r:id="R9aca0cb9befd4f63"/>
    <p:sldId xmlns:r="http://schemas.openxmlformats.org/officeDocument/2006/relationships" id="262" r:id="R24ae0fe12de3434f"/>
    <p:sldId xmlns:r="http://schemas.openxmlformats.org/officeDocument/2006/relationships" id="263" r:id="Rf394672b1f8a4804"/>
    <p:sldId xmlns:r="http://schemas.openxmlformats.org/officeDocument/2006/relationships" id="264" r:id="R54fd9aac20cf4ffc"/>
    <p:sldId xmlns:r="http://schemas.openxmlformats.org/officeDocument/2006/relationships" id="265" r:id="R0a27423f9f61474d"/>
    <p:sldId xmlns:r="http://schemas.openxmlformats.org/officeDocument/2006/relationships" id="266" r:id="Rc1f559ccd5db4a90"/>
    <p:sldId xmlns:r="http://schemas.openxmlformats.org/officeDocument/2006/relationships" id="267" r:id="R7bfa3bb7f5bd4495"/>
    <p:sldId xmlns:r="http://schemas.openxmlformats.org/officeDocument/2006/relationships" id="268" r:id="R4d3689343fcb4355"/>
    <p:sldId xmlns:r="http://schemas.openxmlformats.org/officeDocument/2006/relationships" id="269" r:id="Rd0db333e159c431e"/>
    <p:sldId xmlns:r="http://schemas.openxmlformats.org/officeDocument/2006/relationships" id="270" r:id="R5c5100f6b6504d0d"/>
    <p:sldId xmlns:r="http://schemas.openxmlformats.org/officeDocument/2006/relationships" id="271" r:id="R9d04fa68db724c33"/>
    <p:sldId xmlns:r="http://schemas.openxmlformats.org/officeDocument/2006/relationships" id="272" r:id="R22561094e7a749ab"/>
    <p:sldId xmlns:r="http://schemas.openxmlformats.org/officeDocument/2006/relationships" id="273" r:id="Rbf211b82d75a420e"/>
    <p:sldId xmlns:r="http://schemas.openxmlformats.org/officeDocument/2006/relationships" id="274" r:id="R5f2d01d7e991404d"/>
    <p:sldId xmlns:r="http://schemas.openxmlformats.org/officeDocument/2006/relationships" id="275" r:id="R6bfc87e89a9d4a1d"/>
    <p:sldId xmlns:r="http://schemas.openxmlformats.org/officeDocument/2006/relationships" id="276" r:id="R5e09d4415a51409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3ab7074fb34fcb" /><Relationship Type="http://schemas.openxmlformats.org/officeDocument/2006/relationships/slideMaster" Target="/ppt/slideMasters/slideMaster1.xml" Id="Rca6ea37e6723445a" /><Relationship Type="http://schemas.openxmlformats.org/officeDocument/2006/relationships/notesMaster" Target="/ppt/notesMasters/notesMaster1.xml" Id="R10b45a43fc2a435a" /><Relationship Type="http://schemas.openxmlformats.org/officeDocument/2006/relationships/presProps" Target="/ppt/presProps.xml" Id="Rd5088d41d49d4968" /><Relationship Type="http://schemas.openxmlformats.org/officeDocument/2006/relationships/tableStyles" Target="/ppt/tableStyles.xml" Id="R16720ed91b2e453e" /><Relationship Type="http://schemas.openxmlformats.org/officeDocument/2006/relationships/slide" Target="/ppt/slides/slide1.xml" Id="R514e4728880d4648" /><Relationship Type="http://schemas.openxmlformats.org/officeDocument/2006/relationships/slide" Target="/ppt/slides/slide2.xml" Id="R82e7c7e422df444a" /><Relationship Type="http://schemas.openxmlformats.org/officeDocument/2006/relationships/slide" Target="/ppt/slides/slide3.xml" Id="R4ba5914811f94f45" /><Relationship Type="http://schemas.openxmlformats.org/officeDocument/2006/relationships/slide" Target="/ppt/slides/slide4.xml" Id="Recef8f080da74520" /><Relationship Type="http://schemas.openxmlformats.org/officeDocument/2006/relationships/slide" Target="/ppt/slides/slide5.xml" Id="R40f1e0f5da974cce" /><Relationship Type="http://schemas.openxmlformats.org/officeDocument/2006/relationships/slide" Target="/ppt/slides/slide6.xml" Id="R9aca0cb9befd4f63" /><Relationship Type="http://schemas.openxmlformats.org/officeDocument/2006/relationships/slide" Target="/ppt/slides/slide7.xml" Id="R24ae0fe12de3434f" /><Relationship Type="http://schemas.openxmlformats.org/officeDocument/2006/relationships/slide" Target="/ppt/slides/slide8.xml" Id="Rf394672b1f8a4804" /><Relationship Type="http://schemas.openxmlformats.org/officeDocument/2006/relationships/slide" Target="/ppt/slides/slide9.xml" Id="R54fd9aac20cf4ffc" /><Relationship Type="http://schemas.openxmlformats.org/officeDocument/2006/relationships/slide" Target="/ppt/slides/slide10.xml" Id="R0a27423f9f61474d" /><Relationship Type="http://schemas.openxmlformats.org/officeDocument/2006/relationships/slide" Target="/ppt/slides/slide11.xml" Id="Rc1f559ccd5db4a90" /><Relationship Type="http://schemas.openxmlformats.org/officeDocument/2006/relationships/slide" Target="/ppt/slides/slide12.xml" Id="R7bfa3bb7f5bd4495" /><Relationship Type="http://schemas.openxmlformats.org/officeDocument/2006/relationships/slide" Target="/ppt/slides/slide13.xml" Id="R4d3689343fcb4355" /><Relationship Type="http://schemas.openxmlformats.org/officeDocument/2006/relationships/slide" Target="/ppt/slides/slide14.xml" Id="Rd0db333e159c431e" /><Relationship Type="http://schemas.openxmlformats.org/officeDocument/2006/relationships/slide" Target="/ppt/slides/slide15.xml" Id="R5c5100f6b6504d0d" /><Relationship Type="http://schemas.openxmlformats.org/officeDocument/2006/relationships/slide" Target="/ppt/slides/slide16.xml" Id="R9d04fa68db724c33" /><Relationship Type="http://schemas.openxmlformats.org/officeDocument/2006/relationships/slide" Target="/ppt/slides/slide17.xml" Id="R22561094e7a749ab" /><Relationship Type="http://schemas.openxmlformats.org/officeDocument/2006/relationships/slide" Target="/ppt/slides/slide18.xml" Id="Rbf211b82d75a420e" /><Relationship Type="http://schemas.openxmlformats.org/officeDocument/2006/relationships/slide" Target="/ppt/slides/slide19.xml" Id="R5f2d01d7e991404d" /><Relationship Type="http://schemas.openxmlformats.org/officeDocument/2006/relationships/slide" Target="/ppt/slides/slide20.xml" Id="R6bfc87e89a9d4a1d" /><Relationship Type="http://schemas.openxmlformats.org/officeDocument/2006/relationships/slide" Target="/ppt/slides/slide21.xml" Id="R5e09d4415a5140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88b85a69cf44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c7a7e5e6cf4aa0" /><Relationship Type="http://schemas.openxmlformats.org/officeDocument/2006/relationships/notesMaster" Target="/ppt/notesMasters/notesMaster1.xml" Id="Rc8dd1504a4114c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cb073696744f87" /><Relationship Type="http://schemas.openxmlformats.org/officeDocument/2006/relationships/notesMaster" Target="/ppt/notesMasters/notesMaster1.xml" Id="R7b830db47a8549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7f3c05b7d64ff0" /><Relationship Type="http://schemas.openxmlformats.org/officeDocument/2006/relationships/notesMaster" Target="/ppt/notesMasters/notesMaster1.xml" Id="R9cf86afa96e440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0835b4e9f34aa7" /><Relationship Type="http://schemas.openxmlformats.org/officeDocument/2006/relationships/notesMaster" Target="/ppt/notesMasters/notesMaster1.xml" Id="Rc562e7a0b0ac4b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82e5546b30481f" /><Relationship Type="http://schemas.openxmlformats.org/officeDocument/2006/relationships/notesMaster" Target="/ppt/notesMasters/notesMaster1.xml" Id="R042b0aefe1e444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0d418d787b4cb9" /><Relationship Type="http://schemas.openxmlformats.org/officeDocument/2006/relationships/notesMaster" Target="/ppt/notesMasters/notesMaster1.xml" Id="R15752bfb41e147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28cd94977943ff" /><Relationship Type="http://schemas.openxmlformats.org/officeDocument/2006/relationships/notesMaster" Target="/ppt/notesMasters/notesMaster1.xml" Id="R91b51d37a1f24d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d88bf0339f40b2" /><Relationship Type="http://schemas.openxmlformats.org/officeDocument/2006/relationships/notesMaster" Target="/ppt/notesMasters/notesMaster1.xml" Id="R01bf59f1dd124d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3b84f1e2844768" /><Relationship Type="http://schemas.openxmlformats.org/officeDocument/2006/relationships/notesMaster" Target="/ppt/notesMasters/notesMaster1.xml" Id="R23218384f8d24f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483aa8c35044f9" /><Relationship Type="http://schemas.openxmlformats.org/officeDocument/2006/relationships/notesMaster" Target="/ppt/notesMasters/notesMaster1.xml" Id="R148cd74e621f4a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a90edc8d004308" /><Relationship Type="http://schemas.openxmlformats.org/officeDocument/2006/relationships/notesMaster" Target="/ppt/notesMasters/notesMaster1.xml" Id="Red380c0605124b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3fe1383913422c" /><Relationship Type="http://schemas.openxmlformats.org/officeDocument/2006/relationships/notesMaster" Target="/ppt/notesMasters/notesMaster1.xml" Id="Rc5c11d06d68a46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0c7398c9fd48f5" /><Relationship Type="http://schemas.openxmlformats.org/officeDocument/2006/relationships/notesMaster" Target="/ppt/notesMasters/notesMaster1.xml" Id="R15df0132ecdc4d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9d40fca17e4a99" /><Relationship Type="http://schemas.openxmlformats.org/officeDocument/2006/relationships/notesMaster" Target="/ppt/notesMasters/notesMaster1.xml" Id="R2a26f83c6de94e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bc60711f7c4511" /><Relationship Type="http://schemas.openxmlformats.org/officeDocument/2006/relationships/notesMaster" Target="/ppt/notesMasters/notesMaster1.xml" Id="R68a7597a4ace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8412d5af294a49" /><Relationship Type="http://schemas.openxmlformats.org/officeDocument/2006/relationships/notesMaster" Target="/ppt/notesMasters/notesMaster1.xml" Id="R75f17993676c49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0f5d12cae2445f" /><Relationship Type="http://schemas.openxmlformats.org/officeDocument/2006/relationships/notesMaster" Target="/ppt/notesMasters/notesMaster1.xml" Id="R34d817bfa6a349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610019ab0a64222" /><Relationship Type="http://schemas.openxmlformats.org/officeDocument/2006/relationships/notesMaster" Target="/ppt/notesMasters/notesMaster1.xml" Id="R37b1f8d3557649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ca012ff1314340" /><Relationship Type="http://schemas.openxmlformats.org/officeDocument/2006/relationships/notesMaster" Target="/ppt/notesMasters/notesMaster1.xml" Id="Rb681b05922bf4d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a80ffe6aa844f1" /><Relationship Type="http://schemas.openxmlformats.org/officeDocument/2006/relationships/notesMaster" Target="/ppt/notesMasters/notesMaster1.xml" Id="Ref2f756c6d7342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37f9469a78b4899" /><Relationship Type="http://schemas.openxmlformats.org/officeDocument/2006/relationships/notesMaster" Target="/ppt/notesMasters/notesMaster1.xml" Id="R86c77a68e6bc4e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deck is intentionally more detailed, so the slides can stand alone as explanation material.</a:t>
            </a:r>
          </a:p>
          <a:p xmlns:a="http://schemas.openxmlformats.org/drawingml/2006/main">
            <a:r>
              <a:t>Set the thesis: strong pipeline, but careful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coordinate timing.</a:t>
            </a:r>
          </a:p>
          <a:p xmlns:a="http://schemas.openxmlformats.org/drawingml/2006/main">
            <a:r>
              <a:t>Tell presenters to spend more time on interpretation, not just reading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storyline bridge before Person 1 begins.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 1 should speak slowly here: establish trust in the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correction. Make sure the audience hears the exact replacement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the exact wording the presenter can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 2 should emphasize leakage control as a methodological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leakage slide. Explain deterministic mapping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imply gender is universally irrelevant. Say it showed weak relationship in this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Person 3 with intuitive group mean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effect size as practical separation between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caveat shows methodological maturity.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this slide directly to Person 4’s simpler final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 4 explains model hygiene.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explainability matters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metrics, then explain confusion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model interpretation back to EDA.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honesty slide. It protects the team in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final recap or Q&amp;A.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useful if the presentation needs a smooth group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confidence and caution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7403b6ee484b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8260e237654c75" /><Relationship Type="http://schemas.openxmlformats.org/officeDocument/2006/relationships/slideLayout" Target="/ppt/slideLayouts/slideLayout1.xml" Id="Re5564ce1acfd4c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564ce1acfd4c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297aa020574fc9" /><Relationship Type="http://schemas.openxmlformats.org/officeDocument/2006/relationships/chart" Target="/ppt/slides/charts/chart1.xml" Id="Re5b2635955b0467e" /><Relationship Type="http://schemas.openxmlformats.org/officeDocument/2006/relationships/notesSlide" Target="/ppt/notesSlides/notesSlide1.xml" Id="R2d2a2fac90e240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41801efffd4607" /><Relationship Type="http://schemas.openxmlformats.org/officeDocument/2006/relationships/notesSlide" Target="/ppt/notesSlides/notesSlide2.xml" Id="R6a7e35fb70ad47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5f77bd6aeb4717" /><Relationship Type="http://schemas.openxmlformats.org/officeDocument/2006/relationships/notesSlide" Target="/ppt/notesSlides/notesSlide3.xml" Id="Re318377393ff43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90339183ed4bc6" /><Relationship Type="http://schemas.openxmlformats.org/officeDocument/2006/relationships/notesSlide" Target="/ppt/notesSlides/notesSlide4.xml" Id="R4b06c593e20640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d88f585a0a457f" /><Relationship Type="http://schemas.openxmlformats.org/officeDocument/2006/relationships/chart" Target="/ppt/slides/charts/chart2.xml" Id="Rd774e6b31c48446f" /><Relationship Type="http://schemas.openxmlformats.org/officeDocument/2006/relationships/notesSlide" Target="/ppt/notesSlides/notesSlide5.xml" Id="Re341e5da667b4b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a97a7fc6c24a3d" /><Relationship Type="http://schemas.openxmlformats.org/officeDocument/2006/relationships/notesSlide" Target="/ppt/notesSlides/notesSlide6.xml" Id="R668fb69fda6249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2ed81b699f4caa" /><Relationship Type="http://schemas.openxmlformats.org/officeDocument/2006/relationships/notesSlide" Target="/ppt/notesSlides/notesSlide7.xml" Id="R5174e4593adb4f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566a1f244e4e20" /><Relationship Type="http://schemas.openxmlformats.org/officeDocument/2006/relationships/notesSlide" Target="/ppt/notesSlides/notesSlide8.xml" Id="R9ea4289c3b4842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9e7176d20642bf" /><Relationship Type="http://schemas.openxmlformats.org/officeDocument/2006/relationships/chart" Target="/ppt/slides/charts/chart3.xml" Id="Re02fe21f72de43a5" /><Relationship Type="http://schemas.openxmlformats.org/officeDocument/2006/relationships/notesSlide" Target="/ppt/notesSlides/notesSlide9.xml" Id="R403822d8aed443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d9ecbac04c4a3a" /><Relationship Type="http://schemas.openxmlformats.org/officeDocument/2006/relationships/chart" Target="/ppt/slides/charts/chart4.xml" Id="R9fddd4c540f74cf1" /><Relationship Type="http://schemas.openxmlformats.org/officeDocument/2006/relationships/notesSlide" Target="/ppt/notesSlides/notesSlide10.xml" Id="R35fdc192648b47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a602b2190c4c5e" /><Relationship Type="http://schemas.openxmlformats.org/officeDocument/2006/relationships/chart" Target="/ppt/slides/charts/chart5.xml" Id="R72b4ab7c425d40fc" /><Relationship Type="http://schemas.openxmlformats.org/officeDocument/2006/relationships/notesSlide" Target="/ppt/notesSlides/notesSlide11.xml" Id="R008d877e5a914f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2f5e093dc5a4029" /><Relationship Type="http://schemas.openxmlformats.org/officeDocument/2006/relationships/chart" Target="/ppt/slides/charts/chart6.xml" Id="Rc9362a1da2494f64" /><Relationship Type="http://schemas.openxmlformats.org/officeDocument/2006/relationships/notesSlide" Target="/ppt/notesSlides/notesSlide12.xml" Id="R349bddbdd0ae4b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1a9a92f45e4b36" /><Relationship Type="http://schemas.openxmlformats.org/officeDocument/2006/relationships/chart" Target="/ppt/slides/charts/chart7.xml" Id="Rb91e6b89d6364567" /><Relationship Type="http://schemas.openxmlformats.org/officeDocument/2006/relationships/notesSlide" Target="/ppt/notesSlides/notesSlide13.xml" Id="Rcf2805f4eefb43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4b34de9869c43bf" /><Relationship Type="http://schemas.openxmlformats.org/officeDocument/2006/relationships/notesSlide" Target="/ppt/notesSlides/notesSlide14.xml" Id="R6a06da41701f42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2e0c5079b34478f" /><Relationship Type="http://schemas.openxmlformats.org/officeDocument/2006/relationships/chart" Target="/ppt/slides/charts/chart8.xml" Id="R35e2cf845c754669" /><Relationship Type="http://schemas.openxmlformats.org/officeDocument/2006/relationships/notesSlide" Target="/ppt/notesSlides/notesSlide15.xml" Id="Re099a312d9bd47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d0f87e69a34a29" /><Relationship Type="http://schemas.openxmlformats.org/officeDocument/2006/relationships/notesSlide" Target="/ppt/notesSlides/notesSlide16.xml" Id="R11f5334caeb748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c77856a353f447b" /><Relationship Type="http://schemas.openxmlformats.org/officeDocument/2006/relationships/chart" Target="/ppt/slides/charts/chart9.xml" Id="Rdd404ddd961c41d0" /><Relationship Type="http://schemas.openxmlformats.org/officeDocument/2006/relationships/notesSlide" Target="/ppt/notesSlides/notesSlide17.xml" Id="Re51b80aa6fbc4f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87f1878e5324c7d" /><Relationship Type="http://schemas.openxmlformats.org/officeDocument/2006/relationships/notesSlide" Target="/ppt/notesSlides/notesSlide18.xml" Id="Rd7db1750381544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648d5160044aae" /><Relationship Type="http://schemas.openxmlformats.org/officeDocument/2006/relationships/notesSlide" Target="/ppt/notesSlides/notesSlide19.xml" Id="R5210d638944e47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7ee825db1142da" /><Relationship Type="http://schemas.openxmlformats.org/officeDocument/2006/relationships/notesSlide" Target="/ppt/notesSlides/notesSlide20.xml" Id="Rc133d9b4609d48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3034fd21e2f4a54" /><Relationship Type="http://schemas.openxmlformats.org/officeDocument/2006/relationships/notesSlide" Target="/ppt/notesSlides/notesSlide21.xml" Id="R1386bbacc9dd4668" /></Relationships>
</file>

<file path=ppt/slides/charts/chart1.xml><?xml version="1.0" encoding="utf-8"?>
<c:chartSpace xmlns:c="http://schemas.openxmlformats.org/drawingml/2006/chart">
  <c:lang val="en-US"/>
  <c:roundedCorners val="0"/>
  <c:chart>
    <c:plotArea>
      <c:layout/>
      <c:doughnutChart>
        <c:ser>
          <c:idx val="0"/>
          <c:order val="0"/>
          <c:tx>
            <c:v>Target share</c:v>
          </c:tx>
          <c:dLbls>
            <c:showLegendKey val="0"/>
            <c:showVal val="0"/>
            <c:showCatName val="0"/>
            <c:showSerName val="0"/>
            <c:showPercent val="0"/>
            <c:showBubbleSize val="0"/>
            <c:showLeaderLines val="0"/>
          </c:dLbls>
          <c:cat>
            <c:strLit>
              <c:ptCount val="2"/>
              <c:pt idx="0">
                <c:v>Label 0</c:v>
              </c:pt>
              <c:pt idx="1">
                <c:v>Label 1</c:v>
              </c:pt>
            </c:strLit>
          </c:cat>
          <c:val>
            <c:numLit>
              <c:formatCode>General</c:formatCode>
              <c:ptCount val="2"/>
              <c:pt idx="0">
                <c:v>29.23</c:v>
              </c:pt>
              <c:pt idx="1">
                <c:v>70.77</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LegendKey val="0"/>
          <c:showVal val="0"/>
          <c:showCatName val="0"/>
          <c:showSerName val="0"/>
          <c:showPercent val="1"/>
          <c:showBubbleSize val="0"/>
          <c:showLeaderLines val="0"/>
        </c:dLbls>
        <c:holeSize val="58"/>
      </c:doughnutChart>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475569"/>
              </a:solidFill>
            </a:defRPr>
          </a:pPr>
        </a:p>
      </c:txPr>
    </c:legend>
    <c:plotVisOnly val="1"/>
  </c:chart>
</c:chartSpace>
</file>

<file path=ppt/slides/charts/chart2.xml><?xml version="1.0" encoding="utf-8"?>
<c:chartSpace xmlns:c="http://schemas.openxmlformats.org/drawingml/2006/chart">
  <c:lang val="en-US"/>
  <c:roundedCorners val="0"/>
  <c:chart>
    <c:plotArea>
      <c:layout/>
      <c:barChart>
        <c:barDir val="col"/>
        <c:grouping val="clustered"/>
        <c:varyColors val="0"/>
        <c:ser>
          <c:idx val="0"/>
          <c:order val="0"/>
          <c:tx>
            <c:v>Rows</c:v>
          </c:tx>
          <c:spPr>
            <a:solidFill xmlns:a="http://schemas.openxmlformats.org/drawingml/2006/main">
              <a:srgbClr val="2563EB"/>
            </a:solidFill>
          </c:spPr>
          <c:dLbls>
            <c:showLegendKey val="0"/>
            <c:showVal val="0"/>
            <c:showCatName val="0"/>
            <c:showSerName val="0"/>
            <c:showPercent val="0"/>
            <c:showBubbleSize val="0"/>
            <c:showLeaderLines val="0"/>
          </c:dLbls>
          <c:cat>
            <c:strLit>
              <c:ptCount val="4"/>
              <c:pt idx="0">
                <c:v>None</c:v>
              </c:pt>
              <c:pt idx="1">
                <c:v>Mild</c:v>
              </c:pt>
              <c:pt idx="2">
                <c:v>Moderate</c:v>
              </c:pt>
              <c:pt idx="3">
                <c:v>Severe</c:v>
              </c:pt>
            </c:strLit>
          </c:cat>
          <c:val>
            <c:numLit>
              <c:formatCode>General</c:formatCode>
              <c:ptCount val="4"/>
              <c:pt idx="0">
                <c:v>819</c:v>
              </c:pt>
              <c:pt idx="1">
                <c:v>1373</c:v>
              </c:pt>
              <c:pt idx="2">
                <c:v>2874</c:v>
              </c:pt>
              <c:pt idx="3">
                <c:v>2434</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75569"/>
                </a:solidFill>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es val="autoZero"/>
        <c:crossBetween val="between"/>
      </c:valAx>
    </c:plotArea>
    <c:plotVisOnly val="1"/>
  </c:chart>
</c:chartSpace>
</file>

<file path=ppt/slides/charts/chart3.xml><?xml version="1.0" encoding="utf-8"?>
<c:chartSpace xmlns:c="http://schemas.openxmlformats.org/drawingml/2006/chart">
  <c:lang val="en-US"/>
  <c:roundedCorners val="0"/>
  <c:chart>
    <c:plotArea>
      <c:layout/>
      <c:barChart>
        <c:barDir val="col"/>
        <c:grouping val="clustered"/>
        <c:varyColors val="0"/>
        <c:ser>
          <c:idx val="0"/>
          <c:order val="0"/>
          <c:tx>
            <c:v>Label 1 share</c:v>
          </c:tx>
          <c:spPr>
            <a:solidFill xmlns:a="http://schemas.openxmlformats.org/drawingml/2006/main">
              <a:srgbClr val="0F766E"/>
            </a:solidFill>
          </c:spPr>
          <c:dLbls>
            <c:showLegendKey val="0"/>
            <c:showVal val="0"/>
            <c:showCatName val="0"/>
            <c:showSerName val="0"/>
            <c:showPercent val="0"/>
            <c:showBubbleSize val="0"/>
            <c:showLeaderLines val="0"/>
          </c:dLbls>
          <c:cat>
            <c:strLit>
              <c:ptCount val="3"/>
              <c:pt idx="0">
                <c:v>Female</c:v>
              </c:pt>
              <c:pt idx="1">
                <c:v>Male</c:v>
              </c:pt>
              <c:pt idx="2">
                <c:v>Other</c:v>
              </c:pt>
            </c:strLit>
          </c:cat>
          <c:val>
            <c:numLit>
              <c:formatCode>0.0%</c:formatCode>
              <c:ptCount val="3"/>
              <c:pt idx="0">
                <c:v>70.22</c:v>
              </c:pt>
              <c:pt idx="1">
                <c:v>72.23</c:v>
              </c:pt>
              <c:pt idx="2">
                <c:v>69.83</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75569"/>
                </a:solidFill>
              </a:defRPr>
            </a:pPr>
          </a:p>
        </c:txPr>
        <c:crossAx val="48672768"/>
        <c:crosses val="autoZero"/>
        <c:lblAlgn val="ctr"/>
        <c:lblOffset val="100"/>
        <c:noMultiLvlLbl val="0"/>
      </c:catAx>
      <c:valAx>
        <c:axId val="48672768"/>
        <c:scaling>
          <c:orientation val="minMax"/>
          <c:max val="75"/>
          <c:min val="65"/>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es val="autoZero"/>
        <c:crossBetween val="between"/>
      </c:valAx>
    </c:plotArea>
    <c:plotVisOnly val="1"/>
  </c:chart>
</c:chartSpace>
</file>

<file path=ppt/slides/charts/chart4.xml><?xml version="1.0" encoding="utf-8"?>
<c:chartSpace xmlns:c="http://schemas.openxmlformats.org/drawingml/2006/chart">
  <c:lang val="en-US"/>
  <c:roundedCorners val="0"/>
  <c:chart>
    <c:plotArea>
      <c:layout/>
      <c:barChart>
        <c:barDir val="col"/>
        <c:grouping val="clustered"/>
        <c:varyColors val="0"/>
        <c:ser>
          <c:idx val="0"/>
          <c:order val="0"/>
          <c:tx>
            <c:v>Label 0</c:v>
          </c:tx>
          <c:spPr>
            <a:solidFill xmlns:a="http://schemas.openxmlformats.org/drawingml/2006/main">
              <a:srgbClr val="475569"/>
            </a:solidFill>
          </c:spPr>
          <c:dLbls>
            <c:showLegendKey val="0"/>
            <c:showVal val="0"/>
            <c:showCatName val="0"/>
            <c:showSerName val="0"/>
            <c:showPercent val="0"/>
            <c:showBubbleSize val="0"/>
            <c:showLeaderLines val="0"/>
          </c:dLbls>
          <c:cat>
            <c:strLit>
              <c:ptCount val="5"/>
              <c:pt idx="0">
                <c:v>Daily screen</c:v>
              </c:pt>
              <c:pt idx="1">
                <c:v>Weekend screen</c:v>
              </c:pt>
              <c:pt idx="2">
                <c:v>Social media</c:v>
              </c:pt>
              <c:pt idx="3">
                <c:v>Sleep</c:v>
              </c:pt>
              <c:pt idx="4">
                <c:v>Gaming</c:v>
              </c:pt>
            </c:strLit>
          </c:cat>
          <c:val>
            <c:numLit>
              <c:formatCode>General</c:formatCode>
              <c:ptCount val="5"/>
              <c:pt idx="0">
                <c:v>5.16</c:v>
              </c:pt>
              <c:pt idx="1">
                <c:v>6.89</c:v>
              </c:pt>
              <c:pt idx="2">
                <c:v>2.28</c:v>
              </c:pt>
              <c:pt idx="3">
                <c:v>6.77</c:v>
              </c:pt>
              <c:pt idx="4">
                <c:v>2.2</c:v>
              </c:pt>
            </c:numLit>
          </c:val>
        </c:ser>
        <c:ser>
          <c:idx val="1"/>
          <c:order val="1"/>
          <c:tx>
            <c:v>Label 1</c:v>
          </c:tx>
          <c:spPr>
            <a:solidFill xmlns:a="http://schemas.openxmlformats.org/drawingml/2006/main">
              <a:srgbClr val="2563EB"/>
            </a:solidFill>
          </c:spPr>
          <c:dLbls>
            <c:showLegendKey val="0"/>
            <c:showVal val="0"/>
            <c:showCatName val="0"/>
            <c:showSerName val="0"/>
            <c:showPercent val="0"/>
            <c:showBubbleSize val="0"/>
            <c:showLeaderLines val="0"/>
          </c:dLbls>
          <c:cat>
            <c:strLit>
              <c:ptCount val="5"/>
              <c:pt idx="0">
                <c:v>Daily screen</c:v>
              </c:pt>
              <c:pt idx="1">
                <c:v>Weekend screen</c:v>
              </c:pt>
              <c:pt idx="2">
                <c:v>Social media</c:v>
              </c:pt>
              <c:pt idx="3">
                <c:v>Sleep</c:v>
              </c:pt>
              <c:pt idx="4">
                <c:v>Gaming</c:v>
              </c:pt>
            </c:strLit>
          </c:cat>
          <c:val>
            <c:numLit>
              <c:formatCode>General</c:formatCode>
              <c:ptCount val="5"/>
              <c:pt idx="0">
                <c:v>8.47</c:v>
              </c:pt>
              <c:pt idx="1">
                <c:v>10.21</c:v>
              </c:pt>
              <c:pt idx="2">
                <c:v>3.72</c:v>
              </c:pt>
              <c:pt idx="3">
                <c:v>6.66</c:v>
              </c:pt>
              <c:pt idx="4">
                <c:v>2.23</c:v>
              </c:pt>
            </c:numLit>
          </c:val>
        </c:ser>
        <c:dLbls>
          <c:txPr>
            <a:bodyPr xmlns:a="http://schemas.openxmlformats.org/drawingml/2006/main" anchorCtr="1"/>
            <a:lstStyle xmlns:a="http://schemas.openxmlformats.org/drawingml/2006/main"/>
            <a:p xmlns:a="http://schemas.openxmlformats.org/drawingml/2006/main">
              <a:pPr>
                <a:defRPr sz="750" b="1">
                  <a:solidFill>
                    <a:srgbClr val="0F172A"/>
                  </a:solidFill>
                </a:defRPr>
              </a:pPr>
            </a:p>
          </c:txPr>
          <c:dLblPos val="outEnd"/>
          <c:showLegendKey val="0"/>
          <c:showVal val="1"/>
          <c:showCatName val="0"/>
          <c:showSerName val="0"/>
          <c:showPercent val="0"/>
          <c:showBubbleSize val="0"/>
          <c:showLeaderLines val="0"/>
        </c:dLbls>
        <c:gapWidth val="44"/>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a:t>Mean hours</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es val="autoZero"/>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475569"/>
              </a:solidFill>
            </a:defRPr>
          </a:pPr>
        </a:p>
      </c:txPr>
    </c:legend>
    <c:plotVisOnly val="1"/>
  </c:chart>
</c:chartSpace>
</file>

<file path=ppt/slides/charts/chart5.xml><?xml version="1.0" encoding="utf-8"?>
<c:chartSpace xmlns:c="http://schemas.openxmlformats.org/drawingml/2006/chart">
  <c:lang val="en-US"/>
  <c:roundedCorners val="0"/>
  <c:chart>
    <c:plotArea>
      <c:layout/>
      <c:barChart>
        <c:barDir val="bar"/>
        <c:grouping val="clustered"/>
        <c:varyColors val="0"/>
        <c:ser>
          <c:idx val="0"/>
          <c:order val="0"/>
          <c:tx>
            <c:v>Rank-biserial r</c:v>
          </c:tx>
          <c:spPr>
            <a:solidFill xmlns:a="http://schemas.openxmlformats.org/drawingml/2006/main">
              <a:srgbClr val="0F766E"/>
            </a:solidFill>
          </c:spPr>
          <c:dLbls>
            <c:showLegendKey val="0"/>
            <c:showVal val="0"/>
            <c:showCatName val="0"/>
            <c:showSerName val="0"/>
            <c:showPercent val="0"/>
            <c:showBubbleSize val="0"/>
            <c:showLeaderLines val="0"/>
          </c:dLbls>
          <c:cat>
            <c:strLit>
              <c:ptCount val="7"/>
              <c:pt idx="0">
                <c:v>Daily screen</c:v>
              </c:pt>
              <c:pt idx="1">
                <c:v>Weekend screen</c:v>
              </c:pt>
              <c:pt idx="2">
                <c:v>Social media</c:v>
              </c:pt>
              <c:pt idx="3">
                <c:v>Sleep</c:v>
              </c:pt>
              <c:pt idx="4">
                <c:v>Gaming</c:v>
              </c:pt>
              <c:pt idx="5">
                <c:v>App opens</c:v>
              </c:pt>
              <c:pt idx="6">
                <c:v>Age</c:v>
              </c:pt>
            </c:strLit>
          </c:cat>
          <c:val>
            <c:numLit>
              <c:formatCode>General</c:formatCode>
              <c:ptCount val="7"/>
              <c:pt idx="0">
                <c:v>0.731</c:v>
              </c:pt>
              <c:pt idx="1">
                <c:v>0.712</c:v>
              </c:pt>
              <c:pt idx="2">
                <c:v>0.527</c:v>
              </c:pt>
              <c:pt idx="3">
                <c:v>0.045</c:v>
              </c:pt>
              <c:pt idx="4">
                <c:v>0.011</c:v>
              </c:pt>
              <c:pt idx="5">
                <c:v>0.01</c:v>
              </c:pt>
              <c:pt idx="6">
                <c:v>0.005</c:v>
              </c:pt>
            </c:numLit>
          </c:val>
        </c:ser>
        <c:dLbls>
          <c:txPr>
            <a:bodyPr xmlns:a="http://schemas.openxmlformats.org/drawingml/2006/main" anchorCtr="1"/>
            <a:lstStyle xmlns:a="http://schemas.openxmlformats.org/drawingml/2006/main"/>
            <a:p xmlns:a="http://schemas.openxmlformats.org/drawingml/2006/main">
              <a:pPr>
                <a:defRPr sz="900" b="1">
                  <a:solidFill>
                    <a:srgbClr val="0F172A"/>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75569"/>
                </a:solidFill>
              </a:defRPr>
            </a:pPr>
          </a:p>
        </c:txPr>
        <c:crossAx val="48650112"/>
        <c:crosses val="autoZero"/>
        <c:crossBetween val="between"/>
      </c:valAx>
    </c:plotArea>
    <c:plotVisOnly val="1"/>
  </c:chart>
</c:chartSpace>
</file>

<file path=ppt/slides/charts/chart6.xml><?xml version="1.0" encoding="utf-8"?>
<c:chartSpace xmlns:c="http://schemas.openxmlformats.org/drawingml/2006/chart">
  <c:lang val="en-US"/>
  <c:roundedCorners val="0"/>
  <c:chart>
    <c:plotArea>
      <c:layout/>
      <c:barChart>
        <c:barDir val="bar"/>
        <c:grouping val="clustered"/>
        <c:varyColors val="0"/>
        <c:ser>
          <c:idx val="0"/>
          <c:order val="0"/>
          <c:tx>
            <c:v>Effect size</c:v>
          </c:tx>
          <c:spPr>
            <a:solidFill xmlns:a="http://schemas.openxmlformats.org/drawingml/2006/main">
              <a:srgbClr val="D97706"/>
            </a:solidFill>
          </c:spPr>
          <c:dLbls>
            <c:showLegendKey val="0"/>
            <c:showVal val="0"/>
            <c:showCatName val="0"/>
            <c:showSerName val="0"/>
            <c:showPercent val="0"/>
            <c:showBubbleSize val="0"/>
            <c:showLeaderLines val="0"/>
          </c:dLbls>
          <c:cat>
            <c:strLit>
              <c:ptCount val="3"/>
              <c:pt idx="0">
                <c:v>Daily screen</c:v>
              </c:pt>
              <c:pt idx="1">
                <c:v>Weekend screen</c:v>
              </c:pt>
              <c:pt idx="2">
                <c:v>Social media</c:v>
              </c:pt>
            </c:strLit>
          </c:cat>
          <c:val>
            <c:numLit>
              <c:formatCode>General</c:formatCode>
              <c:ptCount val="3"/>
              <c:pt idx="0">
                <c:v>0.731</c:v>
              </c:pt>
              <c:pt idx="1">
                <c:v>0.712</c:v>
              </c:pt>
              <c:pt idx="2">
                <c:v>0.527</c:v>
              </c:pt>
            </c:numLit>
          </c:val>
        </c:ser>
        <c:dLbls>
          <c:txPr>
            <a:bodyPr xmlns:a="http://schemas.openxmlformats.org/drawingml/2006/main" anchorCtr="1"/>
            <a:lstStyle xmlns:a="http://schemas.openxmlformats.org/drawingml/2006/main"/>
            <a:p xmlns:a="http://schemas.openxmlformats.org/drawingml/2006/main">
              <a:pPr>
                <a:defRPr sz="900" b="1">
                  <a:solidFill>
                    <a:srgbClr val="0F172A"/>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crosses val="autoZero"/>
        <c:lblAlgn val="ctr"/>
        <c:lblOffset val="100"/>
        <c:noMultiLvlLbl val="0"/>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plotVisOnly val="1"/>
  </c:chart>
</c:chartSpace>
</file>

<file path=ppt/slides/charts/chart7.xml><?xml version="1.0" encoding="utf-8"?>
<c:chartSpace xmlns:c="http://schemas.openxmlformats.org/drawingml/2006/chart">
  <c:lang val="en-US"/>
  <c:roundedCorners val="0"/>
  <c:chart>
    <c:plotArea>
      <c:layout/>
      <c:barChart>
        <c:barDir val="bar"/>
        <c:grouping val="clustered"/>
        <c:varyColors val="0"/>
        <c:ser>
          <c:idx val="0"/>
          <c:order val="0"/>
          <c:tx>
            <c:v>Rows</c:v>
          </c:tx>
          <c:spPr>
            <a:solidFill xmlns:a="http://schemas.openxmlformats.org/drawingml/2006/main">
              <a:srgbClr val="DC2626"/>
            </a:solidFill>
          </c:spPr>
          <c:dLbls>
            <c:showLegendKey val="0"/>
            <c:showVal val="0"/>
            <c:showCatName val="0"/>
            <c:showSerName val="0"/>
            <c:showPercent val="0"/>
            <c:showBubbleSize val="0"/>
            <c:showLeaderLines val="0"/>
          </c:dLbls>
          <c:cat>
            <c:strLit>
              <c:ptCount val="2"/>
              <c:pt idx="0">
                <c:v>Component sum &gt; daily</c:v>
              </c:pt>
              <c:pt idx="1">
                <c:v>Sleep + screen + work &gt; 24h</c:v>
              </c:pt>
            </c:strLit>
          </c:cat>
          <c:val>
            <c:numLit>
              <c:formatCode>General</c:formatCode>
              <c:ptCount val="2"/>
              <c:pt idx="0">
                <c:v>4553</c:v>
              </c:pt>
              <c:pt idx="1">
                <c:v>156</c:v>
              </c:pt>
            </c:numLit>
          </c:val>
        </c:ser>
        <c:dLbls>
          <c:txPr>
            <a:bodyPr xmlns:a="http://schemas.openxmlformats.org/drawingml/2006/main" anchorCtr="1"/>
            <a:lstStyle xmlns:a="http://schemas.openxmlformats.org/drawingml/2006/main"/>
            <a:p xmlns:a="http://schemas.openxmlformats.org/drawingml/2006/main">
              <a:pPr>
                <a:defRPr sz="900" b="1">
                  <a:solidFill>
                    <a:srgbClr val="0F172A"/>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475569"/>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475569"/>
                </a:solidFill>
              </a:defRPr>
            </a:pPr>
          </a:p>
        </c:txPr>
        <c:crossAx val="48650112"/>
        <c:crosses val="autoZero"/>
        <c:crossBetween val="between"/>
      </c:valAx>
    </c:plotArea>
    <c:plotVisOnly val="1"/>
  </c:chart>
</c:chartSpace>
</file>

<file path=ppt/slides/charts/chart8.xml><?xml version="1.0" encoding="utf-8"?>
<c:chartSpace xmlns:c="http://schemas.openxmlformats.org/drawingml/2006/chart">
  <c:lang val="en-US"/>
  <c:roundedCorners val="0"/>
  <c:chart>
    <c:plotArea>
      <c:layout/>
      <c:barChart>
        <c:barDir val="col"/>
        <c:grouping val="clustered"/>
        <c:varyColors val="0"/>
        <c:ser>
          <c:idx val="0"/>
          <c:order val="0"/>
          <c:tx>
            <c:v>CV F1-score</c:v>
          </c:tx>
          <c:spPr>
            <a:solidFill xmlns:a="http://schemas.openxmlformats.org/drawingml/2006/main">
              <a:srgbClr val="2563EB"/>
            </a:solidFill>
          </c:spPr>
          <c:dLbls>
            <c:showLegendKey val="0"/>
            <c:showVal val="0"/>
            <c:showCatName val="0"/>
            <c:showSerName val="0"/>
            <c:showPercent val="0"/>
            <c:showBubbleSize val="0"/>
            <c:showLeaderLines val="0"/>
          </c:dLbls>
          <c:cat>
            <c:strLit>
              <c:ptCount val="6"/>
              <c:pt idx="0">
                <c:v>Baseline</c:v>
              </c:pt>
              <c:pt idx="1">
                <c:v>Logistic</c:v>
              </c:pt>
              <c:pt idx="2">
                <c:v>Decision tree</c:v>
              </c:pt>
              <c:pt idx="3">
                <c:v>Naive Bayes</c:v>
              </c:pt>
              <c:pt idx="4">
                <c:v>KNN</c:v>
              </c:pt>
              <c:pt idx="5">
                <c:v>Neural net</c:v>
              </c:pt>
            </c:strLit>
          </c:cat>
          <c:val>
            <c:numLit>
              <c:formatCode>0.0%</c:formatCode>
              <c:ptCount val="6"/>
              <c:pt idx="0">
                <c:v>0.8288</c:v>
              </c:pt>
              <c:pt idx="1">
                <c:v>0.9292</c:v>
              </c:pt>
              <c:pt idx="2">
                <c:v>0.9535</c:v>
              </c:pt>
              <c:pt idx="3">
                <c:v>0.9042</c:v>
              </c:pt>
              <c:pt idx="4">
                <c:v>0.9165</c:v>
              </c:pt>
              <c:pt idx="5">
                <c:v>0.9366</c:v>
              </c:pt>
            </c:numLit>
          </c:val>
        </c:ser>
        <c:dLbls>
          <c:txPr>
            <a:bodyPr xmlns:a="http://schemas.openxmlformats.org/drawingml/2006/main" anchorCtr="1"/>
            <a:lstStyle xmlns:a="http://schemas.openxmlformats.org/drawingml/2006/main"/>
            <a:p xmlns:a="http://schemas.openxmlformats.org/drawingml/2006/main">
              <a:pPr>
                <a:defRPr sz="825" b="1">
                  <a:solidFill>
                    <a:srgbClr val="0F172A"/>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475569"/>
                </a:solidFill>
              </a:defRPr>
            </a:pPr>
          </a:p>
        </c:txPr>
        <c:crossAx val="48672768"/>
        <c:crosses val="autoZero"/>
        <c:lblAlgn val="ctr"/>
        <c:lblOffset val="100"/>
        <c:noMultiLvlLbl val="0"/>
      </c:catAx>
      <c:valAx>
        <c:axId val="48672768"/>
        <c:scaling>
          <c:orientation val="minMax"/>
          <c:max val="1"/>
          <c:min val="0.75"/>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es val="autoZero"/>
        <c:crossBetween val="between"/>
      </c:valAx>
    </c:plotArea>
    <c:plotVisOnly val="1"/>
  </c:chart>
</c:chartSpace>
</file>

<file path=ppt/slides/charts/chart9.xml><?xml version="1.0" encoding="utf-8"?>
<c:chartSpace xmlns:c="http://schemas.openxmlformats.org/drawingml/2006/chart">
  <c:lang val="en-US"/>
  <c:roundedCorners val="0"/>
  <c:chart>
    <c:plotArea>
      <c:layout/>
      <c:barChart>
        <c:barDir val="bar"/>
        <c:grouping val="clustered"/>
        <c:varyColors val="0"/>
        <c:ser>
          <c:idx val="0"/>
          <c:order val="0"/>
          <c:tx>
            <c:v>Importance</c:v>
          </c:tx>
          <c:spPr>
            <a:solidFill xmlns:a="http://schemas.openxmlformats.org/drawingml/2006/main">
              <a:srgbClr val="7C3AED"/>
            </a:solidFill>
          </c:spPr>
          <c:dLbls>
            <c:showLegendKey val="0"/>
            <c:showVal val="0"/>
            <c:showCatName val="0"/>
            <c:showSerName val="0"/>
            <c:showPercent val="0"/>
            <c:showBubbleSize val="0"/>
            <c:showLeaderLines val="0"/>
          </c:dLbls>
          <c:cat>
            <c:strLit>
              <c:ptCount val="3"/>
              <c:pt idx="0">
                <c:v>Daily screen time</c:v>
              </c:pt>
              <c:pt idx="1">
                <c:v>Social media hours</c:v>
              </c:pt>
              <c:pt idx="2">
                <c:v>Sleep hours</c:v>
              </c:pt>
            </c:strLit>
          </c:cat>
          <c:val>
            <c:numLit>
              <c:formatCode>General</c:formatCode>
              <c:ptCount val="3"/>
              <c:pt idx="0">
                <c:v>0.571</c:v>
              </c:pt>
              <c:pt idx="1">
                <c:v>0.425</c:v>
              </c:pt>
              <c:pt idx="2">
                <c:v>0.003</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475569"/>
                </a:solidFill>
              </a:defRPr>
            </a:pPr>
          </a:p>
        </c:txPr>
        <c:crossAx val="48650112"/>
        <c:crosses val="autoZero"/>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B33F13-206D-4CC9-AA5F-8B590403290F}"/>
              </a:ext>
            </a:extLst>
          </p:cNvPr>
          <p:cNvSpPr>
            <a:spLocks xmlns:a="http://schemas.openxmlformats.org/drawingml/2006/main" noGrp="1"/>
          </p:cNvSpPr>
          <p:nvPr/>
        </p:nvSpPr>
        <p:spPr>
          <a:xfrm xmlns:a="http://schemas.openxmlformats.org/drawingml/2006/main">
            <a:off x="609600" y="6667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0F172A"/>
                </a:solidFill>
              </a:defRPr>
            </a:pPr>
            <a:r>
              <a:rPr sz="3600" b="1">
                <a:solidFill>
                  <a:srgbClr val="0F172A"/>
                </a:solidFill>
              </a:rPr>
              <a:t>Smartphone Usage and Addiction Analysis</a:t>
            </a:r>
          </a:p>
        </p:txBody>
      </p:sp>
      <p:sp>
        <p:nvSpPr>
          <p:cNvPr id="2" name="">
            <a:extLst xmlns:a="http://schemas.openxmlformats.org/drawingml/2006/main">
              <a:ext uri="{FF2B5EF4-FFF2-40B4-BE49-F238E27FC236}">
                <a16:creationId xmlns:a16="http://schemas.microsoft.com/office/drawing/2014/main" id="{B8A32971-C82A-46EB-A23B-6ACB460E57BE}"/>
              </a:ext>
            </a:extLst>
          </p:cNvPr>
          <p:cNvSpPr>
            <a:spLocks xmlns:a="http://schemas.openxmlformats.org/drawingml/2006/main" noGrp="1"/>
          </p:cNvSpPr>
          <p:nvPr/>
        </p:nvSpPr>
        <p:spPr>
          <a:xfrm xmlns:a="http://schemas.openxmlformats.org/drawingml/2006/main">
            <a:off x="647700" y="135255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475569"/>
                </a:solidFill>
              </a:defRPr>
            </a:pPr>
            <a:r>
              <a:rPr sz="1650" b="0">
                <a:solidFill>
                  <a:srgbClr val="475569"/>
                </a:solidFill>
              </a:rPr>
              <a:t>Detailed decision-based presentation for a 20-minute, four-person explanation</a:t>
            </a:r>
          </a:p>
        </p:txBody>
      </p:sp>
      <p:sp>
        <p:nvSpPr>
          <p:cNvPr id="3" name="">
            <a:extLst xmlns:a="http://schemas.openxmlformats.org/drawingml/2006/main">
              <a:ext uri="{FF2B5EF4-FFF2-40B4-BE49-F238E27FC236}">
                <a16:creationId xmlns:a16="http://schemas.microsoft.com/office/drawing/2014/main" id="{203F4440-B28A-4505-A05F-6384C56E72C0}"/>
              </a:ext>
            </a:extLst>
          </p:cNvPr>
          <p:cNvSpPr>
            <a:spLocks xmlns:a="http://schemas.openxmlformats.org/drawingml/2006/main" noGrp="1"/>
          </p:cNvSpPr>
          <p:nvPr/>
        </p:nvSpPr>
        <p:spPr>
          <a:xfrm xmlns:a="http://schemas.openxmlformats.org/drawingml/2006/main">
            <a:off x="723900" y="2247900"/>
            <a:ext cx="23812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0EFA7FD1-E9A4-46E6-9926-EED93E204F57}"/>
              </a:ext>
            </a:extLst>
          </p:cNvPr>
          <p:cNvSpPr>
            <a:spLocks xmlns:a="http://schemas.openxmlformats.org/drawingml/2006/main" noGrp="1"/>
          </p:cNvSpPr>
          <p:nvPr/>
        </p:nvSpPr>
        <p:spPr>
          <a:xfrm xmlns:a="http://schemas.openxmlformats.org/drawingml/2006/main">
            <a:off x="895350" y="23622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563EB"/>
                </a:solidFill>
              </a:defRPr>
            </a:pPr>
            <a:r>
              <a:rPr sz="2025" b="1">
                <a:solidFill>
                  <a:srgbClr val="2563EB"/>
                </a:solidFill>
              </a:rPr>
              <a:t>7,500</a:t>
            </a:r>
          </a:p>
        </p:txBody>
      </p:sp>
      <p:sp>
        <p:nvSpPr>
          <p:cNvPr id="5" name="">
            <a:extLst xmlns:a="http://schemas.openxmlformats.org/drawingml/2006/main">
              <a:ext uri="{FF2B5EF4-FFF2-40B4-BE49-F238E27FC236}">
                <a16:creationId xmlns:a16="http://schemas.microsoft.com/office/drawing/2014/main" id="{32CCC244-EA49-467D-B279-ADFC75864081}"/>
              </a:ext>
            </a:extLst>
          </p:cNvPr>
          <p:cNvSpPr>
            <a:spLocks xmlns:a="http://schemas.openxmlformats.org/drawingml/2006/main" noGrp="1"/>
          </p:cNvSpPr>
          <p:nvPr/>
        </p:nvSpPr>
        <p:spPr>
          <a:xfrm xmlns:a="http://schemas.openxmlformats.org/drawingml/2006/main">
            <a:off x="895350" y="27051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Rows analyzed</a:t>
            </a:r>
          </a:p>
        </p:txBody>
      </p:sp>
      <p:sp>
        <p:nvSpPr>
          <p:cNvPr id="6" name="">
            <a:extLst xmlns:a="http://schemas.openxmlformats.org/drawingml/2006/main">
              <a:ext uri="{FF2B5EF4-FFF2-40B4-BE49-F238E27FC236}">
                <a16:creationId xmlns:a16="http://schemas.microsoft.com/office/drawing/2014/main" id="{F2E08511-085F-4830-8EDD-4B648C174556}"/>
              </a:ext>
            </a:extLst>
          </p:cNvPr>
          <p:cNvSpPr>
            <a:spLocks xmlns:a="http://schemas.openxmlformats.org/drawingml/2006/main" noGrp="1"/>
          </p:cNvSpPr>
          <p:nvPr/>
        </p:nvSpPr>
        <p:spPr>
          <a:xfrm xmlns:a="http://schemas.openxmlformats.org/drawingml/2006/main">
            <a:off x="895350" y="295275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Full dataset retained</a:t>
            </a:r>
          </a:p>
        </p:txBody>
      </p:sp>
      <p:sp>
        <p:nvSpPr>
          <p:cNvPr id="7" name="">
            <a:extLst xmlns:a="http://schemas.openxmlformats.org/drawingml/2006/main">
              <a:ext uri="{FF2B5EF4-FFF2-40B4-BE49-F238E27FC236}">
                <a16:creationId xmlns:a16="http://schemas.microsoft.com/office/drawing/2014/main" id="{DF94A32B-EFC9-4180-B7A0-F3A1F0131977}"/>
              </a:ext>
            </a:extLst>
          </p:cNvPr>
          <p:cNvSpPr>
            <a:spLocks xmlns:a="http://schemas.openxmlformats.org/drawingml/2006/main" noGrp="1"/>
          </p:cNvSpPr>
          <p:nvPr/>
        </p:nvSpPr>
        <p:spPr>
          <a:xfrm xmlns:a="http://schemas.openxmlformats.org/drawingml/2006/main">
            <a:off x="3352800" y="2247900"/>
            <a:ext cx="26860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45D1118B-A83B-48D3-AB10-BE150D587601}"/>
              </a:ext>
            </a:extLst>
          </p:cNvPr>
          <p:cNvSpPr>
            <a:spLocks xmlns:a="http://schemas.openxmlformats.org/drawingml/2006/main" noGrp="1"/>
          </p:cNvSpPr>
          <p:nvPr/>
        </p:nvSpPr>
        <p:spPr>
          <a:xfrm xmlns:a="http://schemas.openxmlformats.org/drawingml/2006/main">
            <a:off x="3524250" y="2362200"/>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F766E"/>
                </a:solidFill>
              </a:defRPr>
            </a:pPr>
            <a:r>
              <a:rPr sz="2025" b="1">
                <a:solidFill>
                  <a:srgbClr val="0F766E"/>
                </a:solidFill>
              </a:rPr>
              <a:t>0</a:t>
            </a:r>
          </a:p>
        </p:txBody>
      </p:sp>
      <p:sp>
        <p:nvSpPr>
          <p:cNvPr id="9" name="">
            <a:extLst xmlns:a="http://schemas.openxmlformats.org/drawingml/2006/main">
              <a:ext uri="{FF2B5EF4-FFF2-40B4-BE49-F238E27FC236}">
                <a16:creationId xmlns:a16="http://schemas.microsoft.com/office/drawing/2014/main" id="{B230D804-E05E-44A5-A9CA-81DA830021D2}"/>
              </a:ext>
            </a:extLst>
          </p:cNvPr>
          <p:cNvSpPr>
            <a:spLocks xmlns:a="http://schemas.openxmlformats.org/drawingml/2006/main" noGrp="1"/>
          </p:cNvSpPr>
          <p:nvPr/>
        </p:nvSpPr>
        <p:spPr>
          <a:xfrm xmlns:a="http://schemas.openxmlformats.org/drawingml/2006/main">
            <a:off x="3524250" y="270510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Actual missing values</a:t>
            </a:r>
          </a:p>
        </p:txBody>
      </p:sp>
      <p:sp>
        <p:nvSpPr>
          <p:cNvPr id="10" name="">
            <a:extLst xmlns:a="http://schemas.openxmlformats.org/drawingml/2006/main">
              <a:ext uri="{FF2B5EF4-FFF2-40B4-BE49-F238E27FC236}">
                <a16:creationId xmlns:a16="http://schemas.microsoft.com/office/drawing/2014/main" id="{F3EE206C-EACE-4C23-8105-F74BFE276CB4}"/>
              </a:ext>
            </a:extLst>
          </p:cNvPr>
          <p:cNvSpPr>
            <a:spLocks xmlns:a="http://schemas.openxmlformats.org/drawingml/2006/main" noGrp="1"/>
          </p:cNvSpPr>
          <p:nvPr/>
        </p:nvSpPr>
        <p:spPr>
          <a:xfrm xmlns:a="http://schemas.openxmlformats.org/drawingml/2006/main">
            <a:off x="3524250" y="295275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Correct loading preserves None</a:t>
            </a:r>
          </a:p>
        </p:txBody>
      </p:sp>
      <p:sp>
        <p:nvSpPr>
          <p:cNvPr id="11" name="">
            <a:extLst xmlns:a="http://schemas.openxmlformats.org/drawingml/2006/main">
              <a:ext uri="{FF2B5EF4-FFF2-40B4-BE49-F238E27FC236}">
                <a16:creationId xmlns:a16="http://schemas.microsoft.com/office/drawing/2014/main" id="{DFE9B18B-EE61-4D89-B188-313B28980CCC}"/>
              </a:ext>
            </a:extLst>
          </p:cNvPr>
          <p:cNvSpPr>
            <a:spLocks xmlns:a="http://schemas.openxmlformats.org/drawingml/2006/main" noGrp="1"/>
          </p:cNvSpPr>
          <p:nvPr/>
        </p:nvSpPr>
        <p:spPr>
          <a:xfrm xmlns:a="http://schemas.openxmlformats.org/drawingml/2006/main">
            <a:off x="6305550" y="2247900"/>
            <a:ext cx="27241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381AF2D-B1D1-446F-AE97-8499ACC76427}"/>
              </a:ext>
            </a:extLst>
          </p:cNvPr>
          <p:cNvSpPr>
            <a:spLocks xmlns:a="http://schemas.openxmlformats.org/drawingml/2006/main" noGrp="1"/>
          </p:cNvSpPr>
          <p:nvPr/>
        </p:nvSpPr>
        <p:spPr>
          <a:xfrm xmlns:a="http://schemas.openxmlformats.org/drawingml/2006/main">
            <a:off x="6477000" y="23622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7C3AED"/>
                </a:solidFill>
              </a:defRPr>
            </a:pPr>
            <a:r>
              <a:rPr sz="2025" b="1">
                <a:solidFill>
                  <a:srgbClr val="7C3AED"/>
                </a:solidFill>
              </a:rPr>
              <a:t>95.48%</a:t>
            </a:r>
          </a:p>
        </p:txBody>
      </p:sp>
      <p:sp>
        <p:nvSpPr>
          <p:cNvPr id="13" name="">
            <a:extLst xmlns:a="http://schemas.openxmlformats.org/drawingml/2006/main">
              <a:ext uri="{FF2B5EF4-FFF2-40B4-BE49-F238E27FC236}">
                <a16:creationId xmlns:a16="http://schemas.microsoft.com/office/drawing/2014/main" id="{A047CC0B-F0EB-4DE8-9B8B-82139E4C207D}"/>
              </a:ext>
            </a:extLst>
          </p:cNvPr>
          <p:cNvSpPr>
            <a:spLocks xmlns:a="http://schemas.openxmlformats.org/drawingml/2006/main" noGrp="1"/>
          </p:cNvSpPr>
          <p:nvPr/>
        </p:nvSpPr>
        <p:spPr>
          <a:xfrm xmlns:a="http://schemas.openxmlformats.org/drawingml/2006/main">
            <a:off x="6477000" y="2705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Final F1-score</a:t>
            </a:r>
          </a:p>
        </p:txBody>
      </p:sp>
      <p:sp>
        <p:nvSpPr>
          <p:cNvPr id="14" name="">
            <a:extLst xmlns:a="http://schemas.openxmlformats.org/drawingml/2006/main">
              <a:ext uri="{FF2B5EF4-FFF2-40B4-BE49-F238E27FC236}">
                <a16:creationId xmlns:a16="http://schemas.microsoft.com/office/drawing/2014/main" id="{BE46E24E-7A6D-4055-AA2F-BD56C28D5E56}"/>
              </a:ext>
            </a:extLst>
          </p:cNvPr>
          <p:cNvSpPr>
            <a:spLocks xmlns:a="http://schemas.openxmlformats.org/drawingml/2006/main" noGrp="1"/>
          </p:cNvSpPr>
          <p:nvPr/>
        </p:nvSpPr>
        <p:spPr>
          <a:xfrm xmlns:a="http://schemas.openxmlformats.org/drawingml/2006/main">
            <a:off x="6477000" y="29527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Strong reconstruction performance</a:t>
            </a:r>
          </a:p>
        </p:txBody>
      </p:sp>
      <p:sp>
        <p:nvSpPr>
          <p:cNvPr id="15" name="">
            <a:extLst xmlns:a="http://schemas.openxmlformats.org/drawingml/2006/main">
              <a:ext uri="{FF2B5EF4-FFF2-40B4-BE49-F238E27FC236}">
                <a16:creationId xmlns:a16="http://schemas.microsoft.com/office/drawing/2014/main" id="{23D9E1DA-55BA-4068-ACDE-1BF827AE48BE}"/>
              </a:ext>
            </a:extLst>
          </p:cNvPr>
          <p:cNvSpPr>
            <a:spLocks xmlns:a="http://schemas.openxmlformats.org/drawingml/2006/main" noGrp="1"/>
          </p:cNvSpPr>
          <p:nvPr/>
        </p:nvSpPr>
        <p:spPr>
          <a:xfrm xmlns:a="http://schemas.openxmlformats.org/drawingml/2006/main">
            <a:off x="9296400" y="2247900"/>
            <a:ext cx="21907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45116564-4FB4-4ADA-90F6-87BDEA45EBC5}"/>
              </a:ext>
            </a:extLst>
          </p:cNvPr>
          <p:cNvSpPr>
            <a:spLocks xmlns:a="http://schemas.openxmlformats.org/drawingml/2006/main" noGrp="1"/>
          </p:cNvSpPr>
          <p:nvPr/>
        </p:nvSpPr>
        <p:spPr>
          <a:xfrm xmlns:a="http://schemas.openxmlformats.org/drawingml/2006/main">
            <a:off x="9467850" y="23622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6A34A"/>
                </a:solidFill>
              </a:defRPr>
            </a:pPr>
            <a:r>
              <a:rPr sz="2025" b="1">
                <a:solidFill>
                  <a:srgbClr val="16A34A"/>
                </a:solidFill>
              </a:rPr>
              <a:t>91.48%</a:t>
            </a:r>
          </a:p>
        </p:txBody>
      </p:sp>
      <p:sp>
        <p:nvSpPr>
          <p:cNvPr id="17" name="">
            <a:extLst xmlns:a="http://schemas.openxmlformats.org/drawingml/2006/main">
              <a:ext uri="{FF2B5EF4-FFF2-40B4-BE49-F238E27FC236}">
                <a16:creationId xmlns:a16="http://schemas.microsoft.com/office/drawing/2014/main" id="{B710937F-0045-4654-8AFE-B1B859A14F47}"/>
              </a:ext>
            </a:extLst>
          </p:cNvPr>
          <p:cNvSpPr>
            <a:spLocks xmlns:a="http://schemas.openxmlformats.org/drawingml/2006/main" noGrp="1"/>
          </p:cNvSpPr>
          <p:nvPr/>
        </p:nvSpPr>
        <p:spPr>
          <a:xfrm xmlns:a="http://schemas.openxmlformats.org/drawingml/2006/main">
            <a:off x="9467850" y="27051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Balanced accuracy</a:t>
            </a:r>
          </a:p>
        </p:txBody>
      </p:sp>
      <p:sp>
        <p:nvSpPr>
          <p:cNvPr id="18" name="">
            <a:extLst xmlns:a="http://schemas.openxmlformats.org/drawingml/2006/main">
              <a:ext uri="{FF2B5EF4-FFF2-40B4-BE49-F238E27FC236}">
                <a16:creationId xmlns:a16="http://schemas.microsoft.com/office/drawing/2014/main" id="{75723C37-FF2D-4A3E-B3F7-63106A301BB8}"/>
              </a:ext>
            </a:extLst>
          </p:cNvPr>
          <p:cNvSpPr>
            <a:spLocks xmlns:a="http://schemas.openxmlformats.org/drawingml/2006/main" noGrp="1"/>
          </p:cNvSpPr>
          <p:nvPr/>
        </p:nvSpPr>
        <p:spPr>
          <a:xfrm xmlns:a="http://schemas.openxmlformats.org/drawingml/2006/main">
            <a:off x="9467850" y="295275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Class-aware view</a:t>
            </a:r>
          </a:p>
        </p:txBody>
      </p:sp>
      <p:sp>
        <p:nvSpPr>
          <p:cNvPr id="19" name="">
            <a:extLst xmlns:a="http://schemas.openxmlformats.org/drawingml/2006/main">
              <a:ext uri="{FF2B5EF4-FFF2-40B4-BE49-F238E27FC236}">
                <a16:creationId xmlns:a16="http://schemas.microsoft.com/office/drawing/2014/main" id="{CDF1382B-B753-4BE2-A37E-26B009724AB8}"/>
              </a:ext>
            </a:extLst>
          </p:cNvPr>
          <p:cNvSpPr>
            <a:spLocks xmlns:a="http://schemas.openxmlformats.org/drawingml/2006/main" noGrp="1"/>
          </p:cNvSpPr>
          <p:nvPr/>
        </p:nvSpPr>
        <p:spPr>
          <a:xfrm xmlns:a="http://schemas.openxmlformats.org/drawingml/2006/main">
            <a:off x="723900" y="3695700"/>
            <a:ext cx="5810250" cy="142875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6788F517-7344-4904-9EAC-9C37E361E02B}"/>
              </a:ext>
            </a:extLst>
          </p:cNvPr>
          <p:cNvSpPr>
            <a:spLocks xmlns:a="http://schemas.openxmlformats.org/drawingml/2006/main" noGrp="1"/>
          </p:cNvSpPr>
          <p:nvPr/>
        </p:nvSpPr>
        <p:spPr>
          <a:xfrm xmlns:a="http://schemas.openxmlformats.org/drawingml/2006/main">
            <a:off x="914400" y="3867150"/>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Central argument</a:t>
            </a:r>
          </a:p>
        </p:txBody>
      </p:sp>
      <p:sp>
        <p:nvSpPr>
          <p:cNvPr id="21" name="">
            <a:extLst xmlns:a="http://schemas.openxmlformats.org/drawingml/2006/main">
              <a:ext uri="{FF2B5EF4-FFF2-40B4-BE49-F238E27FC236}">
                <a16:creationId xmlns:a16="http://schemas.microsoft.com/office/drawing/2014/main" id="{0F19041C-2F61-4D63-92D1-E885B296B05E}"/>
              </a:ext>
            </a:extLst>
          </p:cNvPr>
          <p:cNvSpPr>
            <a:spLocks xmlns:a="http://schemas.openxmlformats.org/drawingml/2006/main" noGrp="1"/>
          </p:cNvSpPr>
          <p:nvPr/>
        </p:nvSpPr>
        <p:spPr>
          <a:xfrm xmlns:a="http://schemas.openxmlformats.org/drawingml/2006/main">
            <a:off x="914400" y="4248150"/>
            <a:ext cx="5429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analysis is not just about achieving a high model score. The strongest part of the project is the sequence of decisions: correct the data loading, control leakage, identify practical behavioral signals, simplify the final model, and interpret the results honestly.</a:t>
            </a:r>
          </a:p>
        </p:txBody>
      </p:sp>
      <p:graphicFrame>
        <p:nvGraphicFramePr>
          <p:cNvPr id="46" name="Chart"/>
          <p:cNvGraphicFramePr/>
          <p:nvPr/>
        </p:nvGraphicFramePr>
        <p:xfrm>
          <a:off xmlns:a="http://schemas.openxmlformats.org/drawingml/2006/main" x="7381875" y="3657600"/>
          <a:ext xmlns:a="http://schemas.openxmlformats.org/drawingml/2006/main" cx="3238500" cy="2000250"/>
        </p:xfrm>
        <a:graphic xmlns:a="http://schemas.openxmlformats.org/drawingml/2006/main">
          <a:graphicData uri="http://schemas.openxmlformats.org/drawingml/2006/chart">
            <c:chart xmlns:r="http://schemas.openxmlformats.org/officeDocument/2006/relationships" xmlns:c="http://schemas.openxmlformats.org/drawingml/2006/chart" r:id="Re5b2635955b0467e"/>
          </a:graphicData>
        </a:graphic>
      </p:graphicFrame>
      <p:sp>
        <p:nvSpPr>
          <p:cNvPr id="23" name="">
            <a:extLst xmlns:a="http://schemas.openxmlformats.org/drawingml/2006/main">
              <a:ext uri="{FF2B5EF4-FFF2-40B4-BE49-F238E27FC236}">
                <a16:creationId xmlns:a16="http://schemas.microsoft.com/office/drawing/2014/main" id="{724D1D3F-21BC-44F5-A13F-7924A479896A}"/>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24" name="">
            <a:extLst xmlns:a="http://schemas.openxmlformats.org/drawingml/2006/main">
              <a:ext uri="{FF2B5EF4-FFF2-40B4-BE49-F238E27FC236}">
                <a16:creationId xmlns:a16="http://schemas.microsoft.com/office/drawing/2014/main" id="{83B46631-AC8A-4305-9E43-622BF5D5927D}"/>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01</a:t>
            </a:r>
          </a:p>
        </p:txBody>
      </p:sp>
    </p:spTree>
    <p:extLst>
      <p:ext uri="{BB962C8B-B14F-4D97-AF65-F5344CB8AC3E}">
        <p14:creationId xmlns:p14="http://schemas.microsoft.com/office/powerpoint/2010/main" val="19136974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52D7B9-4F50-464F-9727-575F1030ED5F}"/>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450B1398-9810-412B-8404-64C496A26243}"/>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Presentation structure and timing</a:t>
            </a:r>
          </a:p>
        </p:txBody>
      </p:sp>
      <p:sp>
        <p:nvSpPr>
          <p:cNvPr id="3" name="">
            <a:extLst xmlns:a="http://schemas.openxmlformats.org/drawingml/2006/main">
              <a:ext uri="{FF2B5EF4-FFF2-40B4-BE49-F238E27FC236}">
                <a16:creationId xmlns:a16="http://schemas.microsoft.com/office/drawing/2014/main" id="{F76D45FD-4CEF-4BB3-95E6-4A1B6638ED54}"/>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Designed for approximately 20 minutes with four speakers.</a:t>
            </a:r>
          </a:p>
        </p:txBody>
      </p:sp>
      <p:graphicFrame>
        <p:nvGraphicFramePr>
          <p:cNvPr id="13" name=""/>
          <p:cNvGraphicFramePr/>
          <p:nvPr/>
        </p:nvGraphicFramePr>
        <p:xfrm>
          <a:off xmlns:a="http://schemas.openxmlformats.org/drawingml/2006/main" x="666750" y="2095500"/>
          <a:ext xmlns:a="http://schemas.openxmlformats.org/drawingml/2006/main" cx="8001000" cy="3143250"/>
        </p:xfrm>
        <a:graphic xmlns:a="http://schemas.openxmlformats.org/drawingml/2006/main">
          <a:graphicData uri="http://schemas.openxmlformats.org/drawingml/2006/table">
            <a:tbl>
              <a:tblPr firstRow="1" bandRow="1"/>
              <a:tblGrid>
                <a:gridCol w="2000250"/>
                <a:gridCol w="2000250"/>
                <a:gridCol w="2000250"/>
                <a:gridCol w="2000250"/>
              </a:tblGrid>
              <a:tr h="449036">
                <a:tc>
                  <a:txBody>
                    <a:bodyPr/>
                    <a:lstStyle/>
                    <a:p>
                      <a:r>
                        <a:rPr sz="825" b="1">
                          <a:solidFill>
                            <a:srgbClr val="FFFFFF"/>
                          </a:solidFill>
                        </a:rPr>
                        <a:t>Section</a:t>
                      </a:r>
                    </a:p>
                  </a:txBody>
                  <a:tcPr marL="91440" marR="91440" marT="45720" marB="45720">
                    <a:solidFill>
                      <a:srgbClr val="0F172A"/>
                    </a:solidFill>
                  </a:tcPr>
                </a:tc>
                <a:tc>
                  <a:txBody>
                    <a:bodyPr/>
                    <a:lstStyle/>
                    <a:p>
                      <a:r>
                        <a:rPr sz="825" b="1">
                          <a:solidFill>
                            <a:srgbClr val="FFFFFF"/>
                          </a:solidFill>
                        </a:rPr>
                        <a:t>Owner</a:t>
                      </a:r>
                    </a:p>
                  </a:txBody>
                  <a:tcPr marL="91440" marR="91440" marT="45720" marB="45720">
                    <a:solidFill>
                      <a:srgbClr val="0F172A"/>
                    </a:solidFill>
                  </a:tcPr>
                </a:tc>
                <a:tc>
                  <a:txBody>
                    <a:bodyPr/>
                    <a:lstStyle/>
                    <a:p>
                      <a:r>
                        <a:rPr sz="825" b="1">
                          <a:solidFill>
                            <a:srgbClr val="FFFFFF"/>
                          </a:solidFill>
                        </a:rPr>
                        <a:t>Time</a:t>
                      </a:r>
                    </a:p>
                  </a:txBody>
                  <a:tcPr marL="91440" marR="91440" marT="45720" marB="45720">
                    <a:solidFill>
                      <a:srgbClr val="0F172A"/>
                    </a:solidFill>
                  </a:tcPr>
                </a:tc>
                <a:tc>
                  <a:txBody>
                    <a:bodyPr/>
                    <a:lstStyle/>
                    <a:p>
                      <a:r>
                        <a:rPr sz="825" b="1">
                          <a:solidFill>
                            <a:srgbClr val="FFFFFF"/>
                          </a:solidFill>
                        </a:rPr>
                        <a:t>Audience takeaway</a:t>
                      </a:r>
                    </a:p>
                  </a:txBody>
                  <a:tcPr marL="91440" marR="91440" marT="45720" marB="45720">
                    <a:solidFill>
                      <a:srgbClr val="0F172A"/>
                    </a:solidFill>
                  </a:tcPr>
                </a:tc>
              </a:tr>
              <a:tr h="449036">
                <a:tc>
                  <a:txBody>
                    <a:bodyPr/>
                    <a:lstStyle/>
                    <a:p>
                      <a:r>
                        <a:rPr sz="825">
                          <a:solidFill>
                            <a:srgbClr val="111827"/>
                          </a:solidFill>
                        </a:rPr>
                        <a:t>Opening + project frame</a:t>
                      </a:r>
                    </a:p>
                  </a:txBody>
                  <a:tcPr marL="91440" marR="91440" marT="45720" marB="45720"/>
                </a:tc>
                <a:tc>
                  <a:txBody>
                    <a:bodyPr/>
                    <a:lstStyle/>
                    <a:p>
                      <a:r>
                        <a:rPr sz="825">
                          <a:solidFill>
                            <a:srgbClr val="111827"/>
                          </a:solidFill>
                        </a:rPr>
                        <a:t>Lead / all</a:t>
                      </a:r>
                    </a:p>
                  </a:txBody>
                  <a:tcPr marL="91440" marR="91440" marT="45720" marB="45720"/>
                </a:tc>
                <a:tc>
                  <a:txBody>
                    <a:bodyPr/>
                    <a:lstStyle/>
                    <a:p>
                      <a:r>
                        <a:rPr sz="825">
                          <a:solidFill>
                            <a:srgbClr val="111827"/>
                          </a:solidFill>
                        </a:rPr>
                        <a:t>2 min</a:t>
                      </a:r>
                    </a:p>
                  </a:txBody>
                  <a:tcPr marL="91440" marR="91440" marT="45720" marB="45720"/>
                </a:tc>
                <a:tc>
                  <a:txBody>
                    <a:bodyPr/>
                    <a:lstStyle/>
                    <a:p>
                      <a:r>
                        <a:rPr sz="825">
                          <a:solidFill>
                            <a:srgbClr val="111827"/>
                          </a:solidFill>
                        </a:rPr>
                        <a:t>Why the correction changes the story and why decisions matter.</a:t>
                      </a:r>
                    </a:p>
                  </a:txBody>
                  <a:tcPr marL="91440" marR="91440" marT="45720" marB="45720"/>
                </a:tc>
              </a:tr>
              <a:tr h="449036">
                <a:tc>
                  <a:txBody>
                    <a:bodyPr/>
                    <a:lstStyle/>
                    <a:p>
                      <a:r>
                        <a:rPr sz="825">
                          <a:solidFill>
                            <a:srgbClr val="111827"/>
                          </a:solidFill>
                        </a:rPr>
                        <a:t>Data quality</a:t>
                      </a:r>
                    </a:p>
                  </a:txBody>
                  <a:tcPr marL="91440" marR="91440" marT="45720" marB="45720"/>
                </a:tc>
                <a:tc>
                  <a:txBody>
                    <a:bodyPr/>
                    <a:lstStyle/>
                    <a:p>
                      <a:r>
                        <a:rPr sz="825">
                          <a:solidFill>
                            <a:srgbClr val="111827"/>
                          </a:solidFill>
                        </a:rPr>
                        <a:t>Person 1</a:t>
                      </a:r>
                    </a:p>
                  </a:txBody>
                  <a:tcPr marL="91440" marR="91440" marT="45720" marB="45720"/>
                </a:tc>
                <a:tc>
                  <a:txBody>
                    <a:bodyPr/>
                    <a:lstStyle/>
                    <a:p>
                      <a:r>
                        <a:rPr sz="825">
                          <a:solidFill>
                            <a:srgbClr val="111827"/>
                          </a:solidFill>
                        </a:rPr>
                        <a:t>4 min</a:t>
                      </a:r>
                    </a:p>
                  </a:txBody>
                  <a:tcPr marL="91440" marR="91440" marT="45720" marB="45720"/>
                </a:tc>
                <a:tc>
                  <a:txBody>
                    <a:bodyPr/>
                    <a:lstStyle/>
                    <a:p>
                      <a:r>
                        <a:rPr sz="825">
                          <a:solidFill>
                            <a:srgbClr val="111827"/>
                          </a:solidFill>
                        </a:rPr>
                        <a:t>The dataset is complete after correct loading; None is a category.</a:t>
                      </a:r>
                    </a:p>
                  </a:txBody>
                  <a:tcPr marL="91440" marR="91440" marT="45720" marB="45720"/>
                </a:tc>
              </a:tr>
              <a:tr h="449036">
                <a:tc>
                  <a:txBody>
                    <a:bodyPr/>
                    <a:lstStyle/>
                    <a:p>
                      <a:r>
                        <a:rPr sz="825">
                          <a:solidFill>
                            <a:srgbClr val="111827"/>
                          </a:solidFill>
                        </a:rPr>
                        <a:t>Preprocessing and leakage</a:t>
                      </a:r>
                    </a:p>
                  </a:txBody>
                  <a:tcPr marL="91440" marR="91440" marT="45720" marB="45720"/>
                </a:tc>
                <a:tc>
                  <a:txBody>
                    <a:bodyPr/>
                    <a:lstStyle/>
                    <a:p>
                      <a:r>
                        <a:rPr sz="825">
                          <a:solidFill>
                            <a:srgbClr val="111827"/>
                          </a:solidFill>
                        </a:rPr>
                        <a:t>Person 2</a:t>
                      </a:r>
                    </a:p>
                  </a:txBody>
                  <a:tcPr marL="91440" marR="91440" marT="45720" marB="45720"/>
                </a:tc>
                <a:tc>
                  <a:txBody>
                    <a:bodyPr/>
                    <a:lstStyle/>
                    <a:p>
                      <a:r>
                        <a:rPr sz="825">
                          <a:solidFill>
                            <a:srgbClr val="111827"/>
                          </a:solidFill>
                        </a:rPr>
                        <a:t>4 min</a:t>
                      </a:r>
                    </a:p>
                  </a:txBody>
                  <a:tcPr marL="91440" marR="91440" marT="45720" marB="45720"/>
                </a:tc>
                <a:tc>
                  <a:txBody>
                    <a:bodyPr/>
                    <a:lstStyle/>
                    <a:p>
                      <a:r>
                        <a:rPr sz="825">
                          <a:solidFill>
                            <a:srgbClr val="111827"/>
                          </a:solidFill>
                        </a:rPr>
                        <a:t>The model feature matrix excludes target proxies and weak demographic features.</a:t>
                      </a:r>
                    </a:p>
                  </a:txBody>
                  <a:tcPr marL="91440" marR="91440" marT="45720" marB="45720"/>
                </a:tc>
              </a:tr>
              <a:tr h="449036">
                <a:tc>
                  <a:txBody>
                    <a:bodyPr/>
                    <a:lstStyle/>
                    <a:p>
                      <a:r>
                        <a:rPr sz="825">
                          <a:solidFill>
                            <a:srgbClr val="111827"/>
                          </a:solidFill>
                        </a:rPr>
                        <a:t>EDA and diagnostics</a:t>
                      </a:r>
                    </a:p>
                  </a:txBody>
                  <a:tcPr marL="91440" marR="91440" marT="45720" marB="45720"/>
                </a:tc>
                <a:tc>
                  <a:txBody>
                    <a:bodyPr/>
                    <a:lstStyle/>
                    <a:p>
                      <a:r>
                        <a:rPr sz="825">
                          <a:solidFill>
                            <a:srgbClr val="111827"/>
                          </a:solidFill>
                        </a:rPr>
                        <a:t>Person 3</a:t>
                      </a:r>
                    </a:p>
                  </a:txBody>
                  <a:tcPr marL="91440" marR="91440" marT="45720" marB="45720"/>
                </a:tc>
                <a:tc>
                  <a:txBody>
                    <a:bodyPr/>
                    <a:lstStyle/>
                    <a:p>
                      <a:r>
                        <a:rPr sz="825">
                          <a:solidFill>
                            <a:srgbClr val="111827"/>
                          </a:solidFill>
                        </a:rPr>
                        <a:t>5 min</a:t>
                      </a:r>
                    </a:p>
                  </a:txBody>
                  <a:tcPr marL="91440" marR="91440" marT="45720" marB="45720"/>
                </a:tc>
                <a:tc>
                  <a:txBody>
                    <a:bodyPr/>
                    <a:lstStyle/>
                    <a:p>
                      <a:r>
                        <a:rPr sz="825">
                          <a:solidFill>
                            <a:srgbClr val="111827"/>
                          </a:solidFill>
                        </a:rPr>
                        <a:t>Screen-time variables carry practical signal, but several caveats limit interpretation.</a:t>
                      </a:r>
                    </a:p>
                  </a:txBody>
                  <a:tcPr marL="91440" marR="91440" marT="45720" marB="45720"/>
                </a:tc>
              </a:tr>
              <a:tr h="449036">
                <a:tc>
                  <a:txBody>
                    <a:bodyPr/>
                    <a:lstStyle/>
                    <a:p>
                      <a:r>
                        <a:rPr sz="825">
                          <a:solidFill>
                            <a:srgbClr val="111827"/>
                          </a:solidFill>
                        </a:rPr>
                        <a:t>Modeling and final interpretation</a:t>
                      </a:r>
                    </a:p>
                  </a:txBody>
                  <a:tcPr marL="91440" marR="91440" marT="45720" marB="45720"/>
                </a:tc>
                <a:tc>
                  <a:txBody>
                    <a:bodyPr/>
                    <a:lstStyle/>
                    <a:p>
                      <a:r>
                        <a:rPr sz="825">
                          <a:solidFill>
                            <a:srgbClr val="111827"/>
                          </a:solidFill>
                        </a:rPr>
                        <a:t>Person 4</a:t>
                      </a:r>
                    </a:p>
                  </a:txBody>
                  <a:tcPr marL="91440" marR="91440" marT="45720" marB="45720"/>
                </a:tc>
                <a:tc>
                  <a:txBody>
                    <a:bodyPr/>
                    <a:lstStyle/>
                    <a:p>
                      <a:r>
                        <a:rPr sz="825">
                          <a:solidFill>
                            <a:srgbClr val="111827"/>
                          </a:solidFill>
                        </a:rPr>
                        <a:t>4 min</a:t>
                      </a:r>
                    </a:p>
                  </a:txBody>
                  <a:tcPr marL="91440" marR="91440" marT="45720" marB="45720"/>
                </a:tc>
                <a:tc>
                  <a:txBody>
                    <a:bodyPr/>
                    <a:lstStyle/>
                    <a:p>
                      <a:r>
                        <a:rPr sz="825">
                          <a:solidFill>
                            <a:srgbClr val="111827"/>
                          </a:solidFill>
                        </a:rPr>
                        <a:t>The decision tree is selected, tuned, and interpreted as rule reconstruction.</a:t>
                      </a:r>
                    </a:p>
                  </a:txBody>
                  <a:tcPr marL="91440" marR="91440" marT="45720" marB="45720"/>
                </a:tc>
              </a:tr>
              <a:tr h="449036">
                <a:tc>
                  <a:txBody>
                    <a:bodyPr/>
                    <a:lstStyle/>
                    <a:p>
                      <a:r>
                        <a:rPr sz="825">
                          <a:solidFill>
                            <a:srgbClr val="111827"/>
                          </a:solidFill>
                        </a:rPr>
                        <a:t>Closing and limitations</a:t>
                      </a:r>
                    </a:p>
                  </a:txBody>
                  <a:tcPr marL="91440" marR="91440" marT="45720" marB="45720"/>
                </a:tc>
                <a:tc>
                  <a:txBody>
                    <a:bodyPr/>
                    <a:lstStyle/>
                    <a:p>
                      <a:r>
                        <a:rPr sz="825">
                          <a:solidFill>
                            <a:srgbClr val="111827"/>
                          </a:solidFill>
                        </a:rPr>
                        <a:t>All</a:t>
                      </a:r>
                    </a:p>
                  </a:txBody>
                  <a:tcPr marL="91440" marR="91440" marT="45720" marB="45720"/>
                </a:tc>
                <a:tc>
                  <a:txBody>
                    <a:bodyPr/>
                    <a:lstStyle/>
                    <a:p>
                      <a:r>
                        <a:rPr sz="825">
                          <a:solidFill>
                            <a:srgbClr val="111827"/>
                          </a:solidFill>
                        </a:rPr>
                        <a:t>1 min</a:t>
                      </a:r>
                    </a:p>
                  </a:txBody>
                  <a:tcPr marL="91440" marR="91440" marT="45720" marB="45720"/>
                </a:tc>
                <a:tc>
                  <a:txBody>
                    <a:bodyPr/>
                    <a:lstStyle/>
                    <a:p>
                      <a:r>
                        <a:rPr sz="825">
                          <a:solidFill>
                            <a:srgbClr val="111827"/>
                          </a:solidFill>
                        </a:rPr>
                        <a:t>The defensible conclusion is prediction of a rule-defined dataset target.</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9262E274-87E8-4D4C-AF93-B13AD48851BD}"/>
              </a:ext>
            </a:extLst>
          </p:cNvPr>
          <p:cNvSpPr>
            <a:spLocks xmlns:a="http://schemas.openxmlformats.org/drawingml/2006/main" noGrp="1"/>
          </p:cNvSpPr>
          <p:nvPr/>
        </p:nvSpPr>
        <p:spPr>
          <a:xfrm xmlns:a="http://schemas.openxmlformats.org/drawingml/2006/main">
            <a:off x="9048750" y="2143125"/>
            <a:ext cx="2286000" cy="2381250"/>
          </a:xfrm>
          <a:prstGeom xmlns:a="http://schemas.openxmlformats.org/drawingml/2006/main" prst="roundRect">
            <a:avLst>
              <a:gd name="adj" fmla="val 4167"/>
            </a:avLst>
          </a:prstGeom>
          <a:solidFill xmlns:a="http://schemas.openxmlformats.org/drawingml/2006/main">
            <a:srgbClr val="DBEAFE"/>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4891A05-38CB-4375-A76E-D120ADA83CF3}"/>
              </a:ext>
            </a:extLst>
          </p:cNvPr>
          <p:cNvSpPr>
            <a:spLocks xmlns:a="http://schemas.openxmlformats.org/drawingml/2006/main" noGrp="1"/>
          </p:cNvSpPr>
          <p:nvPr/>
        </p:nvSpPr>
        <p:spPr>
          <a:xfrm xmlns:a="http://schemas.openxmlformats.org/drawingml/2006/main">
            <a:off x="9239250" y="23145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Presentation logic</a:t>
            </a:r>
          </a:p>
        </p:txBody>
      </p:sp>
      <p:sp>
        <p:nvSpPr>
          <p:cNvPr id="7" name="">
            <a:extLst xmlns:a="http://schemas.openxmlformats.org/drawingml/2006/main">
              <a:ext uri="{FF2B5EF4-FFF2-40B4-BE49-F238E27FC236}">
                <a16:creationId xmlns:a16="http://schemas.microsoft.com/office/drawing/2014/main" id="{BC01BC58-A289-4176-A269-769BE644C509}"/>
              </a:ext>
            </a:extLst>
          </p:cNvPr>
          <p:cNvSpPr>
            <a:spLocks xmlns:a="http://schemas.openxmlformats.org/drawingml/2006/main" noGrp="1"/>
          </p:cNvSpPr>
          <p:nvPr/>
        </p:nvSpPr>
        <p:spPr>
          <a:xfrm xmlns:a="http://schemas.openxmlformats.org/drawingml/2006/main">
            <a:off x="9239250" y="2695575"/>
            <a:ext cx="19050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deck follows the analytical workflow: establish data quality, define valid modeling inputs, evaluate descriptive patterns, compare models, and close with a disciplined interpretation of what the metrics do and do not prove.</a:t>
            </a:r>
          </a:p>
        </p:txBody>
      </p:sp>
      <p:sp>
        <p:nvSpPr>
          <p:cNvPr id="8" name="">
            <a:extLst xmlns:a="http://schemas.openxmlformats.org/drawingml/2006/main">
              <a:ext uri="{FF2B5EF4-FFF2-40B4-BE49-F238E27FC236}">
                <a16:creationId xmlns:a16="http://schemas.microsoft.com/office/drawing/2014/main" id="{67CED87D-52F6-4F06-B6E7-CC09AC0CDEFE}"/>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9" name="">
            <a:extLst xmlns:a="http://schemas.openxmlformats.org/drawingml/2006/main">
              <a:ext uri="{FF2B5EF4-FFF2-40B4-BE49-F238E27FC236}">
                <a16:creationId xmlns:a16="http://schemas.microsoft.com/office/drawing/2014/main" id="{B6E9ED64-B08B-4E52-BF05-AF2F80301DA2}"/>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02</a:t>
            </a:r>
          </a:p>
        </p:txBody>
      </p:sp>
    </p:spTree>
    <p:extLst>
      <p:ext uri="{BB962C8B-B14F-4D97-AF65-F5344CB8AC3E}">
        <p14:creationId xmlns:p14="http://schemas.microsoft.com/office/powerpoint/2010/main" val="2033116737"/>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C97649-9E77-445D-AC46-A929DD0E2404}"/>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BA7AD306-BEBB-4326-8C53-F283D9C5D3F1}"/>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The full decision chain</a:t>
            </a:r>
          </a:p>
        </p:txBody>
      </p:sp>
      <p:sp>
        <p:nvSpPr>
          <p:cNvPr id="3" name="">
            <a:extLst xmlns:a="http://schemas.openxmlformats.org/drawingml/2006/main">
              <a:ext uri="{FF2B5EF4-FFF2-40B4-BE49-F238E27FC236}">
                <a16:creationId xmlns:a16="http://schemas.microsoft.com/office/drawing/2014/main" id="{C9DD1435-1D48-4B9C-BFAC-332EBA545AA7}"/>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Every technical choice supports the next one.</a:t>
            </a:r>
          </a:p>
        </p:txBody>
      </p:sp>
      <p:sp>
        <p:nvSpPr>
          <p:cNvPr id="4" name="">
            <a:extLst xmlns:a="http://schemas.openxmlformats.org/drawingml/2006/main">
              <a:ext uri="{FF2B5EF4-FFF2-40B4-BE49-F238E27FC236}">
                <a16:creationId xmlns:a16="http://schemas.microsoft.com/office/drawing/2014/main" id="{8E83A03E-7344-4BA2-8744-F17F4BB44CCB}"/>
              </a:ext>
            </a:extLst>
          </p:cNvPr>
          <p:cNvSpPr>
            <a:spLocks xmlns:a="http://schemas.openxmlformats.org/drawingml/2006/main" noGrp="1"/>
          </p:cNvSpPr>
          <p:nvPr/>
        </p:nvSpPr>
        <p:spPr>
          <a:xfrm xmlns:a="http://schemas.openxmlformats.org/drawingml/2006/main">
            <a:off x="781050" y="2209800"/>
            <a:ext cx="2000250" cy="2238375"/>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2A49617-FBA8-425A-AA13-2142192778BC}"/>
              </a:ext>
            </a:extLst>
          </p:cNvPr>
          <p:cNvSpPr>
            <a:spLocks xmlns:a="http://schemas.openxmlformats.org/drawingml/2006/main" noGrp="1"/>
          </p:cNvSpPr>
          <p:nvPr/>
        </p:nvSpPr>
        <p:spPr>
          <a:xfrm xmlns:a="http://schemas.openxmlformats.org/drawingml/2006/main">
            <a:off x="781050" y="2209800"/>
            <a:ext cx="2000250" cy="1143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B73CD21D-CEB6-45D5-964B-71CBFDFC34A7}"/>
              </a:ext>
            </a:extLst>
          </p:cNvPr>
          <p:cNvSpPr>
            <a:spLocks xmlns:a="http://schemas.openxmlformats.org/drawingml/2006/main" noGrp="1"/>
          </p:cNvSpPr>
          <p:nvPr/>
        </p:nvSpPr>
        <p:spPr>
          <a:xfrm xmlns:a="http://schemas.openxmlformats.org/drawingml/2006/main">
            <a:off x="952500" y="2571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2563EB"/>
                </a:solidFill>
              </a:defRPr>
            </a:pPr>
            <a:r>
              <a:rPr sz="1575" b="1">
                <a:solidFill>
                  <a:srgbClr val="2563EB"/>
                </a:solidFill>
              </a:rPr>
              <a:t>1. Data truth</a:t>
            </a:r>
          </a:p>
        </p:txBody>
      </p:sp>
      <p:sp>
        <p:nvSpPr>
          <p:cNvPr id="7" name="">
            <a:extLst xmlns:a="http://schemas.openxmlformats.org/drawingml/2006/main">
              <a:ext uri="{FF2B5EF4-FFF2-40B4-BE49-F238E27FC236}">
                <a16:creationId xmlns:a16="http://schemas.microsoft.com/office/drawing/2014/main" id="{7B52F6EA-1E23-4F19-A97E-FCB337ADE056}"/>
              </a:ext>
            </a:extLst>
          </p:cNvPr>
          <p:cNvSpPr>
            <a:spLocks xmlns:a="http://schemas.openxmlformats.org/drawingml/2006/main" noGrp="1"/>
          </p:cNvSpPr>
          <p:nvPr/>
        </p:nvSpPr>
        <p:spPr>
          <a:xfrm xmlns:a="http://schemas.openxmlformats.org/drawingml/2006/main">
            <a:off x="952500" y="3048000"/>
            <a:ext cx="1657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Correct loading shows no real missing values.</a:t>
            </a:r>
          </a:p>
        </p:txBody>
      </p:sp>
      <p:sp>
        <p:nvSpPr>
          <p:cNvPr id="8" name="">
            <a:extLst xmlns:a="http://schemas.openxmlformats.org/drawingml/2006/main">
              <a:ext uri="{FF2B5EF4-FFF2-40B4-BE49-F238E27FC236}">
                <a16:creationId xmlns:a16="http://schemas.microsoft.com/office/drawing/2014/main" id="{E3467EF2-51AE-4C34-8533-00B555B02A09}"/>
              </a:ext>
            </a:extLst>
          </p:cNvPr>
          <p:cNvSpPr>
            <a:spLocks xmlns:a="http://schemas.openxmlformats.org/drawingml/2006/main" noGrp="1"/>
          </p:cNvSpPr>
          <p:nvPr/>
        </p:nvSpPr>
        <p:spPr>
          <a:xfrm xmlns:a="http://schemas.openxmlformats.org/drawingml/2006/main">
            <a:off x="2800350" y="3143250"/>
            <a:ext cx="457200" cy="400050"/>
          </a:xfrm>
          <a:prstGeom xmlns:a="http://schemas.openxmlformats.org/drawingml/2006/main" prst="rightArrow">
            <a:avLst/>
          </a:prstGeom>
          <a:solidFill xmlns:a="http://schemas.openxmlformats.org/drawingml/2006/main">
            <a:srgbClr val="E2E8F0"/>
          </a:solidFill>
          <a:ln xmlns:a="http://schemas.openxmlformats.org/drawingml/2006/main" w="0">
            <a:solidFill>
              <a:srgbClr val="E2E8F0"/>
            </a:solidFill>
            <a:prstDash val="solid"/>
          </a:ln>
        </p:spPr>
      </p:sp>
      <p:sp>
        <p:nvSpPr>
          <p:cNvPr id="9" name="">
            <a:extLst xmlns:a="http://schemas.openxmlformats.org/drawingml/2006/main">
              <a:ext uri="{FF2B5EF4-FFF2-40B4-BE49-F238E27FC236}">
                <a16:creationId xmlns:a16="http://schemas.microsoft.com/office/drawing/2014/main" id="{AF508989-22CA-458F-A35D-4CD064C82EBD}"/>
              </a:ext>
            </a:extLst>
          </p:cNvPr>
          <p:cNvSpPr>
            <a:spLocks xmlns:a="http://schemas.openxmlformats.org/drawingml/2006/main" noGrp="1"/>
          </p:cNvSpPr>
          <p:nvPr/>
        </p:nvSpPr>
        <p:spPr>
          <a:xfrm xmlns:a="http://schemas.openxmlformats.org/drawingml/2006/main">
            <a:off x="3124200" y="2209800"/>
            <a:ext cx="2000250" cy="2238375"/>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FD3B44B-28FE-4C78-A1F2-CF58C1C13462}"/>
              </a:ext>
            </a:extLst>
          </p:cNvPr>
          <p:cNvSpPr>
            <a:spLocks xmlns:a="http://schemas.openxmlformats.org/drawingml/2006/main" noGrp="1"/>
          </p:cNvSpPr>
          <p:nvPr/>
        </p:nvSpPr>
        <p:spPr>
          <a:xfrm xmlns:a="http://schemas.openxmlformats.org/drawingml/2006/main">
            <a:off x="3124200" y="2209800"/>
            <a:ext cx="2000250" cy="1143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11" name="">
            <a:extLst xmlns:a="http://schemas.openxmlformats.org/drawingml/2006/main">
              <a:ext uri="{FF2B5EF4-FFF2-40B4-BE49-F238E27FC236}">
                <a16:creationId xmlns:a16="http://schemas.microsoft.com/office/drawing/2014/main" id="{759E11B7-A8D5-4761-884E-2CCBB443A3A6}"/>
              </a:ext>
            </a:extLst>
          </p:cNvPr>
          <p:cNvSpPr>
            <a:spLocks xmlns:a="http://schemas.openxmlformats.org/drawingml/2006/main" noGrp="1"/>
          </p:cNvSpPr>
          <p:nvPr/>
        </p:nvSpPr>
        <p:spPr>
          <a:xfrm xmlns:a="http://schemas.openxmlformats.org/drawingml/2006/main">
            <a:off x="3295650" y="2571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F766E"/>
                </a:solidFill>
              </a:defRPr>
            </a:pPr>
            <a:r>
              <a:rPr sz="1575" b="1">
                <a:solidFill>
                  <a:srgbClr val="0F766E"/>
                </a:solidFill>
              </a:rPr>
              <a:t>2. Feature truth</a:t>
            </a:r>
          </a:p>
        </p:txBody>
      </p:sp>
      <p:sp>
        <p:nvSpPr>
          <p:cNvPr id="12" name="">
            <a:extLst xmlns:a="http://schemas.openxmlformats.org/drawingml/2006/main">
              <a:ext uri="{FF2B5EF4-FFF2-40B4-BE49-F238E27FC236}">
                <a16:creationId xmlns:a16="http://schemas.microsoft.com/office/drawing/2014/main" id="{3ECB53E8-26A7-4599-8567-E3347C0E02A0}"/>
              </a:ext>
            </a:extLst>
          </p:cNvPr>
          <p:cNvSpPr>
            <a:spLocks xmlns:a="http://schemas.openxmlformats.org/drawingml/2006/main" noGrp="1"/>
          </p:cNvSpPr>
          <p:nvPr/>
        </p:nvSpPr>
        <p:spPr>
          <a:xfrm xmlns:a="http://schemas.openxmlformats.org/drawingml/2006/main">
            <a:off x="3295650" y="3048000"/>
            <a:ext cx="1657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Target proxies and identifiers are removed.</a:t>
            </a:r>
          </a:p>
        </p:txBody>
      </p:sp>
      <p:sp>
        <p:nvSpPr>
          <p:cNvPr id="13" name="">
            <a:extLst xmlns:a="http://schemas.openxmlformats.org/drawingml/2006/main">
              <a:ext uri="{FF2B5EF4-FFF2-40B4-BE49-F238E27FC236}">
                <a16:creationId xmlns:a16="http://schemas.microsoft.com/office/drawing/2014/main" id="{49880B97-9142-4C6A-805C-82051012DFF8}"/>
              </a:ext>
            </a:extLst>
          </p:cNvPr>
          <p:cNvSpPr>
            <a:spLocks xmlns:a="http://schemas.openxmlformats.org/drawingml/2006/main" noGrp="1"/>
          </p:cNvSpPr>
          <p:nvPr/>
        </p:nvSpPr>
        <p:spPr>
          <a:xfrm xmlns:a="http://schemas.openxmlformats.org/drawingml/2006/main">
            <a:off x="5143500" y="3143250"/>
            <a:ext cx="457200" cy="400050"/>
          </a:xfrm>
          <a:prstGeom xmlns:a="http://schemas.openxmlformats.org/drawingml/2006/main" prst="rightArrow">
            <a:avLst/>
          </a:prstGeom>
          <a:solidFill xmlns:a="http://schemas.openxmlformats.org/drawingml/2006/main">
            <a:srgbClr val="E2E8F0"/>
          </a:solidFill>
          <a:ln xmlns:a="http://schemas.openxmlformats.org/drawingml/2006/main" w="0">
            <a:solidFill>
              <a:srgbClr val="E2E8F0"/>
            </a:solidFill>
            <a:prstDash val="solid"/>
          </a:ln>
        </p:spPr>
      </p:sp>
      <p:sp>
        <p:nvSpPr>
          <p:cNvPr id="14" name="">
            <a:extLst xmlns:a="http://schemas.openxmlformats.org/drawingml/2006/main">
              <a:ext uri="{FF2B5EF4-FFF2-40B4-BE49-F238E27FC236}">
                <a16:creationId xmlns:a16="http://schemas.microsoft.com/office/drawing/2014/main" id="{00497579-4416-479C-87DE-1C4E4F29F5EE}"/>
              </a:ext>
            </a:extLst>
          </p:cNvPr>
          <p:cNvSpPr>
            <a:spLocks xmlns:a="http://schemas.openxmlformats.org/drawingml/2006/main" noGrp="1"/>
          </p:cNvSpPr>
          <p:nvPr/>
        </p:nvSpPr>
        <p:spPr>
          <a:xfrm xmlns:a="http://schemas.openxmlformats.org/drawingml/2006/main">
            <a:off x="5467350" y="2209800"/>
            <a:ext cx="2000250" cy="2238375"/>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600F5E18-C196-43CC-A0F9-231E4001466C}"/>
              </a:ext>
            </a:extLst>
          </p:cNvPr>
          <p:cNvSpPr>
            <a:spLocks xmlns:a="http://schemas.openxmlformats.org/drawingml/2006/main" noGrp="1"/>
          </p:cNvSpPr>
          <p:nvPr/>
        </p:nvSpPr>
        <p:spPr>
          <a:xfrm xmlns:a="http://schemas.openxmlformats.org/drawingml/2006/main">
            <a:off x="5467350" y="2209800"/>
            <a:ext cx="2000250" cy="11430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16" name="">
            <a:extLst xmlns:a="http://schemas.openxmlformats.org/drawingml/2006/main">
              <a:ext uri="{FF2B5EF4-FFF2-40B4-BE49-F238E27FC236}">
                <a16:creationId xmlns:a16="http://schemas.microsoft.com/office/drawing/2014/main" id="{B93245F5-4789-43E0-9323-3878A4C62FC9}"/>
              </a:ext>
            </a:extLst>
          </p:cNvPr>
          <p:cNvSpPr>
            <a:spLocks xmlns:a="http://schemas.openxmlformats.org/drawingml/2006/main" noGrp="1"/>
          </p:cNvSpPr>
          <p:nvPr/>
        </p:nvSpPr>
        <p:spPr>
          <a:xfrm xmlns:a="http://schemas.openxmlformats.org/drawingml/2006/main">
            <a:off x="5638800" y="2571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D97706"/>
                </a:solidFill>
              </a:defRPr>
            </a:pPr>
            <a:r>
              <a:rPr sz="1575" b="1">
                <a:solidFill>
                  <a:srgbClr val="D97706"/>
                </a:solidFill>
              </a:rPr>
              <a:t>3. Evidence truth</a:t>
            </a:r>
          </a:p>
        </p:txBody>
      </p:sp>
      <p:sp>
        <p:nvSpPr>
          <p:cNvPr id="17" name="">
            <a:extLst xmlns:a="http://schemas.openxmlformats.org/drawingml/2006/main">
              <a:ext uri="{FF2B5EF4-FFF2-40B4-BE49-F238E27FC236}">
                <a16:creationId xmlns:a16="http://schemas.microsoft.com/office/drawing/2014/main" id="{31F5A595-1D27-4B93-AFF2-122D3DA7F9AB}"/>
              </a:ext>
            </a:extLst>
          </p:cNvPr>
          <p:cNvSpPr>
            <a:spLocks xmlns:a="http://schemas.openxmlformats.org/drawingml/2006/main" noGrp="1"/>
          </p:cNvSpPr>
          <p:nvPr/>
        </p:nvSpPr>
        <p:spPr>
          <a:xfrm xmlns:a="http://schemas.openxmlformats.org/drawingml/2006/main">
            <a:off x="5638800" y="3048000"/>
            <a:ext cx="1657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Effect sizes and diagnostics separate signal from noise.</a:t>
            </a:r>
          </a:p>
        </p:txBody>
      </p:sp>
      <p:sp>
        <p:nvSpPr>
          <p:cNvPr id="18" name="">
            <a:extLst xmlns:a="http://schemas.openxmlformats.org/drawingml/2006/main">
              <a:ext uri="{FF2B5EF4-FFF2-40B4-BE49-F238E27FC236}">
                <a16:creationId xmlns:a16="http://schemas.microsoft.com/office/drawing/2014/main" id="{8998B894-9C7C-4CBB-96BF-D6637CE51FFA}"/>
              </a:ext>
            </a:extLst>
          </p:cNvPr>
          <p:cNvSpPr>
            <a:spLocks xmlns:a="http://schemas.openxmlformats.org/drawingml/2006/main" noGrp="1"/>
          </p:cNvSpPr>
          <p:nvPr/>
        </p:nvSpPr>
        <p:spPr>
          <a:xfrm xmlns:a="http://schemas.openxmlformats.org/drawingml/2006/main">
            <a:off x="7486650" y="3143250"/>
            <a:ext cx="457200" cy="400050"/>
          </a:xfrm>
          <a:prstGeom xmlns:a="http://schemas.openxmlformats.org/drawingml/2006/main" prst="rightArrow">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55D33FB4-E18C-45ED-8D0B-14DAD8AB8171}"/>
              </a:ext>
            </a:extLst>
          </p:cNvPr>
          <p:cNvSpPr>
            <a:spLocks xmlns:a="http://schemas.openxmlformats.org/drawingml/2006/main" noGrp="1"/>
          </p:cNvSpPr>
          <p:nvPr/>
        </p:nvSpPr>
        <p:spPr>
          <a:xfrm xmlns:a="http://schemas.openxmlformats.org/drawingml/2006/main">
            <a:off x="7810500" y="2209800"/>
            <a:ext cx="2000250" cy="2238375"/>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D59EE6F5-7C83-4EEC-9678-EF1F5735D7B9}"/>
              </a:ext>
            </a:extLst>
          </p:cNvPr>
          <p:cNvSpPr>
            <a:spLocks xmlns:a="http://schemas.openxmlformats.org/drawingml/2006/main" noGrp="1"/>
          </p:cNvSpPr>
          <p:nvPr/>
        </p:nvSpPr>
        <p:spPr>
          <a:xfrm xmlns:a="http://schemas.openxmlformats.org/drawingml/2006/main">
            <a:off x="7810500" y="2209800"/>
            <a:ext cx="2000250" cy="11430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21" name="">
            <a:extLst xmlns:a="http://schemas.openxmlformats.org/drawingml/2006/main">
              <a:ext uri="{FF2B5EF4-FFF2-40B4-BE49-F238E27FC236}">
                <a16:creationId xmlns:a16="http://schemas.microsoft.com/office/drawing/2014/main" id="{3FC341F7-B1AC-461D-A516-BC845044550E}"/>
              </a:ext>
            </a:extLst>
          </p:cNvPr>
          <p:cNvSpPr>
            <a:spLocks xmlns:a="http://schemas.openxmlformats.org/drawingml/2006/main" noGrp="1"/>
          </p:cNvSpPr>
          <p:nvPr/>
        </p:nvSpPr>
        <p:spPr>
          <a:xfrm xmlns:a="http://schemas.openxmlformats.org/drawingml/2006/main">
            <a:off x="7981950" y="2571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7C3AED"/>
                </a:solidFill>
              </a:defRPr>
            </a:pPr>
            <a:r>
              <a:rPr sz="1575" b="1">
                <a:solidFill>
                  <a:srgbClr val="7C3AED"/>
                </a:solidFill>
              </a:rPr>
              <a:t>4. Model truth</a:t>
            </a:r>
          </a:p>
        </p:txBody>
      </p:sp>
      <p:sp>
        <p:nvSpPr>
          <p:cNvPr id="22" name="">
            <a:extLst xmlns:a="http://schemas.openxmlformats.org/drawingml/2006/main">
              <a:ext uri="{FF2B5EF4-FFF2-40B4-BE49-F238E27FC236}">
                <a16:creationId xmlns:a16="http://schemas.microsoft.com/office/drawing/2014/main" id="{D645ABCD-ACDD-4845-9C3C-47575C58DCD0}"/>
              </a:ext>
            </a:extLst>
          </p:cNvPr>
          <p:cNvSpPr>
            <a:spLocks xmlns:a="http://schemas.openxmlformats.org/drawingml/2006/main" noGrp="1"/>
          </p:cNvSpPr>
          <p:nvPr/>
        </p:nvSpPr>
        <p:spPr>
          <a:xfrm xmlns:a="http://schemas.openxmlformats.org/drawingml/2006/main">
            <a:off x="7981950" y="3048000"/>
            <a:ext cx="16573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Metrics are high, but must be framed honestly.</a:t>
            </a:r>
          </a:p>
        </p:txBody>
      </p:sp>
      <p:sp>
        <p:nvSpPr>
          <p:cNvPr id="23" name="">
            <a:extLst xmlns:a="http://schemas.openxmlformats.org/drawingml/2006/main">
              <a:ext uri="{FF2B5EF4-FFF2-40B4-BE49-F238E27FC236}">
                <a16:creationId xmlns:a16="http://schemas.microsoft.com/office/drawing/2014/main" id="{5BE931F0-C94F-4FB8-AD4E-8FD692F8D193}"/>
              </a:ext>
            </a:extLst>
          </p:cNvPr>
          <p:cNvSpPr>
            <a:spLocks xmlns:a="http://schemas.openxmlformats.org/drawingml/2006/main" noGrp="1"/>
          </p:cNvSpPr>
          <p:nvPr/>
        </p:nvSpPr>
        <p:spPr>
          <a:xfrm xmlns:a="http://schemas.openxmlformats.org/drawingml/2006/main">
            <a:off x="1238250" y="4810125"/>
            <a:ext cx="8763000" cy="904875"/>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CC4128B4-6077-4FFF-BBC9-26CC933B16D0}"/>
              </a:ext>
            </a:extLst>
          </p:cNvPr>
          <p:cNvSpPr>
            <a:spLocks xmlns:a="http://schemas.openxmlformats.org/drawingml/2006/main" noGrp="1"/>
          </p:cNvSpPr>
          <p:nvPr/>
        </p:nvSpPr>
        <p:spPr>
          <a:xfrm xmlns:a="http://schemas.openxmlformats.org/drawingml/2006/main">
            <a:off x="1428750" y="4981575"/>
            <a:ext cx="838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Why this matters</a:t>
            </a:r>
          </a:p>
        </p:txBody>
      </p:sp>
      <p:sp>
        <p:nvSpPr>
          <p:cNvPr id="25" name="">
            <a:extLst xmlns:a="http://schemas.openxmlformats.org/drawingml/2006/main">
              <a:ext uri="{FF2B5EF4-FFF2-40B4-BE49-F238E27FC236}">
                <a16:creationId xmlns:a16="http://schemas.microsoft.com/office/drawing/2014/main" id="{09EE8DD3-1724-4AB2-AE16-FDEC10267A62}"/>
              </a:ext>
            </a:extLst>
          </p:cNvPr>
          <p:cNvSpPr>
            <a:spLocks xmlns:a="http://schemas.openxmlformats.org/drawingml/2006/main" noGrp="1"/>
          </p:cNvSpPr>
          <p:nvPr/>
        </p:nvSpPr>
        <p:spPr>
          <a:xfrm xmlns:a="http://schemas.openxmlformats.org/drawingml/2006/main">
            <a:off x="1428750" y="5362575"/>
            <a:ext cx="838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If the first decision is wrong, the whole explanation becomes misleading. The corrected version no longer says there are missing addiction levels; instead, it explains that the binary label is derived from a complete four-level severity field.</a:t>
            </a:r>
          </a:p>
        </p:txBody>
      </p:sp>
      <p:sp>
        <p:nvSpPr>
          <p:cNvPr id="26" name="">
            <a:extLst xmlns:a="http://schemas.openxmlformats.org/drawingml/2006/main">
              <a:ext uri="{FF2B5EF4-FFF2-40B4-BE49-F238E27FC236}">
                <a16:creationId xmlns:a16="http://schemas.microsoft.com/office/drawing/2014/main" id="{BDF62995-EE16-4DDF-8C67-F8B4E041F3AA}"/>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27" name="">
            <a:extLst xmlns:a="http://schemas.openxmlformats.org/drawingml/2006/main">
              <a:ext uri="{FF2B5EF4-FFF2-40B4-BE49-F238E27FC236}">
                <a16:creationId xmlns:a16="http://schemas.microsoft.com/office/drawing/2014/main" id="{B409F934-CF7B-450B-9D39-ABB7C1C8A450}"/>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03</a:t>
            </a:r>
          </a:p>
        </p:txBody>
      </p:sp>
    </p:spTree>
    <p:extLst>
      <p:ext uri="{BB962C8B-B14F-4D97-AF65-F5344CB8AC3E}">
        <p14:creationId xmlns:p14="http://schemas.microsoft.com/office/powerpoint/2010/main" val="12424065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65A02D-279D-4FEF-8F1E-C5901C8A7A2C}"/>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7FE991AD-A6A2-489A-9D1B-D2433DD6889F}"/>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Data quality baseline</a:t>
            </a:r>
          </a:p>
        </p:txBody>
      </p:sp>
      <p:sp>
        <p:nvSpPr>
          <p:cNvPr id="3" name="">
            <a:extLst xmlns:a="http://schemas.openxmlformats.org/drawingml/2006/main">
              <a:ext uri="{FF2B5EF4-FFF2-40B4-BE49-F238E27FC236}">
                <a16:creationId xmlns:a16="http://schemas.microsoft.com/office/drawing/2014/main" id="{24F296F5-9B79-48CC-AFB1-6B53344CA50A}"/>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first job is to prove the data is usable before modeling.</a:t>
            </a:r>
          </a:p>
        </p:txBody>
      </p:sp>
      <p:sp>
        <p:nvSpPr>
          <p:cNvPr id="4" name="">
            <a:extLst xmlns:a="http://schemas.openxmlformats.org/drawingml/2006/main">
              <a:ext uri="{FF2B5EF4-FFF2-40B4-BE49-F238E27FC236}">
                <a16:creationId xmlns:a16="http://schemas.microsoft.com/office/drawing/2014/main" id="{DB840A91-F6F4-4DD0-B538-B3C35BCF0C02}"/>
              </a:ext>
            </a:extLst>
          </p:cNvPr>
          <p:cNvSpPr>
            <a:spLocks xmlns:a="http://schemas.openxmlformats.org/drawingml/2006/main" noGrp="1"/>
          </p:cNvSpPr>
          <p:nvPr/>
        </p:nvSpPr>
        <p:spPr>
          <a:xfrm xmlns:a="http://schemas.openxmlformats.org/drawingml/2006/main">
            <a:off x="666750" y="2076450"/>
            <a:ext cx="23812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C75FEC4-6DEF-4748-B51B-F0E29C2B3432}"/>
              </a:ext>
            </a:extLst>
          </p:cNvPr>
          <p:cNvSpPr>
            <a:spLocks xmlns:a="http://schemas.openxmlformats.org/drawingml/2006/main" noGrp="1"/>
          </p:cNvSpPr>
          <p:nvPr/>
        </p:nvSpPr>
        <p:spPr>
          <a:xfrm xmlns:a="http://schemas.openxmlformats.org/drawingml/2006/main">
            <a:off x="838200" y="21907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563EB"/>
                </a:solidFill>
              </a:defRPr>
            </a:pPr>
            <a:r>
              <a:rPr sz="2025" b="1">
                <a:solidFill>
                  <a:srgbClr val="2563EB"/>
                </a:solidFill>
              </a:rPr>
              <a:t>7,500 x 16</a:t>
            </a:r>
          </a:p>
        </p:txBody>
      </p:sp>
      <p:sp>
        <p:nvSpPr>
          <p:cNvPr id="6" name="">
            <a:extLst xmlns:a="http://schemas.openxmlformats.org/drawingml/2006/main">
              <a:ext uri="{FF2B5EF4-FFF2-40B4-BE49-F238E27FC236}">
                <a16:creationId xmlns:a16="http://schemas.microsoft.com/office/drawing/2014/main" id="{A7C4D1F0-D68C-4049-9A68-B94E519717AB}"/>
              </a:ext>
            </a:extLst>
          </p:cNvPr>
          <p:cNvSpPr>
            <a:spLocks xmlns:a="http://schemas.openxmlformats.org/drawingml/2006/main" noGrp="1"/>
          </p:cNvSpPr>
          <p:nvPr/>
        </p:nvSpPr>
        <p:spPr>
          <a:xfrm xmlns:a="http://schemas.openxmlformats.org/drawingml/2006/main">
            <a:off x="838200" y="25336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Dataset shape</a:t>
            </a:r>
          </a:p>
        </p:txBody>
      </p:sp>
      <p:sp>
        <p:nvSpPr>
          <p:cNvPr id="7" name="">
            <a:extLst xmlns:a="http://schemas.openxmlformats.org/drawingml/2006/main">
              <a:ext uri="{FF2B5EF4-FFF2-40B4-BE49-F238E27FC236}">
                <a16:creationId xmlns:a16="http://schemas.microsoft.com/office/drawing/2014/main" id="{C499B7DF-EEDF-4827-B74E-951018C2C4CA}"/>
              </a:ext>
            </a:extLst>
          </p:cNvPr>
          <p:cNvSpPr>
            <a:spLocks xmlns:a="http://schemas.openxmlformats.org/drawingml/2006/main" noGrp="1"/>
          </p:cNvSpPr>
          <p:nvPr/>
        </p:nvSpPr>
        <p:spPr>
          <a:xfrm xmlns:a="http://schemas.openxmlformats.org/drawingml/2006/main">
            <a:off x="838200" y="27813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Rows and columns loaded</a:t>
            </a:r>
          </a:p>
        </p:txBody>
      </p:sp>
      <p:sp>
        <p:nvSpPr>
          <p:cNvPr id="8" name="">
            <a:extLst xmlns:a="http://schemas.openxmlformats.org/drawingml/2006/main">
              <a:ext uri="{FF2B5EF4-FFF2-40B4-BE49-F238E27FC236}">
                <a16:creationId xmlns:a16="http://schemas.microsoft.com/office/drawing/2014/main" id="{0A626989-E0F4-4826-8D61-41BD063F3A23}"/>
              </a:ext>
            </a:extLst>
          </p:cNvPr>
          <p:cNvSpPr>
            <a:spLocks xmlns:a="http://schemas.openxmlformats.org/drawingml/2006/main" noGrp="1"/>
          </p:cNvSpPr>
          <p:nvPr/>
        </p:nvSpPr>
        <p:spPr>
          <a:xfrm xmlns:a="http://schemas.openxmlformats.org/drawingml/2006/main">
            <a:off x="3333750" y="2076450"/>
            <a:ext cx="21907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B7C800A-DC59-4689-8DA5-11A1F6D4B80B}"/>
              </a:ext>
            </a:extLst>
          </p:cNvPr>
          <p:cNvSpPr>
            <a:spLocks xmlns:a="http://schemas.openxmlformats.org/drawingml/2006/main" noGrp="1"/>
          </p:cNvSpPr>
          <p:nvPr/>
        </p:nvSpPr>
        <p:spPr>
          <a:xfrm xmlns:a="http://schemas.openxmlformats.org/drawingml/2006/main">
            <a:off x="3505200" y="21907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6A34A"/>
                </a:solidFill>
              </a:defRPr>
            </a:pPr>
            <a:r>
              <a:rPr sz="2025" b="1">
                <a:solidFill>
                  <a:srgbClr val="16A34A"/>
                </a:solidFill>
              </a:rPr>
              <a:t>0</a:t>
            </a:r>
          </a:p>
        </p:txBody>
      </p:sp>
      <p:sp>
        <p:nvSpPr>
          <p:cNvPr id="10" name="">
            <a:extLst xmlns:a="http://schemas.openxmlformats.org/drawingml/2006/main">
              <a:ext uri="{FF2B5EF4-FFF2-40B4-BE49-F238E27FC236}">
                <a16:creationId xmlns:a16="http://schemas.microsoft.com/office/drawing/2014/main" id="{211A577D-87BE-4506-8455-F4943EB74B11}"/>
              </a:ext>
            </a:extLst>
          </p:cNvPr>
          <p:cNvSpPr>
            <a:spLocks xmlns:a="http://schemas.openxmlformats.org/drawingml/2006/main" noGrp="1"/>
          </p:cNvSpPr>
          <p:nvPr/>
        </p:nvSpPr>
        <p:spPr>
          <a:xfrm xmlns:a="http://schemas.openxmlformats.org/drawingml/2006/main">
            <a:off x="3505200" y="253365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Duplicate rows</a:t>
            </a:r>
          </a:p>
        </p:txBody>
      </p:sp>
      <p:sp>
        <p:nvSpPr>
          <p:cNvPr id="11" name="">
            <a:extLst xmlns:a="http://schemas.openxmlformats.org/drawingml/2006/main">
              <a:ext uri="{FF2B5EF4-FFF2-40B4-BE49-F238E27FC236}">
                <a16:creationId xmlns:a16="http://schemas.microsoft.com/office/drawing/2014/main" id="{5CAA75E7-BC86-4EE8-B525-83746EAA8857}"/>
              </a:ext>
            </a:extLst>
          </p:cNvPr>
          <p:cNvSpPr>
            <a:spLocks xmlns:a="http://schemas.openxmlformats.org/drawingml/2006/main" noGrp="1"/>
          </p:cNvSpPr>
          <p:nvPr/>
        </p:nvSpPr>
        <p:spPr>
          <a:xfrm xmlns:a="http://schemas.openxmlformats.org/drawingml/2006/main">
            <a:off x="3505200" y="2781300"/>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No duplicate records</a:t>
            </a:r>
          </a:p>
        </p:txBody>
      </p:sp>
      <p:sp>
        <p:nvSpPr>
          <p:cNvPr id="12" name="">
            <a:extLst xmlns:a="http://schemas.openxmlformats.org/drawingml/2006/main">
              <a:ext uri="{FF2B5EF4-FFF2-40B4-BE49-F238E27FC236}">
                <a16:creationId xmlns:a16="http://schemas.microsoft.com/office/drawing/2014/main" id="{39CB9EDE-F8C4-479B-866B-E67A829FD878}"/>
              </a:ext>
            </a:extLst>
          </p:cNvPr>
          <p:cNvSpPr>
            <a:spLocks xmlns:a="http://schemas.openxmlformats.org/drawingml/2006/main" noGrp="1"/>
          </p:cNvSpPr>
          <p:nvPr/>
        </p:nvSpPr>
        <p:spPr>
          <a:xfrm xmlns:a="http://schemas.openxmlformats.org/drawingml/2006/main">
            <a:off x="5810250" y="2076450"/>
            <a:ext cx="28575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4C81FF9-C8D1-4FF0-BDFC-17231B8B8D02}"/>
              </a:ext>
            </a:extLst>
          </p:cNvPr>
          <p:cNvSpPr>
            <a:spLocks xmlns:a="http://schemas.openxmlformats.org/drawingml/2006/main" noGrp="1"/>
          </p:cNvSpPr>
          <p:nvPr/>
        </p:nvSpPr>
        <p:spPr>
          <a:xfrm xmlns:a="http://schemas.openxmlformats.org/drawingml/2006/main">
            <a:off x="5981700" y="2190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F766E"/>
                </a:solidFill>
              </a:defRPr>
            </a:pPr>
            <a:r>
              <a:rPr sz="2025" b="1">
                <a:solidFill>
                  <a:srgbClr val="0F766E"/>
                </a:solidFill>
              </a:rPr>
              <a:t>0</a:t>
            </a:r>
          </a:p>
        </p:txBody>
      </p:sp>
      <p:sp>
        <p:nvSpPr>
          <p:cNvPr id="14" name="">
            <a:extLst xmlns:a="http://schemas.openxmlformats.org/drawingml/2006/main">
              <a:ext uri="{FF2B5EF4-FFF2-40B4-BE49-F238E27FC236}">
                <a16:creationId xmlns:a16="http://schemas.microsoft.com/office/drawing/2014/main" id="{029B765C-3365-4693-A17B-D9F13BE809B5}"/>
              </a:ext>
            </a:extLst>
          </p:cNvPr>
          <p:cNvSpPr>
            <a:spLocks xmlns:a="http://schemas.openxmlformats.org/drawingml/2006/main" noGrp="1"/>
          </p:cNvSpPr>
          <p:nvPr/>
        </p:nvSpPr>
        <p:spPr>
          <a:xfrm xmlns:a="http://schemas.openxmlformats.org/drawingml/2006/main">
            <a:off x="5981700" y="25336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Duplicate IDs</a:t>
            </a:r>
          </a:p>
        </p:txBody>
      </p:sp>
      <p:sp>
        <p:nvSpPr>
          <p:cNvPr id="15" name="">
            <a:extLst xmlns:a="http://schemas.openxmlformats.org/drawingml/2006/main">
              <a:ext uri="{FF2B5EF4-FFF2-40B4-BE49-F238E27FC236}">
                <a16:creationId xmlns:a16="http://schemas.microsoft.com/office/drawing/2014/main" id="{898DF653-4E54-46FD-88CD-CA003CE64401}"/>
              </a:ext>
            </a:extLst>
          </p:cNvPr>
          <p:cNvSpPr>
            <a:spLocks xmlns:a="http://schemas.openxmlformats.org/drawingml/2006/main" noGrp="1"/>
          </p:cNvSpPr>
          <p:nvPr/>
        </p:nvSpPr>
        <p:spPr>
          <a:xfrm xmlns:a="http://schemas.openxmlformats.org/drawingml/2006/main">
            <a:off x="5981700" y="27813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transaction_id and user_id are unique</a:t>
            </a:r>
          </a:p>
        </p:txBody>
      </p:sp>
      <p:sp>
        <p:nvSpPr>
          <p:cNvPr id="16" name="">
            <a:extLst xmlns:a="http://schemas.openxmlformats.org/drawingml/2006/main">
              <a:ext uri="{FF2B5EF4-FFF2-40B4-BE49-F238E27FC236}">
                <a16:creationId xmlns:a16="http://schemas.microsoft.com/office/drawing/2014/main" id="{0931FAAD-E712-4E4E-9822-3DDCAAAD81F3}"/>
              </a:ext>
            </a:extLst>
          </p:cNvPr>
          <p:cNvSpPr>
            <a:spLocks xmlns:a="http://schemas.openxmlformats.org/drawingml/2006/main" noGrp="1"/>
          </p:cNvSpPr>
          <p:nvPr/>
        </p:nvSpPr>
        <p:spPr>
          <a:xfrm xmlns:a="http://schemas.openxmlformats.org/drawingml/2006/main">
            <a:off x="8953500" y="2076450"/>
            <a:ext cx="24765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349873E-D95C-4254-9011-3714D09B695D}"/>
              </a:ext>
            </a:extLst>
          </p:cNvPr>
          <p:cNvSpPr>
            <a:spLocks xmlns:a="http://schemas.openxmlformats.org/drawingml/2006/main" noGrp="1"/>
          </p:cNvSpPr>
          <p:nvPr/>
        </p:nvSpPr>
        <p:spPr>
          <a:xfrm xmlns:a="http://schemas.openxmlformats.org/drawingml/2006/main">
            <a:off x="9124950" y="21907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7C3AED"/>
                </a:solidFill>
              </a:defRPr>
            </a:pPr>
            <a:r>
              <a:rPr sz="2025" b="1">
                <a:solidFill>
                  <a:srgbClr val="7C3AED"/>
                </a:solidFill>
              </a:rPr>
              <a:t>0</a:t>
            </a:r>
          </a:p>
        </p:txBody>
      </p:sp>
      <p:sp>
        <p:nvSpPr>
          <p:cNvPr id="18" name="">
            <a:extLst xmlns:a="http://schemas.openxmlformats.org/drawingml/2006/main">
              <a:ext uri="{FF2B5EF4-FFF2-40B4-BE49-F238E27FC236}">
                <a16:creationId xmlns:a16="http://schemas.microsoft.com/office/drawing/2014/main" id="{A57861C0-8B0F-4715-9D47-6A0377DF0042}"/>
              </a:ext>
            </a:extLst>
          </p:cNvPr>
          <p:cNvSpPr>
            <a:spLocks xmlns:a="http://schemas.openxmlformats.org/drawingml/2006/main" noGrp="1"/>
          </p:cNvSpPr>
          <p:nvPr/>
        </p:nvSpPr>
        <p:spPr>
          <a:xfrm xmlns:a="http://schemas.openxmlformats.org/drawingml/2006/main">
            <a:off x="9124950" y="25336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Actual missing values</a:t>
            </a:r>
          </a:p>
        </p:txBody>
      </p:sp>
      <p:sp>
        <p:nvSpPr>
          <p:cNvPr id="19" name="">
            <a:extLst xmlns:a="http://schemas.openxmlformats.org/drawingml/2006/main">
              <a:ext uri="{FF2B5EF4-FFF2-40B4-BE49-F238E27FC236}">
                <a16:creationId xmlns:a16="http://schemas.microsoft.com/office/drawing/2014/main" id="{E462A4D7-F5F1-4216-802C-AEA00C2B606C}"/>
              </a:ext>
            </a:extLst>
          </p:cNvPr>
          <p:cNvSpPr>
            <a:spLocks xmlns:a="http://schemas.openxmlformats.org/drawingml/2006/main" noGrp="1"/>
          </p:cNvSpPr>
          <p:nvPr/>
        </p:nvSpPr>
        <p:spPr>
          <a:xfrm xmlns:a="http://schemas.openxmlformats.org/drawingml/2006/main">
            <a:off x="9124950" y="278130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After corrected loading</a:t>
            </a:r>
          </a:p>
        </p:txBody>
      </p:sp>
      <p:sp>
        <p:nvSpPr>
          <p:cNvPr id="20" name="">
            <a:extLst xmlns:a="http://schemas.openxmlformats.org/drawingml/2006/main">
              <a:ext uri="{FF2B5EF4-FFF2-40B4-BE49-F238E27FC236}">
                <a16:creationId xmlns:a16="http://schemas.microsoft.com/office/drawing/2014/main" id="{16276345-58F9-4C52-84AD-D5AA3E18F1A4}"/>
              </a:ext>
            </a:extLst>
          </p:cNvPr>
          <p:cNvSpPr>
            <a:spLocks xmlns:a="http://schemas.openxmlformats.org/drawingml/2006/main" noGrp="1"/>
          </p:cNvSpPr>
          <p:nvPr/>
        </p:nvSpPr>
        <p:spPr>
          <a:xfrm xmlns:a="http://schemas.openxmlformats.org/drawingml/2006/main">
            <a:off x="762000" y="3638550"/>
            <a:ext cx="4857750" cy="16192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24CDB268-4210-4B0D-A4B2-E38AEEF7EDBD}"/>
              </a:ext>
            </a:extLst>
          </p:cNvPr>
          <p:cNvSpPr>
            <a:spLocks xmlns:a="http://schemas.openxmlformats.org/drawingml/2006/main" noGrp="1"/>
          </p:cNvSpPr>
          <p:nvPr/>
        </p:nvSpPr>
        <p:spPr>
          <a:xfrm xmlns:a="http://schemas.openxmlformats.org/drawingml/2006/main">
            <a:off x="952500" y="38100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Data-quality interpretation</a:t>
            </a:r>
          </a:p>
        </p:txBody>
      </p:sp>
      <p:sp>
        <p:nvSpPr>
          <p:cNvPr id="22" name="">
            <a:extLst xmlns:a="http://schemas.openxmlformats.org/drawingml/2006/main">
              <a:ext uri="{FF2B5EF4-FFF2-40B4-BE49-F238E27FC236}">
                <a16:creationId xmlns:a16="http://schemas.microsoft.com/office/drawing/2014/main" id="{FA658C44-5E37-45E7-9B4B-BCD3DC75ED58}"/>
              </a:ext>
            </a:extLst>
          </p:cNvPr>
          <p:cNvSpPr>
            <a:spLocks xmlns:a="http://schemas.openxmlformats.org/drawingml/2006/main" noGrp="1"/>
          </p:cNvSpPr>
          <p:nvPr/>
        </p:nvSpPr>
        <p:spPr>
          <a:xfrm xmlns:a="http://schemas.openxmlformats.org/drawingml/2006/main">
            <a:off x="952500" y="419100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review checked dataset shape, duplicate rows, duplicate transaction IDs, duplicate user IDs, missing values, and categorical values. After correcting the CSV loading behavior, the dataset has no actual missing values, so all 7,500 rows can remain in the analysis without imputation or deletion.</a:t>
            </a:r>
          </a:p>
        </p:txBody>
      </p:sp>
      <p:graphicFrame>
        <p:nvGraphicFramePr>
          <p:cNvPr id="48" name=""/>
          <p:cNvGraphicFramePr/>
          <p:nvPr/>
        </p:nvGraphicFramePr>
        <p:xfrm>
          <a:off xmlns:a="http://schemas.openxmlformats.org/drawingml/2006/main" x="6191250" y="3638550"/>
          <a:ext xmlns:a="http://schemas.openxmlformats.org/drawingml/2006/main" cx="4953000" cy="2000250"/>
        </p:xfrm>
        <a:graphic xmlns:a="http://schemas.openxmlformats.org/drawingml/2006/main">
          <a:graphicData uri="http://schemas.openxmlformats.org/drawingml/2006/table">
            <a:tbl>
              <a:tblPr firstRow="1" bandRow="1"/>
              <a:tblGrid>
                <a:gridCol w="1651000"/>
                <a:gridCol w="1651000"/>
                <a:gridCol w="1651000"/>
              </a:tblGrid>
              <a:tr h="333375">
                <a:tc>
                  <a:txBody>
                    <a:bodyPr/>
                    <a:lstStyle/>
                    <a:p>
                      <a:r>
                        <a:rPr sz="825" b="1">
                          <a:solidFill>
                            <a:srgbClr val="FFFFFF"/>
                          </a:solidFill>
                        </a:rPr>
                        <a:t>Check</a:t>
                      </a:r>
                    </a:p>
                  </a:txBody>
                  <a:tcPr marL="91440" marR="91440" marT="45720" marB="45720">
                    <a:solidFill>
                      <a:srgbClr val="0F172A"/>
                    </a:solidFill>
                  </a:tcPr>
                </a:tc>
                <a:tc>
                  <a:txBody>
                    <a:bodyPr/>
                    <a:lstStyle/>
                    <a:p>
                      <a:r>
                        <a:rPr sz="825" b="1">
                          <a:solidFill>
                            <a:srgbClr val="FFFFFF"/>
                          </a:solidFill>
                        </a:rPr>
                        <a:t>Result</a:t>
                      </a:r>
                    </a:p>
                  </a:txBody>
                  <a:tcPr marL="91440" marR="91440" marT="45720" marB="45720">
                    <a:solidFill>
                      <a:srgbClr val="0F172A"/>
                    </a:solidFill>
                  </a:tcPr>
                </a:tc>
                <a:tc>
                  <a:txBody>
                    <a:bodyPr/>
                    <a:lstStyle/>
                    <a:p>
                      <a:r>
                        <a:rPr sz="825" b="1">
                          <a:solidFill>
                            <a:srgbClr val="FFFFFF"/>
                          </a:solidFill>
                        </a:rPr>
                        <a:t>Decision</a:t>
                      </a:r>
                    </a:p>
                  </a:txBody>
                  <a:tcPr marL="91440" marR="91440" marT="45720" marB="45720">
                    <a:solidFill>
                      <a:srgbClr val="0F172A"/>
                    </a:solidFill>
                  </a:tcPr>
                </a:tc>
              </a:tr>
              <a:tr h="333375">
                <a:tc>
                  <a:txBody>
                    <a:bodyPr/>
                    <a:lstStyle/>
                    <a:p>
                      <a:r>
                        <a:rPr sz="825">
                          <a:solidFill>
                            <a:srgbClr val="111827"/>
                          </a:solidFill>
                        </a:rPr>
                        <a:t>Rows / columns</a:t>
                      </a:r>
                    </a:p>
                  </a:txBody>
                  <a:tcPr marL="91440" marR="91440" marT="45720" marB="45720"/>
                </a:tc>
                <a:tc>
                  <a:txBody>
                    <a:bodyPr/>
                    <a:lstStyle/>
                    <a:p>
                      <a:r>
                        <a:rPr sz="825">
                          <a:solidFill>
                            <a:srgbClr val="111827"/>
                          </a:solidFill>
                        </a:rPr>
                        <a:t>7,500 x 16</a:t>
                      </a:r>
                    </a:p>
                  </a:txBody>
                  <a:tcPr marL="91440" marR="91440" marT="45720" marB="45720"/>
                </a:tc>
                <a:tc>
                  <a:txBody>
                    <a:bodyPr/>
                    <a:lstStyle/>
                    <a:p>
                      <a:r>
                        <a:rPr sz="825">
                          <a:solidFill>
                            <a:srgbClr val="111827"/>
                          </a:solidFill>
                        </a:rPr>
                        <a:t>Use full dataset</a:t>
                      </a:r>
                    </a:p>
                  </a:txBody>
                  <a:tcPr marL="91440" marR="91440" marT="45720" marB="45720"/>
                </a:tc>
              </a:tr>
              <a:tr h="333375">
                <a:tc>
                  <a:txBody>
                    <a:bodyPr/>
                    <a:lstStyle/>
                    <a:p>
                      <a:r>
                        <a:rPr sz="825">
                          <a:solidFill>
                            <a:srgbClr val="111827"/>
                          </a:solidFill>
                        </a:rPr>
                        <a:t>Duplicate rows</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No removal</a:t>
                      </a:r>
                    </a:p>
                  </a:txBody>
                  <a:tcPr marL="91440" marR="91440" marT="45720" marB="45720"/>
                </a:tc>
              </a:tr>
              <a:tr h="333375">
                <a:tc>
                  <a:txBody>
                    <a:bodyPr/>
                    <a:lstStyle/>
                    <a:p>
                      <a:r>
                        <a:rPr sz="825">
                          <a:solidFill>
                            <a:srgbClr val="111827"/>
                          </a:solidFill>
                        </a:rPr>
                        <a:t>Duplicate transaction_id</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Exclude from model only</a:t>
                      </a:r>
                    </a:p>
                  </a:txBody>
                  <a:tcPr marL="91440" marR="91440" marT="45720" marB="45720"/>
                </a:tc>
              </a:tr>
              <a:tr h="333375">
                <a:tc>
                  <a:txBody>
                    <a:bodyPr/>
                    <a:lstStyle/>
                    <a:p>
                      <a:r>
                        <a:rPr sz="825">
                          <a:solidFill>
                            <a:srgbClr val="111827"/>
                          </a:solidFill>
                        </a:rPr>
                        <a:t>Duplicate user_id</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Exclude from model only</a:t>
                      </a:r>
                    </a:p>
                  </a:txBody>
                  <a:tcPr marL="91440" marR="91440" marT="45720" marB="45720"/>
                </a:tc>
              </a:tr>
              <a:tr h="333375">
                <a:tc>
                  <a:txBody>
                    <a:bodyPr/>
                    <a:lstStyle/>
                    <a:p>
                      <a:r>
                        <a:rPr sz="825">
                          <a:solidFill>
                            <a:srgbClr val="111827"/>
                          </a:solidFill>
                        </a:rPr>
                        <a:t>True missing values</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No imputation narrative</a:t>
                      </a:r>
                    </a:p>
                  </a:txBody>
                  <a:tcPr marL="91440" marR="91440" marT="45720" marB="45720"/>
                </a:tc>
              </a:tr>
            </a:tbl>
          </a:graphicData>
        </a:graphic>
      </p:graphicFrame>
      <p:sp>
        <p:nvSpPr>
          <p:cNvPr id="24" name="">
            <a:extLst xmlns:a="http://schemas.openxmlformats.org/drawingml/2006/main">
              <a:ext uri="{FF2B5EF4-FFF2-40B4-BE49-F238E27FC236}">
                <a16:creationId xmlns:a16="http://schemas.microsoft.com/office/drawing/2014/main" id="{D9EE4232-0387-4F0C-8098-E0F87C320586}"/>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25" name="">
            <a:extLst xmlns:a="http://schemas.openxmlformats.org/drawingml/2006/main">
              <a:ext uri="{FF2B5EF4-FFF2-40B4-BE49-F238E27FC236}">
                <a16:creationId xmlns:a16="http://schemas.microsoft.com/office/drawing/2014/main" id="{8A1495D9-17AD-4508-8C19-7B2EFFCCE202}"/>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04</a:t>
            </a:r>
          </a:p>
        </p:txBody>
      </p:sp>
    </p:spTree>
    <p:extLst>
      <p:ext uri="{BB962C8B-B14F-4D97-AF65-F5344CB8AC3E}">
        <p14:creationId xmlns:p14="http://schemas.microsoft.com/office/powerpoint/2010/main" val="1707031980"/>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A5B701-9C4B-4423-B170-362D87CAB734}"/>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3B36332E-5A87-42F7-89DC-2CC1A74F6F7D}"/>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The pandas parsing issue</a:t>
            </a:r>
          </a:p>
        </p:txBody>
      </p:sp>
      <p:sp>
        <p:nvSpPr>
          <p:cNvPr id="3" name="">
            <a:extLst xmlns:a="http://schemas.openxmlformats.org/drawingml/2006/main">
              <a:ext uri="{FF2B5EF4-FFF2-40B4-BE49-F238E27FC236}">
                <a16:creationId xmlns:a16="http://schemas.microsoft.com/office/drawing/2014/main" id="{6E1E56F5-9ACF-4B4A-B6B1-1AEA77B85B18}"/>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old explanation said 819 missing values, but that was a loading artifact.</a:t>
            </a:r>
          </a:p>
        </p:txBody>
      </p:sp>
      <p:sp>
        <p:nvSpPr>
          <p:cNvPr id="4" name="">
            <a:extLst xmlns:a="http://schemas.openxmlformats.org/drawingml/2006/main">
              <a:ext uri="{FF2B5EF4-FFF2-40B4-BE49-F238E27FC236}">
                <a16:creationId xmlns:a16="http://schemas.microsoft.com/office/drawing/2014/main" id="{3FE37460-21B3-4888-8BFA-6AE17E361572}"/>
              </a:ext>
            </a:extLst>
          </p:cNvPr>
          <p:cNvSpPr>
            <a:spLocks xmlns:a="http://schemas.openxmlformats.org/drawingml/2006/main" noGrp="1"/>
          </p:cNvSpPr>
          <p:nvPr/>
        </p:nvSpPr>
        <p:spPr>
          <a:xfrm xmlns:a="http://schemas.openxmlformats.org/drawingml/2006/main">
            <a:off x="762000" y="2095500"/>
            <a:ext cx="4191000" cy="1381125"/>
          </a:xfrm>
          <a:prstGeom xmlns:a="http://schemas.openxmlformats.org/drawingml/2006/main" prst="roundRect">
            <a:avLst>
              <a:gd name="adj" fmla="val 6897"/>
            </a:avLst>
          </a:prstGeom>
          <a:solidFill xmlns:a="http://schemas.openxmlformats.org/drawingml/2006/main">
            <a:srgbClr val="FEE2E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F26E63E-1664-4540-983E-DF9C8B59A0E5}"/>
              </a:ext>
            </a:extLst>
          </p:cNvPr>
          <p:cNvSpPr>
            <a:spLocks xmlns:a="http://schemas.openxmlformats.org/drawingml/2006/main" noGrp="1"/>
          </p:cNvSpPr>
          <p:nvPr/>
        </p:nvSpPr>
        <p:spPr>
          <a:xfrm xmlns:a="http://schemas.openxmlformats.org/drawingml/2006/main">
            <a:off x="952500" y="2266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2626"/>
                </a:solidFill>
              </a:defRPr>
            </a:pPr>
            <a:r>
              <a:rPr sz="1650" b="1">
                <a:solidFill>
                  <a:srgbClr val="DC2626"/>
                </a:solidFill>
              </a:rPr>
              <a:t>What went wrong</a:t>
            </a:r>
          </a:p>
        </p:txBody>
      </p:sp>
      <p:sp>
        <p:nvSpPr>
          <p:cNvPr id="6" name="">
            <a:extLst xmlns:a="http://schemas.openxmlformats.org/drawingml/2006/main">
              <a:ext uri="{FF2B5EF4-FFF2-40B4-BE49-F238E27FC236}">
                <a16:creationId xmlns:a16="http://schemas.microsoft.com/office/drawing/2014/main" id="{0B979026-74C0-4AC7-B310-11A9ABF16A80}"/>
              </a:ext>
            </a:extLst>
          </p:cNvPr>
          <p:cNvSpPr>
            <a:spLocks xmlns:a="http://schemas.openxmlformats.org/drawingml/2006/main" noGrp="1"/>
          </p:cNvSpPr>
          <p:nvPr/>
        </p:nvSpPr>
        <p:spPr>
          <a:xfrm xmlns:a="http://schemas.openxmlformats.org/drawingml/2006/main">
            <a:off x="952500" y="2647950"/>
            <a:ext cx="3810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By default, pandas treats the text value None as a missing value. In this CSV, however, None is not blank data. It is the lowest addiction_level category. So the earlier notebook accidentally converted a real category into NaN.</a:t>
            </a:r>
          </a:p>
        </p:txBody>
      </p:sp>
      <p:sp>
        <p:nvSpPr>
          <p:cNvPr id="7" name="">
            <a:extLst xmlns:a="http://schemas.openxmlformats.org/drawingml/2006/main">
              <a:ext uri="{FF2B5EF4-FFF2-40B4-BE49-F238E27FC236}">
                <a16:creationId xmlns:a16="http://schemas.microsoft.com/office/drawing/2014/main" id="{E63BC68D-E5A8-4D9C-B506-406CB0A68D11}"/>
              </a:ext>
            </a:extLst>
          </p:cNvPr>
          <p:cNvSpPr>
            <a:spLocks xmlns:a="http://schemas.openxmlformats.org/drawingml/2006/main" noGrp="1"/>
          </p:cNvSpPr>
          <p:nvPr/>
        </p:nvSpPr>
        <p:spPr>
          <a:xfrm xmlns:a="http://schemas.openxmlformats.org/drawingml/2006/main">
            <a:off x="762000" y="3762375"/>
            <a:ext cx="4191000" cy="1381125"/>
          </a:xfrm>
          <a:prstGeom xmlns:a="http://schemas.openxmlformats.org/drawingml/2006/main" prst="roundRect">
            <a:avLst>
              <a:gd name="adj" fmla="val 6897"/>
            </a:avLst>
          </a:prstGeom>
          <a:solidFill xmlns:a="http://schemas.openxmlformats.org/drawingml/2006/main">
            <a:srgbClr val="CCFBF1"/>
          </a:solidFill>
          <a:ln xmlns:a="http://schemas.openxmlformats.org/drawingml/2006/main" w="9525">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63703BE-6EC3-41B0-A338-E21FB5C0614E}"/>
              </a:ext>
            </a:extLst>
          </p:cNvPr>
          <p:cNvSpPr>
            <a:spLocks xmlns:a="http://schemas.openxmlformats.org/drawingml/2006/main" noGrp="1"/>
          </p:cNvSpPr>
          <p:nvPr/>
        </p:nvSpPr>
        <p:spPr>
          <a:xfrm xmlns:a="http://schemas.openxmlformats.org/drawingml/2006/main">
            <a:off x="952500" y="393382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766E"/>
                </a:solidFill>
              </a:defRPr>
            </a:pPr>
            <a:r>
              <a:rPr sz="1650" b="1">
                <a:solidFill>
                  <a:srgbClr val="0F766E"/>
                </a:solidFill>
              </a:rPr>
              <a:t>What fixed it</a:t>
            </a:r>
          </a:p>
        </p:txBody>
      </p:sp>
      <p:sp>
        <p:nvSpPr>
          <p:cNvPr id="9" name="">
            <a:extLst xmlns:a="http://schemas.openxmlformats.org/drawingml/2006/main">
              <a:ext uri="{FF2B5EF4-FFF2-40B4-BE49-F238E27FC236}">
                <a16:creationId xmlns:a16="http://schemas.microsoft.com/office/drawing/2014/main" id="{D987942F-1AD9-46DD-8BC8-C8E989B28F82}"/>
              </a:ext>
            </a:extLst>
          </p:cNvPr>
          <p:cNvSpPr>
            <a:spLocks xmlns:a="http://schemas.openxmlformats.org/drawingml/2006/main" noGrp="1"/>
          </p:cNvSpPr>
          <p:nvPr/>
        </p:nvSpPr>
        <p:spPr>
          <a:xfrm xmlns:a="http://schemas.openxmlformats.org/drawingml/2006/main">
            <a:off x="952500" y="4314825"/>
            <a:ext cx="3810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corrected code uses keep_default_na=False and treats only blank strings as missing. Once loaded this way, the column addiction_level is complete and contains four real categories: None, Mild, Moderate, and Severe.</a:t>
            </a:r>
          </a:p>
        </p:txBody>
      </p:sp>
      <p:graphicFrame>
        <p:nvGraphicFramePr>
          <p:cNvPr id="24" name="Chart"/>
          <p:cNvGraphicFramePr/>
          <p:nvPr/>
        </p:nvGraphicFramePr>
        <p:xfrm>
          <a:off xmlns:a="http://schemas.openxmlformats.org/drawingml/2006/main" x="5810250" y="2095500"/>
          <a:ext xmlns:a="http://schemas.openxmlformats.org/drawingml/2006/main" cx="4953000" cy="2952750"/>
        </p:xfrm>
        <a:graphic xmlns:a="http://schemas.openxmlformats.org/drawingml/2006/main">
          <a:graphicData uri="http://schemas.openxmlformats.org/drawingml/2006/chart">
            <c:chart xmlns:r="http://schemas.openxmlformats.org/officeDocument/2006/relationships" xmlns:c="http://schemas.openxmlformats.org/drawingml/2006/chart" r:id="Rd774e6b31c48446f"/>
          </a:graphicData>
        </a:graphic>
      </p:graphicFrame>
      <p:sp>
        <p:nvSpPr>
          <p:cNvPr id="11" name="">
            <a:extLst xmlns:a="http://schemas.openxmlformats.org/drawingml/2006/main">
              <a:ext uri="{FF2B5EF4-FFF2-40B4-BE49-F238E27FC236}">
                <a16:creationId xmlns:a16="http://schemas.microsoft.com/office/drawing/2014/main" id="{CCC9282E-F253-46CA-9466-DB6690F3B411}"/>
              </a:ext>
            </a:extLst>
          </p:cNvPr>
          <p:cNvSpPr>
            <a:spLocks xmlns:a="http://schemas.openxmlformats.org/drawingml/2006/main" noGrp="1"/>
          </p:cNvSpPr>
          <p:nvPr/>
        </p:nvSpPr>
        <p:spPr>
          <a:xfrm xmlns:a="http://schemas.openxmlformats.org/drawingml/2006/main">
            <a:off x="800100" y="5810250"/>
            <a:ext cx="9810750" cy="400050"/>
          </a:xfrm>
          <a:prstGeom xmlns:a="http://schemas.openxmlformats.org/drawingml/2006/main" prst="roundRect">
            <a:avLst>
              <a:gd name="adj" fmla="val 23810"/>
            </a:avLst>
          </a:prstGeom>
          <a:solidFill xmlns:a="http://schemas.openxmlformats.org/drawingml/2006/main">
            <a:srgbClr val="0F172A"/>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24A4AD2-CE83-4003-B110-0462ED8A9B5F}"/>
              </a:ext>
            </a:extLst>
          </p:cNvPr>
          <p:cNvSpPr>
            <a:spLocks xmlns:a="http://schemas.openxmlformats.org/drawingml/2006/main" noGrp="1"/>
          </p:cNvSpPr>
          <p:nvPr/>
        </p:nvSpPr>
        <p:spPr>
          <a:xfrm xmlns:a="http://schemas.openxmlformats.org/drawingml/2006/main">
            <a:off x="990600" y="5924550"/>
            <a:ext cx="942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Decision: remove the “missing addiction_level” narrative and treat None as a valid category.</a:t>
            </a:r>
          </a:p>
        </p:txBody>
      </p:sp>
      <p:sp>
        <p:nvSpPr>
          <p:cNvPr id="13" name="">
            <a:extLst xmlns:a="http://schemas.openxmlformats.org/drawingml/2006/main">
              <a:ext uri="{FF2B5EF4-FFF2-40B4-BE49-F238E27FC236}">
                <a16:creationId xmlns:a16="http://schemas.microsoft.com/office/drawing/2014/main" id="{916D31AE-EFB4-4599-8D1A-BD2D62EFCDD8}"/>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4" name="">
            <a:extLst xmlns:a="http://schemas.openxmlformats.org/drawingml/2006/main">
              <a:ext uri="{FF2B5EF4-FFF2-40B4-BE49-F238E27FC236}">
                <a16:creationId xmlns:a16="http://schemas.microsoft.com/office/drawing/2014/main" id="{8774E8C1-9CA8-4740-9E22-8D2A23F7F619}"/>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05</a:t>
            </a:r>
          </a:p>
        </p:txBody>
      </p:sp>
    </p:spTree>
    <p:extLst>
      <p:ext uri="{BB962C8B-B14F-4D97-AF65-F5344CB8AC3E}">
        <p14:creationId xmlns:p14="http://schemas.microsoft.com/office/powerpoint/2010/main" val="21158291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238453-7304-4D22-A975-79E163C675BE}"/>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0CC2B054-A070-4917-A84F-8648628C8852}"/>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Corrected category interpretation</a:t>
            </a:r>
          </a:p>
        </p:txBody>
      </p:sp>
      <p:sp>
        <p:nvSpPr>
          <p:cNvPr id="3" name="">
            <a:extLst xmlns:a="http://schemas.openxmlformats.org/drawingml/2006/main">
              <a:ext uri="{FF2B5EF4-FFF2-40B4-BE49-F238E27FC236}">
                <a16:creationId xmlns:a16="http://schemas.microsoft.com/office/drawing/2014/main" id="{32F37F3C-59AD-4469-9CDD-23538B8EF203}"/>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None, Mild, Moderate, and Severe form a complete ordinal severity field.</a:t>
            </a:r>
          </a:p>
        </p:txBody>
      </p:sp>
      <p:graphicFrame>
        <p:nvGraphicFramePr>
          <p:cNvPr id="16" name=""/>
          <p:cNvGraphicFramePr/>
          <p:nvPr/>
        </p:nvGraphicFramePr>
        <p:xfrm>
          <a:off xmlns:a="http://schemas.openxmlformats.org/drawingml/2006/main" x="723900" y="2133600"/>
          <a:ext xmlns:a="http://schemas.openxmlformats.org/drawingml/2006/main" cx="5334000" cy="2286000"/>
        </p:xfrm>
        <a:graphic xmlns:a="http://schemas.openxmlformats.org/drawingml/2006/main">
          <a:graphicData uri="http://schemas.openxmlformats.org/drawingml/2006/table">
            <a:tbl>
              <a:tblPr firstRow="1" bandRow="1"/>
              <a:tblGrid>
                <a:gridCol w="1778000"/>
                <a:gridCol w="1778000"/>
                <a:gridCol w="1778000"/>
              </a:tblGrid>
              <a:tr h="457200">
                <a:tc>
                  <a:txBody>
                    <a:bodyPr/>
                    <a:lstStyle/>
                    <a:p>
                      <a:r>
                        <a:rPr sz="825" b="1">
                          <a:solidFill>
                            <a:srgbClr val="FFFFFF"/>
                          </a:solidFill>
                        </a:rPr>
                        <a:t>addiction_level</a:t>
                      </a:r>
                    </a:p>
                  </a:txBody>
                  <a:tcPr marL="91440" marR="91440" marT="45720" marB="45720">
                    <a:solidFill>
                      <a:srgbClr val="0F172A"/>
                    </a:solidFill>
                  </a:tcPr>
                </a:tc>
                <a:tc>
                  <a:txBody>
                    <a:bodyPr/>
                    <a:lstStyle/>
                    <a:p>
                      <a:r>
                        <a:rPr sz="825" b="1">
                          <a:solidFill>
                            <a:srgbClr val="FFFFFF"/>
                          </a:solidFill>
                        </a:rPr>
                        <a:t>Count</a:t>
                      </a:r>
                    </a:p>
                  </a:txBody>
                  <a:tcPr marL="91440" marR="91440" marT="45720" marB="45720">
                    <a:solidFill>
                      <a:srgbClr val="0F172A"/>
                    </a:solidFill>
                  </a:tcPr>
                </a:tc>
                <a:tc>
                  <a:txBody>
                    <a:bodyPr/>
                    <a:lstStyle/>
                    <a:p>
                      <a:r>
                        <a:rPr sz="825" b="1">
                          <a:solidFill>
                            <a:srgbClr val="FFFFFF"/>
                          </a:solidFill>
                        </a:rPr>
                        <a:t>Correct interpretation</a:t>
                      </a:r>
                    </a:p>
                  </a:txBody>
                  <a:tcPr marL="91440" marR="91440" marT="45720" marB="45720">
                    <a:solidFill>
                      <a:srgbClr val="0F172A"/>
                    </a:solidFill>
                  </a:tcPr>
                </a:tc>
              </a:tr>
              <a:tr h="457200">
                <a:tc>
                  <a:txBody>
                    <a:bodyPr/>
                    <a:lstStyle/>
                    <a:p>
                      <a:r>
                        <a:rPr sz="825">
                          <a:solidFill>
                            <a:srgbClr val="111827"/>
                          </a:solidFill>
                        </a:rPr>
                        <a:t>None</a:t>
                      </a:r>
                    </a:p>
                  </a:txBody>
                  <a:tcPr marL="91440" marR="91440" marT="45720" marB="45720"/>
                </a:tc>
                <a:tc>
                  <a:txBody>
                    <a:bodyPr/>
                    <a:lstStyle/>
                    <a:p>
                      <a:r>
                        <a:rPr sz="825">
                          <a:solidFill>
                            <a:srgbClr val="111827"/>
                          </a:solidFill>
                        </a:rPr>
                        <a:t>819</a:t>
                      </a:r>
                    </a:p>
                  </a:txBody>
                  <a:tcPr marL="91440" marR="91440" marT="45720" marB="45720"/>
                </a:tc>
                <a:tc>
                  <a:txBody>
                    <a:bodyPr/>
                    <a:lstStyle/>
                    <a:p>
                      <a:r>
                        <a:rPr sz="825">
                          <a:solidFill>
                            <a:srgbClr val="111827"/>
                          </a:solidFill>
                        </a:rPr>
                        <a:t>Real lowest-severity category, not missing</a:t>
                      </a:r>
                    </a:p>
                  </a:txBody>
                  <a:tcPr marL="91440" marR="91440" marT="45720" marB="45720"/>
                </a:tc>
              </a:tr>
              <a:tr h="457200">
                <a:tc>
                  <a:txBody>
                    <a:bodyPr/>
                    <a:lstStyle/>
                    <a:p>
                      <a:r>
                        <a:rPr sz="825">
                          <a:solidFill>
                            <a:srgbClr val="111827"/>
                          </a:solidFill>
                        </a:rPr>
                        <a:t>Mild</a:t>
                      </a:r>
                    </a:p>
                  </a:txBody>
                  <a:tcPr marL="91440" marR="91440" marT="45720" marB="45720"/>
                </a:tc>
                <a:tc>
                  <a:txBody>
                    <a:bodyPr/>
                    <a:lstStyle/>
                    <a:p>
                      <a:r>
                        <a:rPr sz="825">
                          <a:solidFill>
                            <a:srgbClr val="111827"/>
                          </a:solidFill>
                        </a:rPr>
                        <a:t>1,373</a:t>
                      </a:r>
                    </a:p>
                  </a:txBody>
                  <a:tcPr marL="91440" marR="91440" marT="45720" marB="45720"/>
                </a:tc>
                <a:tc>
                  <a:txBody>
                    <a:bodyPr/>
                    <a:lstStyle/>
                    <a:p>
                      <a:r>
                        <a:rPr sz="825">
                          <a:solidFill>
                            <a:srgbClr val="111827"/>
                          </a:solidFill>
                        </a:rPr>
                        <a:t>Real low-severity category</a:t>
                      </a:r>
                    </a:p>
                  </a:txBody>
                  <a:tcPr marL="91440" marR="91440" marT="45720" marB="45720"/>
                </a:tc>
              </a:tr>
              <a:tr h="457200">
                <a:tc>
                  <a:txBody>
                    <a:bodyPr/>
                    <a:lstStyle/>
                    <a:p>
                      <a:r>
                        <a:rPr sz="825">
                          <a:solidFill>
                            <a:srgbClr val="111827"/>
                          </a:solidFill>
                        </a:rPr>
                        <a:t>Moderate</a:t>
                      </a:r>
                    </a:p>
                  </a:txBody>
                  <a:tcPr marL="91440" marR="91440" marT="45720" marB="45720"/>
                </a:tc>
                <a:tc>
                  <a:txBody>
                    <a:bodyPr/>
                    <a:lstStyle/>
                    <a:p>
                      <a:r>
                        <a:rPr sz="825">
                          <a:solidFill>
                            <a:srgbClr val="111827"/>
                          </a:solidFill>
                        </a:rPr>
                        <a:t>2,874</a:t>
                      </a:r>
                    </a:p>
                  </a:txBody>
                  <a:tcPr marL="91440" marR="91440" marT="45720" marB="45720"/>
                </a:tc>
                <a:tc>
                  <a:txBody>
                    <a:bodyPr/>
                    <a:lstStyle/>
                    <a:p>
                      <a:r>
                        <a:rPr sz="825">
                          <a:solidFill>
                            <a:srgbClr val="111827"/>
                          </a:solidFill>
                        </a:rPr>
                        <a:t>Real higher-severity category</a:t>
                      </a:r>
                    </a:p>
                  </a:txBody>
                  <a:tcPr marL="91440" marR="91440" marT="45720" marB="45720"/>
                </a:tc>
              </a:tr>
              <a:tr h="457200">
                <a:tc>
                  <a:txBody>
                    <a:bodyPr/>
                    <a:lstStyle/>
                    <a:p>
                      <a:r>
                        <a:rPr sz="825">
                          <a:solidFill>
                            <a:srgbClr val="111827"/>
                          </a:solidFill>
                        </a:rPr>
                        <a:t>Severe</a:t>
                      </a:r>
                    </a:p>
                  </a:txBody>
                  <a:tcPr marL="91440" marR="91440" marT="45720" marB="45720"/>
                </a:tc>
                <a:tc>
                  <a:txBody>
                    <a:bodyPr/>
                    <a:lstStyle/>
                    <a:p>
                      <a:r>
                        <a:rPr sz="825">
                          <a:solidFill>
                            <a:srgbClr val="111827"/>
                          </a:solidFill>
                        </a:rPr>
                        <a:t>2,434</a:t>
                      </a:r>
                    </a:p>
                  </a:txBody>
                  <a:tcPr marL="91440" marR="91440" marT="45720" marB="45720"/>
                </a:tc>
                <a:tc>
                  <a:txBody>
                    <a:bodyPr/>
                    <a:lstStyle/>
                    <a:p>
                      <a:r>
                        <a:rPr sz="825">
                          <a:solidFill>
                            <a:srgbClr val="111827"/>
                          </a:solidFill>
                        </a:rPr>
                        <a:t>Real highest-severity category</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14757136-580C-4F21-A766-838E01E6B923}"/>
              </a:ext>
            </a:extLst>
          </p:cNvPr>
          <p:cNvSpPr>
            <a:spLocks xmlns:a="http://schemas.openxmlformats.org/drawingml/2006/main" noGrp="1"/>
          </p:cNvSpPr>
          <p:nvPr/>
        </p:nvSpPr>
        <p:spPr>
          <a:xfrm xmlns:a="http://schemas.openxmlformats.org/drawingml/2006/main">
            <a:off x="6762750" y="2238375"/>
            <a:ext cx="3714750" cy="1381125"/>
          </a:xfrm>
          <a:prstGeom xmlns:a="http://schemas.openxmlformats.org/drawingml/2006/main" prst="roundRect">
            <a:avLst>
              <a:gd name="adj" fmla="val 6897"/>
            </a:avLst>
          </a:prstGeom>
          <a:solidFill xmlns:a="http://schemas.openxmlformats.org/drawingml/2006/main">
            <a:srgbClr val="DBEAFE"/>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426EE8D-DEA0-4F3E-A1AF-78C968105FBF}"/>
              </a:ext>
            </a:extLst>
          </p:cNvPr>
          <p:cNvSpPr>
            <a:spLocks xmlns:a="http://schemas.openxmlformats.org/drawingml/2006/main" noGrp="1"/>
          </p:cNvSpPr>
          <p:nvPr/>
        </p:nvSpPr>
        <p:spPr>
          <a:xfrm xmlns:a="http://schemas.openxmlformats.org/drawingml/2006/main">
            <a:off x="6953250" y="240982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Corrected interpretation</a:t>
            </a:r>
          </a:p>
        </p:txBody>
      </p:sp>
      <p:sp>
        <p:nvSpPr>
          <p:cNvPr id="7" name="">
            <a:extLst xmlns:a="http://schemas.openxmlformats.org/drawingml/2006/main">
              <a:ext uri="{FF2B5EF4-FFF2-40B4-BE49-F238E27FC236}">
                <a16:creationId xmlns:a16="http://schemas.microsoft.com/office/drawing/2014/main" id="{09E64408-C652-43BE-A56E-D6D3A78C7E84}"/>
              </a:ext>
            </a:extLst>
          </p:cNvPr>
          <p:cNvSpPr>
            <a:spLocks xmlns:a="http://schemas.openxmlformats.org/drawingml/2006/main" noGrp="1"/>
          </p:cNvSpPr>
          <p:nvPr/>
        </p:nvSpPr>
        <p:spPr>
          <a:xfrm xmlns:a="http://schemas.openxmlformats.org/drawingml/2006/main">
            <a:off x="6953250" y="2790825"/>
            <a:ext cx="3333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819 records belong to the None addiction-level category. Treating None as a real label is necessary because the downstream target analysis depends on the complete four-level severity field.</a:t>
            </a:r>
          </a:p>
        </p:txBody>
      </p:sp>
      <p:sp>
        <p:nvSpPr>
          <p:cNvPr id="8" name="">
            <a:extLst xmlns:a="http://schemas.openxmlformats.org/drawingml/2006/main">
              <a:ext uri="{FF2B5EF4-FFF2-40B4-BE49-F238E27FC236}">
                <a16:creationId xmlns:a16="http://schemas.microsoft.com/office/drawing/2014/main" id="{E08387AE-2FAD-4358-97FD-A22A55E2F678}"/>
              </a:ext>
            </a:extLst>
          </p:cNvPr>
          <p:cNvSpPr>
            <a:spLocks xmlns:a="http://schemas.openxmlformats.org/drawingml/2006/main" noGrp="1"/>
          </p:cNvSpPr>
          <p:nvPr/>
        </p:nvSpPr>
        <p:spPr>
          <a:xfrm xmlns:a="http://schemas.openxmlformats.org/drawingml/2006/main">
            <a:off x="6762750" y="3905250"/>
            <a:ext cx="3714750" cy="142875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9AC6F0D-F506-481D-A552-848F2C163517}"/>
              </a:ext>
            </a:extLst>
          </p:cNvPr>
          <p:cNvSpPr>
            <a:spLocks xmlns:a="http://schemas.openxmlformats.org/drawingml/2006/main" noGrp="1"/>
          </p:cNvSpPr>
          <p:nvPr/>
        </p:nvSpPr>
        <p:spPr>
          <a:xfrm xmlns:a="http://schemas.openxmlformats.org/drawingml/2006/main">
            <a:off x="6953250" y="40767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Impact on the project</a:t>
            </a:r>
          </a:p>
        </p:txBody>
      </p:sp>
      <p:sp>
        <p:nvSpPr>
          <p:cNvPr id="10" name="">
            <a:extLst xmlns:a="http://schemas.openxmlformats.org/drawingml/2006/main">
              <a:ext uri="{FF2B5EF4-FFF2-40B4-BE49-F238E27FC236}">
                <a16:creationId xmlns:a16="http://schemas.microsoft.com/office/drawing/2014/main" id="{F0ECDA66-E69B-4FA5-AA02-31406030EFE4}"/>
              </a:ext>
            </a:extLst>
          </p:cNvPr>
          <p:cNvSpPr>
            <a:spLocks xmlns:a="http://schemas.openxmlformats.org/drawingml/2006/main" noGrp="1"/>
          </p:cNvSpPr>
          <p:nvPr/>
        </p:nvSpPr>
        <p:spPr>
          <a:xfrm xmlns:a="http://schemas.openxmlformats.org/drawingml/2006/main">
            <a:off x="6953250" y="44577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No missing-value imputation is needed for addiction_level. The EDA label “Not recorded” should be removed. The final summary should say the dataset is complete after correct loading.</a:t>
            </a:r>
          </a:p>
        </p:txBody>
      </p:sp>
      <p:sp>
        <p:nvSpPr>
          <p:cNvPr id="11" name="">
            <a:extLst xmlns:a="http://schemas.openxmlformats.org/drawingml/2006/main">
              <a:ext uri="{FF2B5EF4-FFF2-40B4-BE49-F238E27FC236}">
                <a16:creationId xmlns:a16="http://schemas.microsoft.com/office/drawing/2014/main" id="{E972C183-C112-42DF-B4F3-274B1A13B1E4}"/>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2" name="">
            <a:extLst xmlns:a="http://schemas.openxmlformats.org/drawingml/2006/main">
              <a:ext uri="{FF2B5EF4-FFF2-40B4-BE49-F238E27FC236}">
                <a16:creationId xmlns:a16="http://schemas.microsoft.com/office/drawing/2014/main" id="{EF2C65E7-0EBB-4843-8380-3412EF278129}"/>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06</a:t>
            </a:r>
          </a:p>
        </p:txBody>
      </p:sp>
    </p:spTree>
    <p:extLst>
      <p:ext uri="{BB962C8B-B14F-4D97-AF65-F5344CB8AC3E}">
        <p14:creationId xmlns:p14="http://schemas.microsoft.com/office/powerpoint/2010/main" val="1884665815"/>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3DCA10-75C7-4ED2-83AD-8A552F629AB3}"/>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9FEB892F-085D-4DC1-9330-29624EA4A320}"/>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Preprocessing goal</a:t>
            </a:r>
          </a:p>
        </p:txBody>
      </p:sp>
      <p:sp>
        <p:nvSpPr>
          <p:cNvPr id="3" name="">
            <a:extLst xmlns:a="http://schemas.openxmlformats.org/drawingml/2006/main">
              <a:ext uri="{FF2B5EF4-FFF2-40B4-BE49-F238E27FC236}">
                <a16:creationId xmlns:a16="http://schemas.microsoft.com/office/drawing/2014/main" id="{83389087-4707-46FB-A9A6-680D436E2C7A}"/>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goal is not only to prepare X and y, but to protect the model from leakage.</a:t>
            </a:r>
          </a:p>
        </p:txBody>
      </p:sp>
      <p:sp>
        <p:nvSpPr>
          <p:cNvPr id="4" name="">
            <a:extLst xmlns:a="http://schemas.openxmlformats.org/drawingml/2006/main">
              <a:ext uri="{FF2B5EF4-FFF2-40B4-BE49-F238E27FC236}">
                <a16:creationId xmlns:a16="http://schemas.microsoft.com/office/drawing/2014/main" id="{DAAD61D2-DE3F-4A60-878F-12CD9BE2DB60}"/>
              </a:ext>
            </a:extLst>
          </p:cNvPr>
          <p:cNvSpPr>
            <a:spLocks xmlns:a="http://schemas.openxmlformats.org/drawingml/2006/main" noGrp="1"/>
          </p:cNvSpPr>
          <p:nvPr/>
        </p:nvSpPr>
        <p:spPr>
          <a:xfrm xmlns:a="http://schemas.openxmlformats.org/drawingml/2006/main">
            <a:off x="723900" y="2143125"/>
            <a:ext cx="3429000" cy="1428750"/>
          </a:xfrm>
          <a:prstGeom xmlns:a="http://schemas.openxmlformats.org/drawingml/2006/main" prst="roundRect">
            <a:avLst>
              <a:gd name="adj" fmla="val 6667"/>
            </a:avLst>
          </a:prstGeom>
          <a:solidFill xmlns:a="http://schemas.openxmlformats.org/drawingml/2006/main">
            <a:srgbClr val="DBEAFE"/>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E834C8D-763B-4CC5-9A80-DE77B90236D6}"/>
              </a:ext>
            </a:extLst>
          </p:cNvPr>
          <p:cNvSpPr>
            <a:spLocks xmlns:a="http://schemas.openxmlformats.org/drawingml/2006/main" noGrp="1"/>
          </p:cNvSpPr>
          <p:nvPr/>
        </p:nvSpPr>
        <p:spPr>
          <a:xfrm xmlns:a="http://schemas.openxmlformats.org/drawingml/2006/main">
            <a:off x="914400" y="23145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Decision</a:t>
            </a:r>
          </a:p>
        </p:txBody>
      </p:sp>
      <p:sp>
        <p:nvSpPr>
          <p:cNvPr id="6" name="">
            <a:extLst xmlns:a="http://schemas.openxmlformats.org/drawingml/2006/main">
              <a:ext uri="{FF2B5EF4-FFF2-40B4-BE49-F238E27FC236}">
                <a16:creationId xmlns:a16="http://schemas.microsoft.com/office/drawing/2014/main" id="{B14EE9DD-18C3-4F35-97FB-254D3F573075}"/>
              </a:ext>
            </a:extLst>
          </p:cNvPr>
          <p:cNvSpPr>
            <a:spLocks xmlns:a="http://schemas.openxmlformats.org/drawingml/2006/main" noGrp="1"/>
          </p:cNvSpPr>
          <p:nvPr/>
        </p:nvSpPr>
        <p:spPr>
          <a:xfrm xmlns:a="http://schemas.openxmlformats.org/drawingml/2006/main">
            <a:off x="914400" y="2695575"/>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Create a feature matrix using behavioral variables while excluding identifiers, the target itself, target-definition variables, and gender.</a:t>
            </a:r>
          </a:p>
        </p:txBody>
      </p:sp>
      <p:sp>
        <p:nvSpPr>
          <p:cNvPr id="7" name="">
            <a:extLst xmlns:a="http://schemas.openxmlformats.org/drawingml/2006/main">
              <a:ext uri="{FF2B5EF4-FFF2-40B4-BE49-F238E27FC236}">
                <a16:creationId xmlns:a16="http://schemas.microsoft.com/office/drawing/2014/main" id="{081306BB-3F46-4204-B8DB-8BEC4435BD22}"/>
              </a:ext>
            </a:extLst>
          </p:cNvPr>
          <p:cNvSpPr>
            <a:spLocks xmlns:a="http://schemas.openxmlformats.org/drawingml/2006/main" noGrp="1"/>
          </p:cNvSpPr>
          <p:nvPr/>
        </p:nvSpPr>
        <p:spPr>
          <a:xfrm xmlns:a="http://schemas.openxmlformats.org/drawingml/2006/main">
            <a:off x="4438650" y="2143125"/>
            <a:ext cx="3429000" cy="142875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5A5A823-EB98-4C5A-ABCD-1D5D5FEDF816}"/>
              </a:ext>
            </a:extLst>
          </p:cNvPr>
          <p:cNvSpPr>
            <a:spLocks xmlns:a="http://schemas.openxmlformats.org/drawingml/2006/main" noGrp="1"/>
          </p:cNvSpPr>
          <p:nvPr/>
        </p:nvSpPr>
        <p:spPr>
          <a:xfrm xmlns:a="http://schemas.openxmlformats.org/drawingml/2006/main">
            <a:off x="4629150" y="23145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Evidence</a:t>
            </a:r>
          </a:p>
        </p:txBody>
      </p:sp>
      <p:sp>
        <p:nvSpPr>
          <p:cNvPr id="9" name="">
            <a:extLst xmlns:a="http://schemas.openxmlformats.org/drawingml/2006/main">
              <a:ext uri="{FF2B5EF4-FFF2-40B4-BE49-F238E27FC236}">
                <a16:creationId xmlns:a16="http://schemas.microsoft.com/office/drawing/2014/main" id="{0350367B-F17C-447A-BB5C-D97A373E4266}"/>
              </a:ext>
            </a:extLst>
          </p:cNvPr>
          <p:cNvSpPr>
            <a:spLocks xmlns:a="http://schemas.openxmlformats.org/drawingml/2006/main" noGrp="1"/>
          </p:cNvSpPr>
          <p:nvPr/>
        </p:nvSpPr>
        <p:spPr>
          <a:xfrm xmlns:a="http://schemas.openxmlformats.org/drawingml/2006/main">
            <a:off x="4629150" y="2695575"/>
            <a:ext cx="304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transaction_id and user_id are unique identifiers; addicted_label is the target; addiction_level maps directly to the target; gender has very weak association with the target.</a:t>
            </a:r>
          </a:p>
        </p:txBody>
      </p:sp>
      <p:sp>
        <p:nvSpPr>
          <p:cNvPr id="10" name="">
            <a:extLst xmlns:a="http://schemas.openxmlformats.org/drawingml/2006/main">
              <a:ext uri="{FF2B5EF4-FFF2-40B4-BE49-F238E27FC236}">
                <a16:creationId xmlns:a16="http://schemas.microsoft.com/office/drawing/2014/main" id="{C042F8F4-FBAE-4269-8126-268FA8AE6006}"/>
              </a:ext>
            </a:extLst>
          </p:cNvPr>
          <p:cNvSpPr>
            <a:spLocks xmlns:a="http://schemas.openxmlformats.org/drawingml/2006/main" noGrp="1"/>
          </p:cNvSpPr>
          <p:nvPr/>
        </p:nvSpPr>
        <p:spPr>
          <a:xfrm xmlns:a="http://schemas.openxmlformats.org/drawingml/2006/main">
            <a:off x="8153400" y="2143125"/>
            <a:ext cx="3238500" cy="1428750"/>
          </a:xfrm>
          <a:prstGeom xmlns:a="http://schemas.openxmlformats.org/drawingml/2006/main" prst="roundRect">
            <a:avLst>
              <a:gd name="adj" fmla="val 6667"/>
            </a:avLst>
          </a:prstGeom>
          <a:solidFill xmlns:a="http://schemas.openxmlformats.org/drawingml/2006/main">
            <a:srgbClr val="FEF3C7"/>
          </a:solidFill>
          <a:ln xmlns:a="http://schemas.openxmlformats.org/drawingml/2006/main" w="9525">
            <a:solidFill>
              <a:srgbClr val="F59E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9FF83D4-BF34-4C18-904D-27250A543A8A}"/>
              </a:ext>
            </a:extLst>
          </p:cNvPr>
          <p:cNvSpPr>
            <a:spLocks xmlns:a="http://schemas.openxmlformats.org/drawingml/2006/main" noGrp="1"/>
          </p:cNvSpPr>
          <p:nvPr/>
        </p:nvSpPr>
        <p:spPr>
          <a:xfrm xmlns:a="http://schemas.openxmlformats.org/drawingml/2006/main">
            <a:off x="8343900" y="23145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Why it matters</a:t>
            </a:r>
          </a:p>
        </p:txBody>
      </p:sp>
      <p:sp>
        <p:nvSpPr>
          <p:cNvPr id="12" name="">
            <a:extLst xmlns:a="http://schemas.openxmlformats.org/drawingml/2006/main">
              <a:ext uri="{FF2B5EF4-FFF2-40B4-BE49-F238E27FC236}">
                <a16:creationId xmlns:a16="http://schemas.microsoft.com/office/drawing/2014/main" id="{3FB4BDDC-104F-4A94-BE77-36514D45BDAD}"/>
              </a:ext>
            </a:extLst>
          </p:cNvPr>
          <p:cNvSpPr>
            <a:spLocks xmlns:a="http://schemas.openxmlformats.org/drawingml/2006/main" noGrp="1"/>
          </p:cNvSpPr>
          <p:nvPr/>
        </p:nvSpPr>
        <p:spPr>
          <a:xfrm xmlns:a="http://schemas.openxmlformats.org/drawingml/2006/main">
            <a:off x="8343900" y="2695575"/>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A model that uses answer-like fields would look accurate for the wrong reason. The feature matrix should test whether non-leaking behavior variables can reconstruct the label.</a:t>
            </a:r>
          </a:p>
        </p:txBody>
      </p:sp>
      <p:graphicFrame>
        <p:nvGraphicFramePr>
          <p:cNvPr id="28" name=""/>
          <p:cNvGraphicFramePr/>
          <p:nvPr/>
        </p:nvGraphicFramePr>
        <p:xfrm>
          <a:off xmlns:a="http://schemas.openxmlformats.org/drawingml/2006/main" x="1238250" y="4095750"/>
          <a:ext xmlns:a="http://schemas.openxmlformats.org/drawingml/2006/main" cx="9144000" cy="1619250"/>
        </p:xfrm>
        <a:graphic xmlns:a="http://schemas.openxmlformats.org/drawingml/2006/main">
          <a:graphicData uri="http://schemas.openxmlformats.org/drawingml/2006/table">
            <a:tbl>
              <a:tblPr firstRow="1" bandRow="1"/>
              <a:tblGrid>
                <a:gridCol w="3048000"/>
                <a:gridCol w="3048000"/>
                <a:gridCol w="3048000"/>
              </a:tblGrid>
              <a:tr h="269875">
                <a:tc>
                  <a:txBody>
                    <a:bodyPr/>
                    <a:lstStyle/>
                    <a:p>
                      <a:r>
                        <a:rPr sz="825" b="1">
                          <a:solidFill>
                            <a:srgbClr val="FFFFFF"/>
                          </a:solidFill>
                        </a:rPr>
                        <a:t>Column group</a:t>
                      </a:r>
                    </a:p>
                  </a:txBody>
                  <a:tcPr marL="91440" marR="91440" marT="45720" marB="45720">
                    <a:solidFill>
                      <a:srgbClr val="0F172A"/>
                    </a:solidFill>
                  </a:tcPr>
                </a:tc>
                <a:tc>
                  <a:txBody>
                    <a:bodyPr/>
                    <a:lstStyle/>
                    <a:p>
                      <a:r>
                        <a:rPr sz="825" b="1">
                          <a:solidFill>
                            <a:srgbClr val="FFFFFF"/>
                          </a:solidFill>
                        </a:rPr>
                        <a:t>Use in model?</a:t>
                      </a:r>
                    </a:p>
                  </a:txBody>
                  <a:tcPr marL="91440" marR="91440" marT="45720" marB="45720">
                    <a:solidFill>
                      <a:srgbClr val="0F172A"/>
                    </a:solidFill>
                  </a:tcPr>
                </a:tc>
                <a:tc>
                  <a:txBody>
                    <a:bodyPr/>
                    <a:lstStyle/>
                    <a:p>
                      <a:r>
                        <a:rPr sz="825" b="1">
                          <a:solidFill>
                            <a:srgbClr val="FFFFFF"/>
                          </a:solidFill>
                        </a:rPr>
                        <a:t>Reason</a:t>
                      </a:r>
                    </a:p>
                  </a:txBody>
                  <a:tcPr marL="91440" marR="91440" marT="45720" marB="45720">
                    <a:solidFill>
                      <a:srgbClr val="0F172A"/>
                    </a:solidFill>
                  </a:tcPr>
                </a:tc>
              </a:tr>
              <a:tr h="269875">
                <a:tc>
                  <a:txBody>
                    <a:bodyPr/>
                    <a:lstStyle/>
                    <a:p>
                      <a:r>
                        <a:rPr sz="825">
                          <a:solidFill>
                            <a:srgbClr val="111827"/>
                          </a:solidFill>
                        </a:rPr>
                        <a:t>transaction_id, user_id</a:t>
                      </a:r>
                    </a:p>
                  </a:txBody>
                  <a:tcPr marL="91440" marR="91440" marT="45720" marB="45720"/>
                </a:tc>
                <a:tc>
                  <a:txBody>
                    <a:bodyPr/>
                    <a:lstStyle/>
                    <a:p>
                      <a:r>
                        <a:rPr sz="825">
                          <a:solidFill>
                            <a:srgbClr val="111827"/>
                          </a:solidFill>
                        </a:rPr>
                        <a:t>No</a:t>
                      </a:r>
                    </a:p>
                  </a:txBody>
                  <a:tcPr marL="91440" marR="91440" marT="45720" marB="45720"/>
                </a:tc>
                <a:tc>
                  <a:txBody>
                    <a:bodyPr/>
                    <a:lstStyle/>
                    <a:p>
                      <a:r>
                        <a:rPr sz="825">
                          <a:solidFill>
                            <a:srgbClr val="111827"/>
                          </a:solidFill>
                        </a:rPr>
                        <a:t>Identifiers</a:t>
                      </a:r>
                    </a:p>
                  </a:txBody>
                  <a:tcPr marL="91440" marR="91440" marT="45720" marB="45720"/>
                </a:tc>
              </a:tr>
              <a:tr h="269875">
                <a:tc>
                  <a:txBody>
                    <a:bodyPr/>
                    <a:lstStyle/>
                    <a:p>
                      <a:r>
                        <a:rPr sz="825">
                          <a:solidFill>
                            <a:srgbClr val="111827"/>
                          </a:solidFill>
                        </a:rPr>
                        <a:t>addicted_label</a:t>
                      </a:r>
                    </a:p>
                  </a:txBody>
                  <a:tcPr marL="91440" marR="91440" marT="45720" marB="45720"/>
                </a:tc>
                <a:tc>
                  <a:txBody>
                    <a:bodyPr/>
                    <a:lstStyle/>
                    <a:p>
                      <a:r>
                        <a:rPr sz="825">
                          <a:solidFill>
                            <a:srgbClr val="111827"/>
                          </a:solidFill>
                        </a:rPr>
                        <a:t>No</a:t>
                      </a:r>
                    </a:p>
                  </a:txBody>
                  <a:tcPr marL="91440" marR="91440" marT="45720" marB="45720"/>
                </a:tc>
                <a:tc>
                  <a:txBody>
                    <a:bodyPr/>
                    <a:lstStyle/>
                    <a:p>
                      <a:r>
                        <a:rPr sz="825">
                          <a:solidFill>
                            <a:srgbClr val="111827"/>
                          </a:solidFill>
                        </a:rPr>
                        <a:t>Target</a:t>
                      </a:r>
                    </a:p>
                  </a:txBody>
                  <a:tcPr marL="91440" marR="91440" marT="45720" marB="45720"/>
                </a:tc>
              </a:tr>
              <a:tr h="269875">
                <a:tc>
                  <a:txBody>
                    <a:bodyPr/>
                    <a:lstStyle/>
                    <a:p>
                      <a:r>
                        <a:rPr sz="825">
                          <a:solidFill>
                            <a:srgbClr val="111827"/>
                          </a:solidFill>
                        </a:rPr>
                        <a:t>addiction_level</a:t>
                      </a:r>
                    </a:p>
                  </a:txBody>
                  <a:tcPr marL="91440" marR="91440" marT="45720" marB="45720"/>
                </a:tc>
                <a:tc>
                  <a:txBody>
                    <a:bodyPr/>
                    <a:lstStyle/>
                    <a:p>
                      <a:r>
                        <a:rPr sz="825">
                          <a:solidFill>
                            <a:srgbClr val="111827"/>
                          </a:solidFill>
                        </a:rPr>
                        <a:t>No</a:t>
                      </a:r>
                    </a:p>
                  </a:txBody>
                  <a:tcPr marL="91440" marR="91440" marT="45720" marB="45720"/>
                </a:tc>
                <a:tc>
                  <a:txBody>
                    <a:bodyPr/>
                    <a:lstStyle/>
                    <a:p>
                      <a:r>
                        <a:rPr sz="825">
                          <a:solidFill>
                            <a:srgbClr val="111827"/>
                          </a:solidFill>
                        </a:rPr>
                        <a:t>Target definition</a:t>
                      </a:r>
                    </a:p>
                  </a:txBody>
                  <a:tcPr marL="91440" marR="91440" marT="45720" marB="45720"/>
                </a:tc>
              </a:tr>
              <a:tr h="269875">
                <a:tc>
                  <a:txBody>
                    <a:bodyPr/>
                    <a:lstStyle/>
                    <a:p>
                      <a:r>
                        <a:rPr sz="825">
                          <a:solidFill>
                            <a:srgbClr val="111827"/>
                          </a:solidFill>
                        </a:rPr>
                        <a:t>gender</a:t>
                      </a:r>
                    </a:p>
                  </a:txBody>
                  <a:tcPr marL="91440" marR="91440" marT="45720" marB="45720"/>
                </a:tc>
                <a:tc>
                  <a:txBody>
                    <a:bodyPr/>
                    <a:lstStyle/>
                    <a:p>
                      <a:r>
                        <a:rPr sz="825">
                          <a:solidFill>
                            <a:srgbClr val="111827"/>
                          </a:solidFill>
                        </a:rPr>
                        <a:t>No</a:t>
                      </a:r>
                    </a:p>
                  </a:txBody>
                  <a:tcPr marL="91440" marR="91440" marT="45720" marB="45720"/>
                </a:tc>
                <a:tc>
                  <a:txBody>
                    <a:bodyPr/>
                    <a:lstStyle/>
                    <a:p>
                      <a:r>
                        <a:rPr sz="825">
                          <a:solidFill>
                            <a:srgbClr val="111827"/>
                          </a:solidFill>
                        </a:rPr>
                        <a:t>Weak association / demographic</a:t>
                      </a:r>
                    </a:p>
                  </a:txBody>
                  <a:tcPr marL="91440" marR="91440" marT="45720" marB="45720"/>
                </a:tc>
              </a:tr>
              <a:tr h="269875">
                <a:tc>
                  <a:txBody>
                    <a:bodyPr/>
                    <a:lstStyle/>
                    <a:p>
                      <a:r>
                        <a:rPr sz="825">
                          <a:solidFill>
                            <a:srgbClr val="111827"/>
                          </a:solidFill>
                        </a:rPr>
                        <a:t>behavior variables</a:t>
                      </a:r>
                    </a:p>
                  </a:txBody>
                  <a:tcPr marL="91440" marR="91440" marT="45720" marB="45720"/>
                </a:tc>
                <a:tc>
                  <a:txBody>
                    <a:bodyPr/>
                    <a:lstStyle/>
                    <a:p>
                      <a:r>
                        <a:rPr sz="825">
                          <a:solidFill>
                            <a:srgbClr val="111827"/>
                          </a:solidFill>
                        </a:rPr>
                        <a:t>Yes</a:t>
                      </a:r>
                    </a:p>
                  </a:txBody>
                  <a:tcPr marL="91440" marR="91440" marT="45720" marB="45720"/>
                </a:tc>
                <a:tc>
                  <a:txBody>
                    <a:bodyPr/>
                    <a:lstStyle/>
                    <a:p>
                      <a:r>
                        <a:rPr sz="825">
                          <a:solidFill>
                            <a:srgbClr val="111827"/>
                          </a:solidFill>
                        </a:rPr>
                        <a:t>Non-leaking predictors</a:t>
                      </a:r>
                    </a:p>
                  </a:txBody>
                  <a:tcPr marL="91440" marR="91440" marT="45720" marB="45720"/>
                </a:tc>
              </a:tr>
            </a:tbl>
          </a:graphicData>
        </a:graphic>
      </p:graphicFrame>
      <p:sp>
        <p:nvSpPr>
          <p:cNvPr id="14" name="">
            <a:extLst xmlns:a="http://schemas.openxmlformats.org/drawingml/2006/main">
              <a:ext uri="{FF2B5EF4-FFF2-40B4-BE49-F238E27FC236}">
                <a16:creationId xmlns:a16="http://schemas.microsoft.com/office/drawing/2014/main" id="{F48C4E30-50EB-42B1-86F4-B4ABC471CC2D}"/>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5" name="">
            <a:extLst xmlns:a="http://schemas.openxmlformats.org/drawingml/2006/main">
              <a:ext uri="{FF2B5EF4-FFF2-40B4-BE49-F238E27FC236}">
                <a16:creationId xmlns:a16="http://schemas.microsoft.com/office/drawing/2014/main" id="{6E08F76E-4518-4EE5-91E8-7CC866511476}"/>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07</a:t>
            </a:r>
          </a:p>
        </p:txBody>
      </p:sp>
    </p:spTree>
    <p:extLst>
      <p:ext uri="{BB962C8B-B14F-4D97-AF65-F5344CB8AC3E}">
        <p14:creationId xmlns:p14="http://schemas.microsoft.com/office/powerpoint/2010/main" val="20245698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689F11-3D01-44D9-B22C-9EC2EDC92556}"/>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8991D1D5-C86A-4B7B-B2A0-64EB14323670}"/>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addiction_level defines the target</a:t>
            </a:r>
          </a:p>
        </p:txBody>
      </p:sp>
      <p:sp>
        <p:nvSpPr>
          <p:cNvPr id="3" name="">
            <a:extLst xmlns:a="http://schemas.openxmlformats.org/drawingml/2006/main">
              <a:ext uri="{FF2B5EF4-FFF2-40B4-BE49-F238E27FC236}">
                <a16:creationId xmlns:a16="http://schemas.microsoft.com/office/drawing/2014/main" id="{134AB0E6-0E70-4535-BCC4-2A923B2DC529}"/>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This is why it must be excluded from the model.</a:t>
            </a:r>
          </a:p>
        </p:txBody>
      </p:sp>
      <p:graphicFrame>
        <p:nvGraphicFramePr>
          <p:cNvPr id="18" name=""/>
          <p:cNvGraphicFramePr/>
          <p:nvPr/>
        </p:nvGraphicFramePr>
        <p:xfrm>
          <a:off xmlns:a="http://schemas.openxmlformats.org/drawingml/2006/main" x="723900" y="2076450"/>
          <a:ext xmlns:a="http://schemas.openxmlformats.org/drawingml/2006/main" cx="6096000" cy="2476500"/>
        </p:xfrm>
        <a:graphic xmlns:a="http://schemas.openxmlformats.org/drawingml/2006/main">
          <a:graphicData uri="http://schemas.openxmlformats.org/drawingml/2006/table">
            <a:tbl>
              <a:tblPr firstRow="1" bandRow="1"/>
              <a:tblGrid>
                <a:gridCol w="1524000"/>
                <a:gridCol w="1524000"/>
                <a:gridCol w="1524000"/>
                <a:gridCol w="1524000"/>
              </a:tblGrid>
              <a:tr h="495300">
                <a:tc>
                  <a:txBody>
                    <a:bodyPr/>
                    <a:lstStyle/>
                    <a:p>
                      <a:r>
                        <a:rPr sz="825" b="1">
                          <a:solidFill>
                            <a:srgbClr val="FFFFFF"/>
                          </a:solidFill>
                        </a:rPr>
                        <a:t>addiction_level</a:t>
                      </a:r>
                    </a:p>
                  </a:txBody>
                  <a:tcPr marL="91440" marR="91440" marT="45720" marB="45720">
                    <a:solidFill>
                      <a:srgbClr val="0F172A"/>
                    </a:solidFill>
                  </a:tcPr>
                </a:tc>
                <a:tc>
                  <a:txBody>
                    <a:bodyPr/>
                    <a:lstStyle/>
                    <a:p>
                      <a:r>
                        <a:rPr sz="825" b="1">
                          <a:solidFill>
                            <a:srgbClr val="FFFFFF"/>
                          </a:solidFill>
                        </a:rPr>
                        <a:t>Label 0</a:t>
                      </a:r>
                    </a:p>
                  </a:txBody>
                  <a:tcPr marL="91440" marR="91440" marT="45720" marB="45720">
                    <a:solidFill>
                      <a:srgbClr val="0F172A"/>
                    </a:solidFill>
                  </a:tcPr>
                </a:tc>
                <a:tc>
                  <a:txBody>
                    <a:bodyPr/>
                    <a:lstStyle/>
                    <a:p>
                      <a:r>
                        <a:rPr sz="825" b="1">
                          <a:solidFill>
                            <a:srgbClr val="FFFFFF"/>
                          </a:solidFill>
                        </a:rPr>
                        <a:t>Label 1</a:t>
                      </a:r>
                    </a:p>
                  </a:txBody>
                  <a:tcPr marL="91440" marR="91440" marT="45720" marB="45720">
                    <a:solidFill>
                      <a:srgbClr val="0F172A"/>
                    </a:solidFill>
                  </a:tcPr>
                </a:tc>
                <a:tc>
                  <a:txBody>
                    <a:bodyPr/>
                    <a:lstStyle/>
                    <a:p>
                      <a:r>
                        <a:rPr sz="825" b="1">
                          <a:solidFill>
                            <a:srgbClr val="FFFFFF"/>
                          </a:solidFill>
                        </a:rPr>
                        <a:t>Meaning</a:t>
                      </a:r>
                    </a:p>
                  </a:txBody>
                  <a:tcPr marL="91440" marR="91440" marT="45720" marB="45720">
                    <a:solidFill>
                      <a:srgbClr val="0F172A"/>
                    </a:solidFill>
                  </a:tcPr>
                </a:tc>
              </a:tr>
              <a:tr h="495300">
                <a:tc>
                  <a:txBody>
                    <a:bodyPr/>
                    <a:lstStyle/>
                    <a:p>
                      <a:r>
                        <a:rPr sz="825">
                          <a:solidFill>
                            <a:srgbClr val="111827"/>
                          </a:solidFill>
                        </a:rPr>
                        <a:t>None</a:t>
                      </a:r>
                    </a:p>
                  </a:txBody>
                  <a:tcPr marL="91440" marR="91440" marT="45720" marB="45720"/>
                </a:tc>
                <a:tc>
                  <a:txBody>
                    <a:bodyPr/>
                    <a:lstStyle/>
                    <a:p>
                      <a:r>
                        <a:rPr sz="825">
                          <a:solidFill>
                            <a:srgbClr val="111827"/>
                          </a:solidFill>
                        </a:rPr>
                        <a:t>819</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Always non-addicted label</a:t>
                      </a:r>
                    </a:p>
                  </a:txBody>
                  <a:tcPr marL="91440" marR="91440" marT="45720" marB="45720"/>
                </a:tc>
              </a:tr>
              <a:tr h="495300">
                <a:tc>
                  <a:txBody>
                    <a:bodyPr/>
                    <a:lstStyle/>
                    <a:p>
                      <a:r>
                        <a:rPr sz="825">
                          <a:solidFill>
                            <a:srgbClr val="111827"/>
                          </a:solidFill>
                        </a:rPr>
                        <a:t>Mild</a:t>
                      </a:r>
                    </a:p>
                  </a:txBody>
                  <a:tcPr marL="91440" marR="91440" marT="45720" marB="45720"/>
                </a:tc>
                <a:tc>
                  <a:txBody>
                    <a:bodyPr/>
                    <a:lstStyle/>
                    <a:p>
                      <a:r>
                        <a:rPr sz="825">
                          <a:solidFill>
                            <a:srgbClr val="111827"/>
                          </a:solidFill>
                        </a:rPr>
                        <a:t>1,373</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Always non-addicted label</a:t>
                      </a:r>
                    </a:p>
                  </a:txBody>
                  <a:tcPr marL="91440" marR="91440" marT="45720" marB="45720"/>
                </a:tc>
              </a:tr>
              <a:tr h="495300">
                <a:tc>
                  <a:txBody>
                    <a:bodyPr/>
                    <a:lstStyle/>
                    <a:p>
                      <a:r>
                        <a:rPr sz="825">
                          <a:solidFill>
                            <a:srgbClr val="111827"/>
                          </a:solidFill>
                        </a:rPr>
                        <a:t>Moderate</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2,874</a:t>
                      </a:r>
                    </a:p>
                  </a:txBody>
                  <a:tcPr marL="91440" marR="91440" marT="45720" marB="45720"/>
                </a:tc>
                <a:tc>
                  <a:txBody>
                    <a:bodyPr/>
                    <a:lstStyle/>
                    <a:p>
                      <a:r>
                        <a:rPr sz="825">
                          <a:solidFill>
                            <a:srgbClr val="111827"/>
                          </a:solidFill>
                        </a:rPr>
                        <a:t>Always addicted label</a:t>
                      </a:r>
                    </a:p>
                  </a:txBody>
                  <a:tcPr marL="91440" marR="91440" marT="45720" marB="45720"/>
                </a:tc>
              </a:tr>
              <a:tr h="495300">
                <a:tc>
                  <a:txBody>
                    <a:bodyPr/>
                    <a:lstStyle/>
                    <a:p>
                      <a:r>
                        <a:rPr sz="825">
                          <a:solidFill>
                            <a:srgbClr val="111827"/>
                          </a:solidFill>
                        </a:rPr>
                        <a:t>Severe</a:t>
                      </a:r>
                    </a:p>
                  </a:txBody>
                  <a:tcPr marL="91440" marR="91440" marT="45720" marB="45720"/>
                </a:tc>
                <a:tc>
                  <a:txBody>
                    <a:bodyPr/>
                    <a:lstStyle/>
                    <a:p>
                      <a:r>
                        <a:rPr sz="825">
                          <a:solidFill>
                            <a:srgbClr val="111827"/>
                          </a:solidFill>
                        </a:rPr>
                        <a:t>0</a:t>
                      </a:r>
                    </a:p>
                  </a:txBody>
                  <a:tcPr marL="91440" marR="91440" marT="45720" marB="45720"/>
                </a:tc>
                <a:tc>
                  <a:txBody>
                    <a:bodyPr/>
                    <a:lstStyle/>
                    <a:p>
                      <a:r>
                        <a:rPr sz="825">
                          <a:solidFill>
                            <a:srgbClr val="111827"/>
                          </a:solidFill>
                        </a:rPr>
                        <a:t>2,434</a:t>
                      </a:r>
                    </a:p>
                  </a:txBody>
                  <a:tcPr marL="91440" marR="91440" marT="45720" marB="45720"/>
                </a:tc>
                <a:tc>
                  <a:txBody>
                    <a:bodyPr/>
                    <a:lstStyle/>
                    <a:p>
                      <a:r>
                        <a:rPr sz="825">
                          <a:solidFill>
                            <a:srgbClr val="111827"/>
                          </a:solidFill>
                        </a:rPr>
                        <a:t>Always addicted label</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7E973F8F-CAEB-4E49-8E52-5091F057AAFC}"/>
              </a:ext>
            </a:extLst>
          </p:cNvPr>
          <p:cNvSpPr>
            <a:spLocks xmlns:a="http://schemas.openxmlformats.org/drawingml/2006/main" noGrp="1"/>
          </p:cNvSpPr>
          <p:nvPr/>
        </p:nvSpPr>
        <p:spPr>
          <a:xfrm xmlns:a="http://schemas.openxmlformats.org/drawingml/2006/main">
            <a:off x="7286625" y="2209800"/>
            <a:ext cx="3333750" cy="1143000"/>
          </a:xfrm>
          <a:prstGeom xmlns:a="http://schemas.openxmlformats.org/drawingml/2006/main" prst="roundRect">
            <a:avLst>
              <a:gd name="adj" fmla="val 8333"/>
            </a:avLst>
          </a:prstGeom>
          <a:solidFill xmlns:a="http://schemas.openxmlformats.org/drawingml/2006/main">
            <a:srgbClr val="FEE2E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F288D77-95D5-4573-BA9C-C1396B11A7BA}"/>
              </a:ext>
            </a:extLst>
          </p:cNvPr>
          <p:cNvSpPr>
            <a:spLocks xmlns:a="http://schemas.openxmlformats.org/drawingml/2006/main" noGrp="1"/>
          </p:cNvSpPr>
          <p:nvPr/>
        </p:nvSpPr>
        <p:spPr>
          <a:xfrm xmlns:a="http://schemas.openxmlformats.org/drawingml/2006/main">
            <a:off x="7477125" y="23812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2626"/>
                </a:solidFill>
              </a:defRPr>
            </a:pPr>
            <a:r>
              <a:rPr sz="1650" b="1">
                <a:solidFill>
                  <a:srgbClr val="DC2626"/>
                </a:solidFill>
              </a:rPr>
              <a:t>Interpretation</a:t>
            </a:r>
          </a:p>
        </p:txBody>
      </p:sp>
      <p:sp>
        <p:nvSpPr>
          <p:cNvPr id="7" name="">
            <a:extLst xmlns:a="http://schemas.openxmlformats.org/drawingml/2006/main">
              <a:ext uri="{FF2B5EF4-FFF2-40B4-BE49-F238E27FC236}">
                <a16:creationId xmlns:a16="http://schemas.microsoft.com/office/drawing/2014/main" id="{B1B22560-9841-4D13-BAB1-9C3559E2DA60}"/>
              </a:ext>
            </a:extLst>
          </p:cNvPr>
          <p:cNvSpPr>
            <a:spLocks xmlns:a="http://schemas.openxmlformats.org/drawingml/2006/main" noGrp="1"/>
          </p:cNvSpPr>
          <p:nvPr/>
        </p:nvSpPr>
        <p:spPr>
          <a:xfrm xmlns:a="http://schemas.openxmlformats.org/drawingml/2006/main">
            <a:off x="7477125" y="2762250"/>
            <a:ext cx="295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binary target is not independent from addiction_level. It is a deterministic binarization: None and Mild become 0, while Moderate and Severe become 1.</a:t>
            </a:r>
          </a:p>
        </p:txBody>
      </p:sp>
      <p:sp>
        <p:nvSpPr>
          <p:cNvPr id="8" name="">
            <a:extLst xmlns:a="http://schemas.openxmlformats.org/drawingml/2006/main">
              <a:ext uri="{FF2B5EF4-FFF2-40B4-BE49-F238E27FC236}">
                <a16:creationId xmlns:a16="http://schemas.microsoft.com/office/drawing/2014/main" id="{E3655A29-CDF3-4ED8-93B0-6C29FA453AF8}"/>
              </a:ext>
            </a:extLst>
          </p:cNvPr>
          <p:cNvSpPr>
            <a:spLocks xmlns:a="http://schemas.openxmlformats.org/drawingml/2006/main" noGrp="1"/>
          </p:cNvSpPr>
          <p:nvPr/>
        </p:nvSpPr>
        <p:spPr>
          <a:xfrm xmlns:a="http://schemas.openxmlformats.org/drawingml/2006/main">
            <a:off x="7286625" y="3638550"/>
            <a:ext cx="3333750" cy="13335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E6ACE88-B2F1-45E4-8369-65B9AD4CECAD}"/>
              </a:ext>
            </a:extLst>
          </p:cNvPr>
          <p:cNvSpPr>
            <a:spLocks xmlns:a="http://schemas.openxmlformats.org/drawingml/2006/main" noGrp="1"/>
          </p:cNvSpPr>
          <p:nvPr/>
        </p:nvSpPr>
        <p:spPr>
          <a:xfrm xmlns:a="http://schemas.openxmlformats.org/drawingml/2006/main">
            <a:off x="7477125" y="38100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Decision impact</a:t>
            </a:r>
          </a:p>
        </p:txBody>
      </p:sp>
      <p:sp>
        <p:nvSpPr>
          <p:cNvPr id="10" name="">
            <a:extLst xmlns:a="http://schemas.openxmlformats.org/drawingml/2006/main">
              <a:ext uri="{FF2B5EF4-FFF2-40B4-BE49-F238E27FC236}">
                <a16:creationId xmlns:a16="http://schemas.microsoft.com/office/drawing/2014/main" id="{F9B32455-E343-46C8-B8EF-988CBA27A51F}"/>
              </a:ext>
            </a:extLst>
          </p:cNvPr>
          <p:cNvSpPr>
            <a:spLocks xmlns:a="http://schemas.openxmlformats.org/drawingml/2006/main" noGrp="1"/>
          </p:cNvSpPr>
          <p:nvPr/>
        </p:nvSpPr>
        <p:spPr>
          <a:xfrm xmlns:a="http://schemas.openxmlformats.org/drawingml/2006/main">
            <a:off x="7477125" y="41910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Including addiction_level would leak the answer into the model and make performance look unrealistically strong. It is kept only for descriptive checking, not prediction.</a:t>
            </a:r>
          </a:p>
        </p:txBody>
      </p:sp>
      <p:sp>
        <p:nvSpPr>
          <p:cNvPr id="11" name="">
            <a:extLst xmlns:a="http://schemas.openxmlformats.org/drawingml/2006/main">
              <a:ext uri="{FF2B5EF4-FFF2-40B4-BE49-F238E27FC236}">
                <a16:creationId xmlns:a16="http://schemas.microsoft.com/office/drawing/2014/main" id="{BC05C5AB-B590-4B8E-B5A5-895321E17C75}"/>
              </a:ext>
            </a:extLst>
          </p:cNvPr>
          <p:cNvSpPr>
            <a:spLocks xmlns:a="http://schemas.openxmlformats.org/drawingml/2006/main" noGrp="1"/>
          </p:cNvSpPr>
          <p:nvPr/>
        </p:nvSpPr>
        <p:spPr>
          <a:xfrm xmlns:a="http://schemas.openxmlformats.org/drawingml/2006/main">
            <a:off x="800100" y="5810250"/>
            <a:ext cx="9810750" cy="400050"/>
          </a:xfrm>
          <a:prstGeom xmlns:a="http://schemas.openxmlformats.org/drawingml/2006/main" prst="roundRect">
            <a:avLst>
              <a:gd name="adj" fmla="val 23810"/>
            </a:avLst>
          </a:prstGeom>
          <a:solidFill xmlns:a="http://schemas.openxmlformats.org/drawingml/2006/main">
            <a:srgbClr val="0F172A"/>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539AA04F-44E2-41D2-B18F-ACD07736BECA}"/>
              </a:ext>
            </a:extLst>
          </p:cNvPr>
          <p:cNvSpPr>
            <a:spLocks xmlns:a="http://schemas.openxmlformats.org/drawingml/2006/main" noGrp="1"/>
          </p:cNvSpPr>
          <p:nvPr/>
        </p:nvSpPr>
        <p:spPr>
          <a:xfrm xmlns:a="http://schemas.openxmlformats.org/drawingml/2006/main">
            <a:off x="990600" y="5924550"/>
            <a:ext cx="942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Decision: exclude addiction_level and addiction_level_display from X.</a:t>
            </a:r>
          </a:p>
        </p:txBody>
      </p:sp>
      <p:sp>
        <p:nvSpPr>
          <p:cNvPr id="13" name="">
            <a:extLst xmlns:a="http://schemas.openxmlformats.org/drawingml/2006/main">
              <a:ext uri="{FF2B5EF4-FFF2-40B4-BE49-F238E27FC236}">
                <a16:creationId xmlns:a16="http://schemas.microsoft.com/office/drawing/2014/main" id="{F2AEAF5D-16FA-4B41-AC61-258BE8CF43F3}"/>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4" name="">
            <a:extLst xmlns:a="http://schemas.openxmlformats.org/drawingml/2006/main">
              <a:ext uri="{FF2B5EF4-FFF2-40B4-BE49-F238E27FC236}">
                <a16:creationId xmlns:a16="http://schemas.microsoft.com/office/drawing/2014/main" id="{0B699FAA-A0C3-4594-A53D-2783A449A737}"/>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08</a:t>
            </a:r>
          </a:p>
        </p:txBody>
      </p:sp>
    </p:spTree>
    <p:extLst>
      <p:ext uri="{BB962C8B-B14F-4D97-AF65-F5344CB8AC3E}">
        <p14:creationId xmlns:p14="http://schemas.microsoft.com/office/powerpoint/2010/main" val="1551154600"/>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9D1036-6D80-479E-911F-696E1B7B9534}"/>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28540733-A1B8-4E07-8F47-CD9803AA3E73}"/>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Gender decision</a:t>
            </a:r>
          </a:p>
        </p:txBody>
      </p:sp>
      <p:sp>
        <p:nvSpPr>
          <p:cNvPr id="3" name="">
            <a:extLst xmlns:a="http://schemas.openxmlformats.org/drawingml/2006/main">
              <a:ext uri="{FF2B5EF4-FFF2-40B4-BE49-F238E27FC236}">
                <a16:creationId xmlns:a16="http://schemas.microsoft.com/office/drawing/2014/main" id="{1528D9D1-7801-4F4F-A3AF-13D310637DF6}"/>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Gender was tested, retained for EDA, and excluded from prediction.</a:t>
            </a:r>
          </a:p>
        </p:txBody>
      </p:sp>
      <p:graphicFrame>
        <p:nvGraphicFramePr>
          <p:cNvPr id="19" name="Chart"/>
          <p:cNvGraphicFramePr/>
          <p:nvPr/>
        </p:nvGraphicFramePr>
        <p:xfrm>
          <a:off xmlns:a="http://schemas.openxmlformats.org/drawingml/2006/main" x="904875" y="2190750"/>
          <a:ext xmlns:a="http://schemas.openxmlformats.org/drawingml/2006/main" cx="5429250" cy="3000375"/>
        </p:xfrm>
        <a:graphic xmlns:a="http://schemas.openxmlformats.org/drawingml/2006/main">
          <a:graphicData uri="http://schemas.openxmlformats.org/drawingml/2006/chart">
            <c:chart xmlns:r="http://schemas.openxmlformats.org/officeDocument/2006/relationships" xmlns:c="http://schemas.openxmlformats.org/drawingml/2006/chart" r:id="Re02fe21f72de43a5"/>
          </a:graphicData>
        </a:graphic>
      </p:graphicFrame>
      <p:sp>
        <p:nvSpPr>
          <p:cNvPr id="5" name="">
            <a:extLst xmlns:a="http://schemas.openxmlformats.org/drawingml/2006/main">
              <a:ext uri="{FF2B5EF4-FFF2-40B4-BE49-F238E27FC236}">
                <a16:creationId xmlns:a16="http://schemas.microsoft.com/office/drawing/2014/main" id="{67E61407-826C-4870-AF9B-C29CFB636D30}"/>
              </a:ext>
            </a:extLst>
          </p:cNvPr>
          <p:cNvSpPr>
            <a:spLocks xmlns:a="http://schemas.openxmlformats.org/drawingml/2006/main" noGrp="1"/>
          </p:cNvSpPr>
          <p:nvPr/>
        </p:nvSpPr>
        <p:spPr>
          <a:xfrm xmlns:a="http://schemas.openxmlformats.org/drawingml/2006/main">
            <a:off x="7048500" y="2362200"/>
            <a:ext cx="28575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889C729-1E00-418E-8A3B-18FF6FC0D574}"/>
              </a:ext>
            </a:extLst>
          </p:cNvPr>
          <p:cNvSpPr>
            <a:spLocks xmlns:a="http://schemas.openxmlformats.org/drawingml/2006/main" noGrp="1"/>
          </p:cNvSpPr>
          <p:nvPr/>
        </p:nvSpPr>
        <p:spPr>
          <a:xfrm xmlns:a="http://schemas.openxmlformats.org/drawingml/2006/main">
            <a:off x="7219950" y="247650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F766E"/>
                </a:solidFill>
              </a:defRPr>
            </a:pPr>
            <a:r>
              <a:rPr sz="2025" b="1">
                <a:solidFill>
                  <a:srgbClr val="0F766E"/>
                </a:solidFill>
              </a:rPr>
              <a:t>0.0232</a:t>
            </a:r>
          </a:p>
        </p:txBody>
      </p:sp>
      <p:sp>
        <p:nvSpPr>
          <p:cNvPr id="7" name="">
            <a:extLst xmlns:a="http://schemas.openxmlformats.org/drawingml/2006/main">
              <a:ext uri="{FF2B5EF4-FFF2-40B4-BE49-F238E27FC236}">
                <a16:creationId xmlns:a16="http://schemas.microsoft.com/office/drawing/2014/main" id="{5F221DE4-B029-4E66-9872-F7E90B37BA3F}"/>
              </a:ext>
            </a:extLst>
          </p:cNvPr>
          <p:cNvSpPr>
            <a:spLocks xmlns:a="http://schemas.openxmlformats.org/drawingml/2006/main" noGrp="1"/>
          </p:cNvSpPr>
          <p:nvPr/>
        </p:nvSpPr>
        <p:spPr>
          <a:xfrm xmlns:a="http://schemas.openxmlformats.org/drawingml/2006/main">
            <a:off x="7219950" y="281940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Cramer's V</a:t>
            </a:r>
          </a:p>
        </p:txBody>
      </p:sp>
      <p:sp>
        <p:nvSpPr>
          <p:cNvPr id="8" name="">
            <a:extLst xmlns:a="http://schemas.openxmlformats.org/drawingml/2006/main">
              <a:ext uri="{FF2B5EF4-FFF2-40B4-BE49-F238E27FC236}">
                <a16:creationId xmlns:a16="http://schemas.microsoft.com/office/drawing/2014/main" id="{0632133A-D56C-428B-9B37-F2F59DE5F3EB}"/>
              </a:ext>
            </a:extLst>
          </p:cNvPr>
          <p:cNvSpPr>
            <a:spLocks xmlns:a="http://schemas.openxmlformats.org/drawingml/2006/main" noGrp="1"/>
          </p:cNvSpPr>
          <p:nvPr/>
        </p:nvSpPr>
        <p:spPr>
          <a:xfrm xmlns:a="http://schemas.openxmlformats.org/drawingml/2006/main">
            <a:off x="7219950" y="306705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Very weak association</a:t>
            </a:r>
          </a:p>
        </p:txBody>
      </p:sp>
      <p:sp>
        <p:nvSpPr>
          <p:cNvPr id="9" name="">
            <a:extLst xmlns:a="http://schemas.openxmlformats.org/drawingml/2006/main">
              <a:ext uri="{FF2B5EF4-FFF2-40B4-BE49-F238E27FC236}">
                <a16:creationId xmlns:a16="http://schemas.microsoft.com/office/drawing/2014/main" id="{D5F39440-5E9D-4123-AA7A-A1B3C1387E40}"/>
              </a:ext>
            </a:extLst>
          </p:cNvPr>
          <p:cNvSpPr>
            <a:spLocks xmlns:a="http://schemas.openxmlformats.org/drawingml/2006/main" noGrp="1"/>
          </p:cNvSpPr>
          <p:nvPr/>
        </p:nvSpPr>
        <p:spPr>
          <a:xfrm xmlns:a="http://schemas.openxmlformats.org/drawingml/2006/main">
            <a:off x="7048500" y="3733800"/>
            <a:ext cx="3429000" cy="1381125"/>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E6478C6-E19F-4BE7-B15E-BFF6740231A2}"/>
              </a:ext>
            </a:extLst>
          </p:cNvPr>
          <p:cNvSpPr>
            <a:spLocks xmlns:a="http://schemas.openxmlformats.org/drawingml/2006/main" noGrp="1"/>
          </p:cNvSpPr>
          <p:nvPr/>
        </p:nvSpPr>
        <p:spPr>
          <a:xfrm xmlns:a="http://schemas.openxmlformats.org/drawingml/2006/main">
            <a:off x="7239000" y="39052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Explanation</a:t>
            </a:r>
          </a:p>
        </p:txBody>
      </p:sp>
      <p:sp>
        <p:nvSpPr>
          <p:cNvPr id="11" name="">
            <a:extLst xmlns:a="http://schemas.openxmlformats.org/drawingml/2006/main">
              <a:ext uri="{FF2B5EF4-FFF2-40B4-BE49-F238E27FC236}">
                <a16:creationId xmlns:a16="http://schemas.microsoft.com/office/drawing/2014/main" id="{FA4560BB-3398-4030-B627-80E3ECB2CDA5}"/>
              </a:ext>
            </a:extLst>
          </p:cNvPr>
          <p:cNvSpPr>
            <a:spLocks xmlns:a="http://schemas.openxmlformats.org/drawingml/2006/main" noGrp="1"/>
          </p:cNvSpPr>
          <p:nvPr/>
        </p:nvSpPr>
        <p:spPr>
          <a:xfrm xmlns:a="http://schemas.openxmlformats.org/drawingml/2006/main">
            <a:off x="7239000" y="4286250"/>
            <a:ext cx="30480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target rates are close across Female, Male, and Other. Because the association is weak, gender does not add a strong predictive story. Keeping it out of the model also avoids making the presentation depend on demographic prediction.</a:t>
            </a:r>
          </a:p>
        </p:txBody>
      </p:sp>
      <p:sp>
        <p:nvSpPr>
          <p:cNvPr id="12" name="">
            <a:extLst xmlns:a="http://schemas.openxmlformats.org/drawingml/2006/main">
              <a:ext uri="{FF2B5EF4-FFF2-40B4-BE49-F238E27FC236}">
                <a16:creationId xmlns:a16="http://schemas.microsoft.com/office/drawing/2014/main" id="{45258DF7-C6B7-4BB9-BF04-FFCAC6D68E5F}"/>
              </a:ext>
            </a:extLst>
          </p:cNvPr>
          <p:cNvSpPr>
            <a:spLocks xmlns:a="http://schemas.openxmlformats.org/drawingml/2006/main" noGrp="1"/>
          </p:cNvSpPr>
          <p:nvPr/>
        </p:nvSpPr>
        <p:spPr>
          <a:xfrm xmlns:a="http://schemas.openxmlformats.org/drawingml/2006/main">
            <a:off x="800100" y="5810250"/>
            <a:ext cx="9810750" cy="400050"/>
          </a:xfrm>
          <a:prstGeom xmlns:a="http://schemas.openxmlformats.org/drawingml/2006/main" prst="roundRect">
            <a:avLst>
              <a:gd name="adj" fmla="val 23810"/>
            </a:avLst>
          </a:prstGeom>
          <a:solidFill xmlns:a="http://schemas.openxmlformats.org/drawingml/2006/main">
            <a:srgbClr val="0F172A"/>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B6A861B-E5B7-420E-B28C-2644483ECC0C}"/>
              </a:ext>
            </a:extLst>
          </p:cNvPr>
          <p:cNvSpPr>
            <a:spLocks xmlns:a="http://schemas.openxmlformats.org/drawingml/2006/main" noGrp="1"/>
          </p:cNvSpPr>
          <p:nvPr/>
        </p:nvSpPr>
        <p:spPr>
          <a:xfrm xmlns:a="http://schemas.openxmlformats.org/drawingml/2006/main">
            <a:off x="990600" y="5924550"/>
            <a:ext cx="942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Decision: keep gender for descriptive EDA, but exclude it from the predictive feature matrix.</a:t>
            </a:r>
          </a:p>
        </p:txBody>
      </p:sp>
      <p:sp>
        <p:nvSpPr>
          <p:cNvPr id="14" name="">
            <a:extLst xmlns:a="http://schemas.openxmlformats.org/drawingml/2006/main">
              <a:ext uri="{FF2B5EF4-FFF2-40B4-BE49-F238E27FC236}">
                <a16:creationId xmlns:a16="http://schemas.microsoft.com/office/drawing/2014/main" id="{27EFFAD0-51CB-49B0-8112-A63C77A059CC}"/>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5" name="">
            <a:extLst xmlns:a="http://schemas.openxmlformats.org/drawingml/2006/main">
              <a:ext uri="{FF2B5EF4-FFF2-40B4-BE49-F238E27FC236}">
                <a16:creationId xmlns:a16="http://schemas.microsoft.com/office/drawing/2014/main" id="{1C7E8762-C4DA-4569-AB91-FE84573C1DA8}"/>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09</a:t>
            </a:r>
          </a:p>
        </p:txBody>
      </p:sp>
    </p:spTree>
    <p:extLst>
      <p:ext uri="{BB962C8B-B14F-4D97-AF65-F5344CB8AC3E}">
        <p14:creationId xmlns:p14="http://schemas.microsoft.com/office/powerpoint/2010/main" val="10308278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CB6C7D-B292-4145-A145-7492EADC81CF}"/>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ABC7656E-45B5-4C7C-BD9D-26A531E9E0CA}"/>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Descriptive EDA result</a:t>
            </a:r>
          </a:p>
        </p:txBody>
      </p:sp>
      <p:sp>
        <p:nvSpPr>
          <p:cNvPr id="3" name="">
            <a:extLst xmlns:a="http://schemas.openxmlformats.org/drawingml/2006/main">
              <a:ext uri="{FF2B5EF4-FFF2-40B4-BE49-F238E27FC236}">
                <a16:creationId xmlns:a16="http://schemas.microsoft.com/office/drawing/2014/main" id="{757BF980-4EDB-4EA2-BABD-DF8CF232781A}"/>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clearest group differences are screen-time related.</a:t>
            </a:r>
          </a:p>
        </p:txBody>
      </p:sp>
      <p:graphicFrame>
        <p:nvGraphicFramePr>
          <p:cNvPr id="16" name="Chart"/>
          <p:cNvGraphicFramePr/>
          <p:nvPr/>
        </p:nvGraphicFramePr>
        <p:xfrm>
          <a:off xmlns:a="http://schemas.openxmlformats.org/drawingml/2006/main" x="762000" y="2095500"/>
          <a:ext xmlns:a="http://schemas.openxmlformats.org/drawingml/2006/main" cx="6191250" cy="3143250"/>
        </p:xfrm>
        <a:graphic xmlns:a="http://schemas.openxmlformats.org/drawingml/2006/main">
          <a:graphicData uri="http://schemas.openxmlformats.org/drawingml/2006/chart">
            <c:chart xmlns:r="http://schemas.openxmlformats.org/officeDocument/2006/relationships" xmlns:c="http://schemas.openxmlformats.org/drawingml/2006/chart" r:id="R9fddd4c540f74cf1"/>
          </a:graphicData>
        </a:graphic>
      </p:graphicFrame>
      <p:sp>
        <p:nvSpPr>
          <p:cNvPr id="5" name="">
            <a:extLst xmlns:a="http://schemas.openxmlformats.org/drawingml/2006/main">
              <a:ext uri="{FF2B5EF4-FFF2-40B4-BE49-F238E27FC236}">
                <a16:creationId xmlns:a16="http://schemas.microsoft.com/office/drawing/2014/main" id="{01A02C4E-374E-43C6-859D-23866C5F333E}"/>
              </a:ext>
            </a:extLst>
          </p:cNvPr>
          <p:cNvSpPr>
            <a:spLocks xmlns:a="http://schemas.openxmlformats.org/drawingml/2006/main" noGrp="1"/>
          </p:cNvSpPr>
          <p:nvPr/>
        </p:nvSpPr>
        <p:spPr>
          <a:xfrm xmlns:a="http://schemas.openxmlformats.org/drawingml/2006/main">
            <a:off x="7524750" y="2238375"/>
            <a:ext cx="3333750" cy="1476375"/>
          </a:xfrm>
          <a:prstGeom xmlns:a="http://schemas.openxmlformats.org/drawingml/2006/main" prst="roundRect">
            <a:avLst>
              <a:gd name="adj" fmla="val 6452"/>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BBFD331-5365-438A-A3C5-7CD75AEC6F00}"/>
              </a:ext>
            </a:extLst>
          </p:cNvPr>
          <p:cNvSpPr>
            <a:spLocks xmlns:a="http://schemas.openxmlformats.org/drawingml/2006/main" noGrp="1"/>
          </p:cNvSpPr>
          <p:nvPr/>
        </p:nvSpPr>
        <p:spPr>
          <a:xfrm xmlns:a="http://schemas.openxmlformats.org/drawingml/2006/main">
            <a:off x="7715250" y="24098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What the chart shows</a:t>
            </a:r>
          </a:p>
        </p:txBody>
      </p:sp>
      <p:sp>
        <p:nvSpPr>
          <p:cNvPr id="7" name="">
            <a:extLst xmlns:a="http://schemas.openxmlformats.org/drawingml/2006/main">
              <a:ext uri="{FF2B5EF4-FFF2-40B4-BE49-F238E27FC236}">
                <a16:creationId xmlns:a16="http://schemas.microsoft.com/office/drawing/2014/main" id="{AEB2A4EA-E2FF-4E84-BC80-93A1C7520D7D}"/>
              </a:ext>
            </a:extLst>
          </p:cNvPr>
          <p:cNvSpPr>
            <a:spLocks xmlns:a="http://schemas.openxmlformats.org/drawingml/2006/main" noGrp="1"/>
          </p:cNvSpPr>
          <p:nvPr/>
        </p:nvSpPr>
        <p:spPr>
          <a:xfrm xmlns:a="http://schemas.openxmlformats.org/drawingml/2006/main">
            <a:off x="7715250" y="2790825"/>
            <a:ext cx="2952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label 1 group has higher average daily screen time, weekend screen time, and social-media hours. Sleep and gaming are much closer between groups, so they are not strong descriptive separators.</a:t>
            </a:r>
          </a:p>
        </p:txBody>
      </p:sp>
      <p:sp>
        <p:nvSpPr>
          <p:cNvPr id="8" name="">
            <a:extLst xmlns:a="http://schemas.openxmlformats.org/drawingml/2006/main">
              <a:ext uri="{FF2B5EF4-FFF2-40B4-BE49-F238E27FC236}">
                <a16:creationId xmlns:a16="http://schemas.microsoft.com/office/drawing/2014/main" id="{13DD54B2-AB2A-4626-B81A-261C9DEFC068}"/>
              </a:ext>
            </a:extLst>
          </p:cNvPr>
          <p:cNvSpPr>
            <a:spLocks xmlns:a="http://schemas.openxmlformats.org/drawingml/2006/main" noGrp="1"/>
          </p:cNvSpPr>
          <p:nvPr/>
        </p:nvSpPr>
        <p:spPr>
          <a:xfrm xmlns:a="http://schemas.openxmlformats.org/drawingml/2006/main">
            <a:off x="7524750" y="4000500"/>
            <a:ext cx="3333750" cy="1190625"/>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ADAB06E-EB6B-4271-97CD-E61C6A5319E4}"/>
              </a:ext>
            </a:extLst>
          </p:cNvPr>
          <p:cNvSpPr>
            <a:spLocks xmlns:a="http://schemas.openxmlformats.org/drawingml/2006/main" noGrp="1"/>
          </p:cNvSpPr>
          <p:nvPr/>
        </p:nvSpPr>
        <p:spPr>
          <a:xfrm xmlns:a="http://schemas.openxmlformats.org/drawingml/2006/main">
            <a:off x="7715250" y="41719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Interpretation boundary</a:t>
            </a:r>
          </a:p>
        </p:txBody>
      </p:sp>
      <p:sp>
        <p:nvSpPr>
          <p:cNvPr id="10" name="">
            <a:extLst xmlns:a="http://schemas.openxmlformats.org/drawingml/2006/main">
              <a:ext uri="{FF2B5EF4-FFF2-40B4-BE49-F238E27FC236}">
                <a16:creationId xmlns:a16="http://schemas.microsoft.com/office/drawing/2014/main" id="{879614B9-C44C-4473-8AE8-539931189E28}"/>
              </a:ext>
            </a:extLst>
          </p:cNvPr>
          <p:cNvSpPr>
            <a:spLocks xmlns:a="http://schemas.openxmlformats.org/drawingml/2006/main" noGrp="1"/>
          </p:cNvSpPr>
          <p:nvPr/>
        </p:nvSpPr>
        <p:spPr>
          <a:xfrm xmlns:a="http://schemas.openxmlformats.org/drawingml/2006/main">
            <a:off x="7715250" y="4552950"/>
            <a:ext cx="2952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These variables are associated with the dataset target, but the analysis does not establish causation because the dataset is observational and the target is rule-defined.</a:t>
            </a:r>
          </a:p>
        </p:txBody>
      </p:sp>
      <p:sp>
        <p:nvSpPr>
          <p:cNvPr id="11" name="">
            <a:extLst xmlns:a="http://schemas.openxmlformats.org/drawingml/2006/main">
              <a:ext uri="{FF2B5EF4-FFF2-40B4-BE49-F238E27FC236}">
                <a16:creationId xmlns:a16="http://schemas.microsoft.com/office/drawing/2014/main" id="{FE499D60-2613-48D8-AC26-F62268667D7C}"/>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2" name="">
            <a:extLst xmlns:a="http://schemas.openxmlformats.org/drawingml/2006/main">
              <a:ext uri="{FF2B5EF4-FFF2-40B4-BE49-F238E27FC236}">
                <a16:creationId xmlns:a16="http://schemas.microsoft.com/office/drawing/2014/main" id="{98C8895B-7CC6-4823-8D4A-69E098D87763}"/>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10</a:t>
            </a:r>
          </a:p>
        </p:txBody>
      </p:sp>
    </p:spTree>
    <p:extLst>
      <p:ext uri="{BB962C8B-B14F-4D97-AF65-F5344CB8AC3E}">
        <p14:creationId xmlns:p14="http://schemas.microsoft.com/office/powerpoint/2010/main" val="534416637"/>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96270E-BCF8-4256-84DE-D38FDDAD5807}"/>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BF348948-FB05-4B62-9449-8AC41A7D8A94}"/>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Effect sizes add practical meaning</a:t>
            </a:r>
          </a:p>
        </p:txBody>
      </p:sp>
      <p:sp>
        <p:nvSpPr>
          <p:cNvPr id="3" name="">
            <a:extLst xmlns:a="http://schemas.openxmlformats.org/drawingml/2006/main">
              <a:ext uri="{FF2B5EF4-FFF2-40B4-BE49-F238E27FC236}">
                <a16:creationId xmlns:a16="http://schemas.microsoft.com/office/drawing/2014/main" id="{7339047E-80BA-4745-979F-C872A9E81064}"/>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With 7,500 rows, statistical significance alone is not enough.</a:t>
            </a:r>
          </a:p>
        </p:txBody>
      </p:sp>
      <p:graphicFrame>
        <p:nvGraphicFramePr>
          <p:cNvPr id="15" name="Chart"/>
          <p:cNvGraphicFramePr/>
          <p:nvPr/>
        </p:nvGraphicFramePr>
        <p:xfrm>
          <a:off xmlns:a="http://schemas.openxmlformats.org/drawingml/2006/main" x="1143000" y="2143125"/>
          <a:ext xmlns:a="http://schemas.openxmlformats.org/drawingml/2006/main" cx="7143750" cy="3143250"/>
        </p:xfrm>
        <a:graphic xmlns:a="http://schemas.openxmlformats.org/drawingml/2006/main">
          <a:graphicData uri="http://schemas.openxmlformats.org/drawingml/2006/chart">
            <c:chart xmlns:r="http://schemas.openxmlformats.org/officeDocument/2006/relationships" xmlns:c="http://schemas.openxmlformats.org/drawingml/2006/chart" r:id="R72b4ab7c425d40fc"/>
          </a:graphicData>
        </a:graphic>
      </p:graphicFrame>
      <p:sp>
        <p:nvSpPr>
          <p:cNvPr id="5" name="">
            <a:extLst xmlns:a="http://schemas.openxmlformats.org/drawingml/2006/main">
              <a:ext uri="{FF2B5EF4-FFF2-40B4-BE49-F238E27FC236}">
                <a16:creationId xmlns:a16="http://schemas.microsoft.com/office/drawing/2014/main" id="{7E7FE3B7-515F-4D6B-93DF-055D9072966E}"/>
              </a:ext>
            </a:extLst>
          </p:cNvPr>
          <p:cNvSpPr>
            <a:spLocks xmlns:a="http://schemas.openxmlformats.org/drawingml/2006/main" noGrp="1"/>
          </p:cNvSpPr>
          <p:nvPr/>
        </p:nvSpPr>
        <p:spPr>
          <a:xfrm xmlns:a="http://schemas.openxmlformats.org/drawingml/2006/main">
            <a:off x="8810625" y="2381250"/>
            <a:ext cx="2381250" cy="1952625"/>
          </a:xfrm>
          <a:prstGeom xmlns:a="http://schemas.openxmlformats.org/drawingml/2006/main" prst="roundRect">
            <a:avLst>
              <a:gd name="adj" fmla="val 4878"/>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9F73F85-7098-4D1B-A123-77055E93CEB8}"/>
              </a:ext>
            </a:extLst>
          </p:cNvPr>
          <p:cNvSpPr>
            <a:spLocks xmlns:a="http://schemas.openxmlformats.org/drawingml/2006/main" noGrp="1"/>
          </p:cNvSpPr>
          <p:nvPr/>
        </p:nvSpPr>
        <p:spPr>
          <a:xfrm xmlns:a="http://schemas.openxmlformats.org/drawingml/2006/main">
            <a:off x="9001125" y="25527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Interpretation</a:t>
            </a:r>
          </a:p>
        </p:txBody>
      </p:sp>
      <p:sp>
        <p:nvSpPr>
          <p:cNvPr id="7" name="">
            <a:extLst xmlns:a="http://schemas.openxmlformats.org/drawingml/2006/main">
              <a:ext uri="{FF2B5EF4-FFF2-40B4-BE49-F238E27FC236}">
                <a16:creationId xmlns:a16="http://schemas.microsoft.com/office/drawing/2014/main" id="{FE6F6E09-72C4-46DA-8293-FB20D026C461}"/>
              </a:ext>
            </a:extLst>
          </p:cNvPr>
          <p:cNvSpPr>
            <a:spLocks xmlns:a="http://schemas.openxmlformats.org/drawingml/2006/main" noGrp="1"/>
          </p:cNvSpPr>
          <p:nvPr/>
        </p:nvSpPr>
        <p:spPr>
          <a:xfrm xmlns:a="http://schemas.openxmlformats.org/drawingml/2006/main">
            <a:off x="9001125" y="2933700"/>
            <a:ext cx="20002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Only three variables show practically meaningful separation: daily screen time, weekend screen time, and social-media hours. Most other numeric variables have very small effect sizes, so they should be described cautiously.</a:t>
            </a:r>
          </a:p>
        </p:txBody>
      </p:sp>
      <p:sp>
        <p:nvSpPr>
          <p:cNvPr id="8" name="">
            <a:extLst xmlns:a="http://schemas.openxmlformats.org/drawingml/2006/main">
              <a:ext uri="{FF2B5EF4-FFF2-40B4-BE49-F238E27FC236}">
                <a16:creationId xmlns:a16="http://schemas.microsoft.com/office/drawing/2014/main" id="{BB0A2C41-889A-4398-A44F-795959143A99}"/>
              </a:ext>
            </a:extLst>
          </p:cNvPr>
          <p:cNvSpPr>
            <a:spLocks xmlns:a="http://schemas.openxmlformats.org/drawingml/2006/main" noGrp="1"/>
          </p:cNvSpPr>
          <p:nvPr/>
        </p:nvSpPr>
        <p:spPr>
          <a:xfrm xmlns:a="http://schemas.openxmlformats.org/drawingml/2006/main">
            <a:off x="800100" y="5810250"/>
            <a:ext cx="9810750" cy="400050"/>
          </a:xfrm>
          <a:prstGeom xmlns:a="http://schemas.openxmlformats.org/drawingml/2006/main" prst="roundRect">
            <a:avLst>
              <a:gd name="adj" fmla="val 23810"/>
            </a:avLst>
          </a:prstGeom>
          <a:solidFill xmlns:a="http://schemas.openxmlformats.org/drawingml/2006/main">
            <a:srgbClr val="0F172A"/>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E6C0A5F-8606-4CD6-A2A0-58F65C7BC889}"/>
              </a:ext>
            </a:extLst>
          </p:cNvPr>
          <p:cNvSpPr>
            <a:spLocks xmlns:a="http://schemas.openxmlformats.org/drawingml/2006/main" noGrp="1"/>
          </p:cNvSpPr>
          <p:nvPr/>
        </p:nvSpPr>
        <p:spPr>
          <a:xfrm xmlns:a="http://schemas.openxmlformats.org/drawingml/2006/main">
            <a:off x="990600" y="5924550"/>
            <a:ext cx="942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Decision: rank variables by practical separation, not just by p-values.</a:t>
            </a:r>
          </a:p>
        </p:txBody>
      </p:sp>
      <p:sp>
        <p:nvSpPr>
          <p:cNvPr id="10" name="">
            <a:extLst xmlns:a="http://schemas.openxmlformats.org/drawingml/2006/main">
              <a:ext uri="{FF2B5EF4-FFF2-40B4-BE49-F238E27FC236}">
                <a16:creationId xmlns:a16="http://schemas.microsoft.com/office/drawing/2014/main" id="{C2EBA2A9-8B9A-445F-8BD6-5A9DD0501BE3}"/>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1" name="">
            <a:extLst xmlns:a="http://schemas.openxmlformats.org/drawingml/2006/main">
              <a:ext uri="{FF2B5EF4-FFF2-40B4-BE49-F238E27FC236}">
                <a16:creationId xmlns:a16="http://schemas.microsoft.com/office/drawing/2014/main" id="{8CDC9FB5-8197-4C91-90F1-4E08B65604AA}"/>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11</a:t>
            </a:r>
          </a:p>
        </p:txBody>
      </p:sp>
    </p:spTree>
    <p:extLst>
      <p:ext uri="{BB962C8B-B14F-4D97-AF65-F5344CB8AC3E}">
        <p14:creationId xmlns:p14="http://schemas.microsoft.com/office/powerpoint/2010/main" val="12099629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49897B-12D4-4AAA-A183-6D538F04B177}"/>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32CDDAA4-E902-494F-A50A-0325D8123BFD}"/>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Screen-time variables are redundant</a:t>
            </a:r>
          </a:p>
        </p:txBody>
      </p:sp>
      <p:sp>
        <p:nvSpPr>
          <p:cNvPr id="3" name="">
            <a:extLst xmlns:a="http://schemas.openxmlformats.org/drawingml/2006/main">
              <a:ext uri="{FF2B5EF4-FFF2-40B4-BE49-F238E27FC236}">
                <a16:creationId xmlns:a16="http://schemas.microsoft.com/office/drawing/2014/main" id="{0D9D62E8-60C3-41C1-8EBC-80CF09A456F7}"/>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Daily and weekend screen time are highly overlapping signals.</a:t>
            </a:r>
          </a:p>
        </p:txBody>
      </p:sp>
      <p:sp>
        <p:nvSpPr>
          <p:cNvPr id="4" name="">
            <a:extLst xmlns:a="http://schemas.openxmlformats.org/drawingml/2006/main">
              <a:ext uri="{FF2B5EF4-FFF2-40B4-BE49-F238E27FC236}">
                <a16:creationId xmlns:a16="http://schemas.microsoft.com/office/drawing/2014/main" id="{43F05CF6-34EC-4767-B7F5-374207A7E9B9}"/>
              </a:ext>
            </a:extLst>
          </p:cNvPr>
          <p:cNvSpPr>
            <a:spLocks xmlns:a="http://schemas.openxmlformats.org/drawingml/2006/main" noGrp="1"/>
          </p:cNvSpPr>
          <p:nvPr/>
        </p:nvSpPr>
        <p:spPr>
          <a:xfrm xmlns:a="http://schemas.openxmlformats.org/drawingml/2006/main">
            <a:off x="952500" y="2171700"/>
            <a:ext cx="31432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9B7EC62-2782-49F1-887A-E3D5294E2F4A}"/>
              </a:ext>
            </a:extLst>
          </p:cNvPr>
          <p:cNvSpPr>
            <a:spLocks xmlns:a="http://schemas.openxmlformats.org/drawingml/2006/main" noGrp="1"/>
          </p:cNvSpPr>
          <p:nvPr/>
        </p:nvSpPr>
        <p:spPr>
          <a:xfrm xmlns:a="http://schemas.openxmlformats.org/drawingml/2006/main">
            <a:off x="1123950" y="22860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D97706"/>
                </a:solidFill>
              </a:defRPr>
            </a:pPr>
            <a:r>
              <a:rPr sz="2025" b="1">
                <a:solidFill>
                  <a:srgbClr val="D97706"/>
                </a:solidFill>
              </a:rPr>
              <a:t>0.964</a:t>
            </a:r>
          </a:p>
        </p:txBody>
      </p:sp>
      <p:sp>
        <p:nvSpPr>
          <p:cNvPr id="6" name="">
            <a:extLst xmlns:a="http://schemas.openxmlformats.org/drawingml/2006/main">
              <a:ext uri="{FF2B5EF4-FFF2-40B4-BE49-F238E27FC236}">
                <a16:creationId xmlns:a16="http://schemas.microsoft.com/office/drawing/2014/main" id="{EBD722A7-9C05-415B-B942-79BF289CEA2F}"/>
              </a:ext>
            </a:extLst>
          </p:cNvPr>
          <p:cNvSpPr>
            <a:spLocks xmlns:a="http://schemas.openxmlformats.org/drawingml/2006/main" noGrp="1"/>
          </p:cNvSpPr>
          <p:nvPr/>
        </p:nvSpPr>
        <p:spPr>
          <a:xfrm xmlns:a="http://schemas.openxmlformats.org/drawingml/2006/main">
            <a:off x="1123950" y="2628900"/>
            <a:ext cx="2800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Correlation</a:t>
            </a:r>
          </a:p>
        </p:txBody>
      </p:sp>
      <p:sp>
        <p:nvSpPr>
          <p:cNvPr id="7" name="">
            <a:extLst xmlns:a="http://schemas.openxmlformats.org/drawingml/2006/main">
              <a:ext uri="{FF2B5EF4-FFF2-40B4-BE49-F238E27FC236}">
                <a16:creationId xmlns:a16="http://schemas.microsoft.com/office/drawing/2014/main" id="{DDA08F9B-AB0B-4373-9A6B-EB084EA69166}"/>
              </a:ext>
            </a:extLst>
          </p:cNvPr>
          <p:cNvSpPr>
            <a:spLocks xmlns:a="http://schemas.openxmlformats.org/drawingml/2006/main" noGrp="1"/>
          </p:cNvSpPr>
          <p:nvPr/>
        </p:nvSpPr>
        <p:spPr>
          <a:xfrm xmlns:a="http://schemas.openxmlformats.org/drawingml/2006/main">
            <a:off x="1123950" y="287655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daily_screen_time_hours vs weekend_screen_time</a:t>
            </a:r>
          </a:p>
        </p:txBody>
      </p:sp>
      <p:graphicFrame>
        <p:nvGraphicFramePr>
          <p:cNvPr id="24" name="Chart"/>
          <p:cNvGraphicFramePr/>
          <p:nvPr/>
        </p:nvGraphicFramePr>
        <p:xfrm>
          <a:off xmlns:a="http://schemas.openxmlformats.org/drawingml/2006/main" x="4762500" y="2095500"/>
          <a:ext xmlns:a="http://schemas.openxmlformats.org/drawingml/2006/main" cx="4953000" cy="2762250"/>
        </p:xfrm>
        <a:graphic xmlns:a="http://schemas.openxmlformats.org/drawingml/2006/main">
          <a:graphicData uri="http://schemas.openxmlformats.org/drawingml/2006/chart">
            <c:chart xmlns:r="http://schemas.openxmlformats.org/officeDocument/2006/relationships" xmlns:c="http://schemas.openxmlformats.org/drawingml/2006/chart" r:id="Rc9362a1da2494f64"/>
          </a:graphicData>
        </a:graphic>
      </p:graphicFrame>
      <p:sp>
        <p:nvSpPr>
          <p:cNvPr id="9" name="">
            <a:extLst xmlns:a="http://schemas.openxmlformats.org/drawingml/2006/main">
              <a:ext uri="{FF2B5EF4-FFF2-40B4-BE49-F238E27FC236}">
                <a16:creationId xmlns:a16="http://schemas.microsoft.com/office/drawing/2014/main" id="{A02D1DD9-E555-4032-94C6-F820642652AC}"/>
              </a:ext>
            </a:extLst>
          </p:cNvPr>
          <p:cNvSpPr>
            <a:spLocks xmlns:a="http://schemas.openxmlformats.org/drawingml/2006/main" noGrp="1"/>
          </p:cNvSpPr>
          <p:nvPr/>
        </p:nvSpPr>
        <p:spPr>
          <a:xfrm xmlns:a="http://schemas.openxmlformats.org/drawingml/2006/main">
            <a:off x="819150" y="3524250"/>
            <a:ext cx="3667125" cy="1619250"/>
          </a:xfrm>
          <a:prstGeom xmlns:a="http://schemas.openxmlformats.org/drawingml/2006/main" prst="roundRect">
            <a:avLst>
              <a:gd name="adj" fmla="val 5882"/>
            </a:avLst>
          </a:prstGeom>
          <a:solidFill xmlns:a="http://schemas.openxmlformats.org/drawingml/2006/main">
            <a:srgbClr val="FEF3C7"/>
          </a:solidFill>
          <a:ln xmlns:a="http://schemas.openxmlformats.org/drawingml/2006/main" w="9525">
            <a:solidFill>
              <a:srgbClr val="F59E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6B8B2BC-33AB-4215-995B-64847A172DEC}"/>
              </a:ext>
            </a:extLst>
          </p:cNvPr>
          <p:cNvSpPr>
            <a:spLocks xmlns:a="http://schemas.openxmlformats.org/drawingml/2006/main" noGrp="1"/>
          </p:cNvSpPr>
          <p:nvPr/>
        </p:nvSpPr>
        <p:spPr>
          <a:xfrm xmlns:a="http://schemas.openxmlformats.org/drawingml/2006/main">
            <a:off x="1009650" y="3695700"/>
            <a:ext cx="3286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Why this matters</a:t>
            </a:r>
          </a:p>
        </p:txBody>
      </p:sp>
      <p:sp>
        <p:nvSpPr>
          <p:cNvPr id="11" name="">
            <a:extLst xmlns:a="http://schemas.openxmlformats.org/drawingml/2006/main">
              <a:ext uri="{FF2B5EF4-FFF2-40B4-BE49-F238E27FC236}">
                <a16:creationId xmlns:a16="http://schemas.microsoft.com/office/drawing/2014/main" id="{9C843A32-31C9-4E7C-9492-B2423C837FB0}"/>
              </a:ext>
            </a:extLst>
          </p:cNvPr>
          <p:cNvSpPr>
            <a:spLocks xmlns:a="http://schemas.openxmlformats.org/drawingml/2006/main" noGrp="1"/>
          </p:cNvSpPr>
          <p:nvPr/>
        </p:nvSpPr>
        <p:spPr>
          <a:xfrm xmlns:a="http://schemas.openxmlformats.org/drawingml/2006/main">
            <a:off x="1009650" y="4076700"/>
            <a:ext cx="3286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analysis should not claim that daily and weekend screen time are two independent drivers. In this dataset, weekend screen time is almost a rescaled version of daily screen time.</a:t>
            </a:r>
          </a:p>
        </p:txBody>
      </p:sp>
      <p:sp>
        <p:nvSpPr>
          <p:cNvPr id="12" name="">
            <a:extLst xmlns:a="http://schemas.openxmlformats.org/drawingml/2006/main">
              <a:ext uri="{FF2B5EF4-FFF2-40B4-BE49-F238E27FC236}">
                <a16:creationId xmlns:a16="http://schemas.microsoft.com/office/drawing/2014/main" id="{E4AE73A4-8E01-4E4F-A954-A9B33F6AC9B6}"/>
              </a:ext>
            </a:extLst>
          </p:cNvPr>
          <p:cNvSpPr>
            <a:spLocks xmlns:a="http://schemas.openxmlformats.org/drawingml/2006/main" noGrp="1"/>
          </p:cNvSpPr>
          <p:nvPr/>
        </p:nvSpPr>
        <p:spPr>
          <a:xfrm xmlns:a="http://schemas.openxmlformats.org/drawingml/2006/main">
            <a:off x="4905375" y="5048250"/>
            <a:ext cx="4953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7BE9975-56EB-4554-B0F7-9A7329837FD4}"/>
              </a:ext>
            </a:extLst>
          </p:cNvPr>
          <p:cNvSpPr>
            <a:spLocks xmlns:a="http://schemas.openxmlformats.org/drawingml/2006/main" noGrp="1"/>
          </p:cNvSpPr>
          <p:nvPr/>
        </p:nvSpPr>
        <p:spPr>
          <a:xfrm xmlns:a="http://schemas.openxmlformats.org/drawingml/2006/main">
            <a:off x="5095875" y="52197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Interpretation choice</a:t>
            </a:r>
          </a:p>
        </p:txBody>
      </p:sp>
      <p:sp>
        <p:nvSpPr>
          <p:cNvPr id="14" name="">
            <a:extLst xmlns:a="http://schemas.openxmlformats.org/drawingml/2006/main">
              <a:ext uri="{FF2B5EF4-FFF2-40B4-BE49-F238E27FC236}">
                <a16:creationId xmlns:a16="http://schemas.microsoft.com/office/drawing/2014/main" id="{89DCADF1-57B1-44E4-B53E-7E295AFAC378}"/>
              </a:ext>
            </a:extLst>
          </p:cNvPr>
          <p:cNvSpPr>
            <a:spLocks xmlns:a="http://schemas.openxmlformats.org/drawingml/2006/main" noGrp="1"/>
          </p:cNvSpPr>
          <p:nvPr/>
        </p:nvSpPr>
        <p:spPr>
          <a:xfrm xmlns:a="http://schemas.openxmlformats.org/drawingml/2006/main">
            <a:off x="5095875" y="5600700"/>
            <a:ext cx="457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Treat daily and weekend screen time as overlapping evidence. This avoids exaggerating how many independent predictors the dataset contains.</a:t>
            </a:r>
          </a:p>
        </p:txBody>
      </p:sp>
      <p:sp>
        <p:nvSpPr>
          <p:cNvPr id="15" name="">
            <a:extLst xmlns:a="http://schemas.openxmlformats.org/drawingml/2006/main">
              <a:ext uri="{FF2B5EF4-FFF2-40B4-BE49-F238E27FC236}">
                <a16:creationId xmlns:a16="http://schemas.microsoft.com/office/drawing/2014/main" id="{79E6453D-892E-4E6B-9414-9919CAABF23C}"/>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6" name="">
            <a:extLst xmlns:a="http://schemas.openxmlformats.org/drawingml/2006/main">
              <a:ext uri="{FF2B5EF4-FFF2-40B4-BE49-F238E27FC236}">
                <a16:creationId xmlns:a16="http://schemas.microsoft.com/office/drawing/2014/main" id="{0C630527-9949-40A8-B922-1DE550091398}"/>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12</a:t>
            </a:r>
          </a:p>
        </p:txBody>
      </p:sp>
    </p:spTree>
    <p:extLst>
      <p:ext uri="{BB962C8B-B14F-4D97-AF65-F5344CB8AC3E}">
        <p14:creationId xmlns:p14="http://schemas.microsoft.com/office/powerpoint/2010/main" val="1845862258"/>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C0CF16-F0FB-43A4-88F8-EE05E19DB97E}"/>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EC6F24D1-2BCF-45CE-BD9C-DE1F05BFFB67}"/>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Engineered ratios are questionable</a:t>
            </a:r>
          </a:p>
        </p:txBody>
      </p:sp>
      <p:sp>
        <p:nvSpPr>
          <p:cNvPr id="3" name="">
            <a:extLst xmlns:a="http://schemas.openxmlformats.org/drawingml/2006/main">
              <a:ext uri="{FF2B5EF4-FFF2-40B4-BE49-F238E27FC236}">
                <a16:creationId xmlns:a16="http://schemas.microsoft.com/office/drawing/2014/main" id="{CC4C32F8-E51B-4344-B37F-9BF0351DFE54}"/>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Component-hour arithmetic shows why the simpler model is preferred.</a:t>
            </a:r>
          </a:p>
        </p:txBody>
      </p:sp>
      <p:sp>
        <p:nvSpPr>
          <p:cNvPr id="4" name="">
            <a:extLst xmlns:a="http://schemas.openxmlformats.org/drawingml/2006/main">
              <a:ext uri="{FF2B5EF4-FFF2-40B4-BE49-F238E27FC236}">
                <a16:creationId xmlns:a16="http://schemas.microsoft.com/office/drawing/2014/main" id="{1AEF63BD-4734-4E3A-9DC9-1723514F7ACC}"/>
              </a:ext>
            </a:extLst>
          </p:cNvPr>
          <p:cNvSpPr>
            <a:spLocks xmlns:a="http://schemas.openxmlformats.org/drawingml/2006/main" noGrp="1"/>
          </p:cNvSpPr>
          <p:nvPr/>
        </p:nvSpPr>
        <p:spPr>
          <a:xfrm xmlns:a="http://schemas.openxmlformats.org/drawingml/2006/main">
            <a:off x="762000" y="2095500"/>
            <a:ext cx="31432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06CC2DD-E370-4F23-BA69-BEFA87D5F939}"/>
              </a:ext>
            </a:extLst>
          </p:cNvPr>
          <p:cNvSpPr>
            <a:spLocks xmlns:a="http://schemas.openxmlformats.org/drawingml/2006/main" noGrp="1"/>
          </p:cNvSpPr>
          <p:nvPr/>
        </p:nvSpPr>
        <p:spPr>
          <a:xfrm xmlns:a="http://schemas.openxmlformats.org/drawingml/2006/main">
            <a:off x="933450" y="2209800"/>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DC2626"/>
                </a:solidFill>
              </a:defRPr>
            </a:pPr>
            <a:r>
              <a:rPr sz="2025" b="1">
                <a:solidFill>
                  <a:srgbClr val="DC2626"/>
                </a:solidFill>
              </a:rPr>
              <a:t>60.71%</a:t>
            </a:r>
          </a:p>
        </p:txBody>
      </p:sp>
      <p:sp>
        <p:nvSpPr>
          <p:cNvPr id="6" name="">
            <a:extLst xmlns:a="http://schemas.openxmlformats.org/drawingml/2006/main">
              <a:ext uri="{FF2B5EF4-FFF2-40B4-BE49-F238E27FC236}">
                <a16:creationId xmlns:a16="http://schemas.microsoft.com/office/drawing/2014/main" id="{D3129B36-3359-4EC4-8FF4-178164A65D48}"/>
              </a:ext>
            </a:extLst>
          </p:cNvPr>
          <p:cNvSpPr>
            <a:spLocks xmlns:a="http://schemas.openxmlformats.org/drawingml/2006/main" noGrp="1"/>
          </p:cNvSpPr>
          <p:nvPr/>
        </p:nvSpPr>
        <p:spPr>
          <a:xfrm xmlns:a="http://schemas.openxmlformats.org/drawingml/2006/main">
            <a:off x="933450" y="2552700"/>
            <a:ext cx="2800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Component sum &gt; screen time</a:t>
            </a:r>
          </a:p>
        </p:txBody>
      </p:sp>
      <p:sp>
        <p:nvSpPr>
          <p:cNvPr id="7" name="">
            <a:extLst xmlns:a="http://schemas.openxmlformats.org/drawingml/2006/main">
              <a:ext uri="{FF2B5EF4-FFF2-40B4-BE49-F238E27FC236}">
                <a16:creationId xmlns:a16="http://schemas.microsoft.com/office/drawing/2014/main" id="{921460EA-C934-4047-A621-78DC561CD79A}"/>
              </a:ext>
            </a:extLst>
          </p:cNvPr>
          <p:cNvSpPr>
            <a:spLocks xmlns:a="http://schemas.openxmlformats.org/drawingml/2006/main" noGrp="1"/>
          </p:cNvSpPr>
          <p:nvPr/>
        </p:nvSpPr>
        <p:spPr>
          <a:xfrm xmlns:a="http://schemas.openxmlformats.org/drawingml/2006/main">
            <a:off x="933450" y="280035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4,553 rows affected</a:t>
            </a:r>
          </a:p>
        </p:txBody>
      </p:sp>
      <p:sp>
        <p:nvSpPr>
          <p:cNvPr id="8" name="">
            <a:extLst xmlns:a="http://schemas.openxmlformats.org/drawingml/2006/main">
              <a:ext uri="{FF2B5EF4-FFF2-40B4-BE49-F238E27FC236}">
                <a16:creationId xmlns:a16="http://schemas.microsoft.com/office/drawing/2014/main" id="{23C0731C-4C1F-483D-8EA5-383E7C5933F4}"/>
              </a:ext>
            </a:extLst>
          </p:cNvPr>
          <p:cNvSpPr>
            <a:spLocks xmlns:a="http://schemas.openxmlformats.org/drawingml/2006/main" noGrp="1"/>
          </p:cNvSpPr>
          <p:nvPr/>
        </p:nvSpPr>
        <p:spPr>
          <a:xfrm xmlns:a="http://schemas.openxmlformats.org/drawingml/2006/main">
            <a:off x="4286250" y="2095500"/>
            <a:ext cx="28575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D824B727-FD62-4498-837E-B717540FB2E9}"/>
              </a:ext>
            </a:extLst>
          </p:cNvPr>
          <p:cNvSpPr>
            <a:spLocks xmlns:a="http://schemas.openxmlformats.org/drawingml/2006/main" noGrp="1"/>
          </p:cNvSpPr>
          <p:nvPr/>
        </p:nvSpPr>
        <p:spPr>
          <a:xfrm xmlns:a="http://schemas.openxmlformats.org/drawingml/2006/main">
            <a:off x="4457700" y="220980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7C3AED"/>
                </a:solidFill>
              </a:defRPr>
            </a:pPr>
            <a:r>
              <a:rPr sz="2025" b="1">
                <a:solidFill>
                  <a:srgbClr val="7C3AED"/>
                </a:solidFill>
              </a:rPr>
              <a:t>2.08%</a:t>
            </a:r>
          </a:p>
        </p:txBody>
      </p:sp>
      <p:sp>
        <p:nvSpPr>
          <p:cNvPr id="10" name="">
            <a:extLst xmlns:a="http://schemas.openxmlformats.org/drawingml/2006/main">
              <a:ext uri="{FF2B5EF4-FFF2-40B4-BE49-F238E27FC236}">
                <a16:creationId xmlns:a16="http://schemas.microsoft.com/office/drawing/2014/main" id="{6BFA56CF-0E2D-464D-8E5C-7424FBEF2828}"/>
              </a:ext>
            </a:extLst>
          </p:cNvPr>
          <p:cNvSpPr>
            <a:spLocks xmlns:a="http://schemas.openxmlformats.org/drawingml/2006/main" noGrp="1"/>
          </p:cNvSpPr>
          <p:nvPr/>
        </p:nvSpPr>
        <p:spPr>
          <a:xfrm xmlns:a="http://schemas.openxmlformats.org/drawingml/2006/main">
            <a:off x="4457700" y="255270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24-hour budget conflict</a:t>
            </a:r>
          </a:p>
        </p:txBody>
      </p:sp>
      <p:sp>
        <p:nvSpPr>
          <p:cNvPr id="11" name="">
            <a:extLst xmlns:a="http://schemas.openxmlformats.org/drawingml/2006/main">
              <a:ext uri="{FF2B5EF4-FFF2-40B4-BE49-F238E27FC236}">
                <a16:creationId xmlns:a16="http://schemas.microsoft.com/office/drawing/2014/main" id="{D56BB7F2-DB86-41E1-B422-42CE4FE84664}"/>
              </a:ext>
            </a:extLst>
          </p:cNvPr>
          <p:cNvSpPr>
            <a:spLocks xmlns:a="http://schemas.openxmlformats.org/drawingml/2006/main" noGrp="1"/>
          </p:cNvSpPr>
          <p:nvPr/>
        </p:nvSpPr>
        <p:spPr>
          <a:xfrm xmlns:a="http://schemas.openxmlformats.org/drawingml/2006/main">
            <a:off x="4457700" y="280035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156 rows affected</a:t>
            </a:r>
          </a:p>
        </p:txBody>
      </p:sp>
      <p:graphicFrame>
        <p:nvGraphicFramePr>
          <p:cNvPr id="32" name="Chart"/>
          <p:cNvGraphicFramePr/>
          <p:nvPr/>
        </p:nvGraphicFramePr>
        <p:xfrm>
          <a:off xmlns:a="http://schemas.openxmlformats.org/drawingml/2006/main" x="7620000" y="2143125"/>
          <a:ext xmlns:a="http://schemas.openxmlformats.org/drawingml/2006/main" cx="3143250" cy="2428875"/>
        </p:xfrm>
        <a:graphic xmlns:a="http://schemas.openxmlformats.org/drawingml/2006/main">
          <a:graphicData uri="http://schemas.openxmlformats.org/drawingml/2006/chart">
            <c:chart xmlns:r="http://schemas.openxmlformats.org/officeDocument/2006/relationships" xmlns:c="http://schemas.openxmlformats.org/drawingml/2006/chart" r:id="Rb91e6b89d6364567"/>
          </a:graphicData>
        </a:graphic>
      </p:graphicFrame>
      <p:sp>
        <p:nvSpPr>
          <p:cNvPr id="13" name="">
            <a:extLst xmlns:a="http://schemas.openxmlformats.org/drawingml/2006/main">
              <a:ext uri="{FF2B5EF4-FFF2-40B4-BE49-F238E27FC236}">
                <a16:creationId xmlns:a16="http://schemas.microsoft.com/office/drawing/2014/main" id="{E412154F-B43B-452D-91FC-55B2BB9A5ECC}"/>
              </a:ext>
            </a:extLst>
          </p:cNvPr>
          <p:cNvSpPr>
            <a:spLocks xmlns:a="http://schemas.openxmlformats.org/drawingml/2006/main" noGrp="1"/>
          </p:cNvSpPr>
          <p:nvPr/>
        </p:nvSpPr>
        <p:spPr>
          <a:xfrm xmlns:a="http://schemas.openxmlformats.org/drawingml/2006/main">
            <a:off x="857250" y="3714750"/>
            <a:ext cx="476250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8A6765C-B08E-498D-8EDF-E1B9CCCCE058}"/>
              </a:ext>
            </a:extLst>
          </p:cNvPr>
          <p:cNvSpPr>
            <a:spLocks xmlns:a="http://schemas.openxmlformats.org/drawingml/2006/main" noGrp="1"/>
          </p:cNvSpPr>
          <p:nvPr/>
        </p:nvSpPr>
        <p:spPr>
          <a:xfrm xmlns:a="http://schemas.openxmlformats.org/drawingml/2006/main">
            <a:off x="1047750" y="38862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Explanation</a:t>
            </a:r>
          </a:p>
        </p:txBody>
      </p:sp>
      <p:sp>
        <p:nvSpPr>
          <p:cNvPr id="15" name="">
            <a:extLst xmlns:a="http://schemas.openxmlformats.org/drawingml/2006/main">
              <a:ext uri="{FF2B5EF4-FFF2-40B4-BE49-F238E27FC236}">
                <a16:creationId xmlns:a16="http://schemas.microsoft.com/office/drawing/2014/main" id="{E0A3A716-6272-4C2A-92E2-FC5F224A8EFE}"/>
              </a:ext>
            </a:extLst>
          </p:cNvPr>
          <p:cNvSpPr>
            <a:spLocks xmlns:a="http://schemas.openxmlformats.org/drawingml/2006/main" noGrp="1"/>
          </p:cNvSpPr>
          <p:nvPr/>
        </p:nvSpPr>
        <p:spPr>
          <a:xfrm xmlns:a="http://schemas.openxmlformats.org/drawingml/2006/main">
            <a:off x="1047750" y="4267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fields social_media_hours, gaming_hours, and work_study_hours sound like components of total daily screen time, but in 60.71% of rows their sum exceeds total daily screen time. Therefore, aggregate and per-screen-hour ratio features are difficult to interpret.</a:t>
            </a:r>
          </a:p>
        </p:txBody>
      </p:sp>
      <p:sp>
        <p:nvSpPr>
          <p:cNvPr id="16" name="">
            <a:extLst xmlns:a="http://schemas.openxmlformats.org/drawingml/2006/main">
              <a:ext uri="{FF2B5EF4-FFF2-40B4-BE49-F238E27FC236}">
                <a16:creationId xmlns:a16="http://schemas.microsoft.com/office/drawing/2014/main" id="{5AE258B1-B14D-4976-8DB8-665528980AAF}"/>
              </a:ext>
            </a:extLst>
          </p:cNvPr>
          <p:cNvSpPr>
            <a:spLocks xmlns:a="http://schemas.openxmlformats.org/drawingml/2006/main" noGrp="1"/>
          </p:cNvSpPr>
          <p:nvPr/>
        </p:nvSpPr>
        <p:spPr>
          <a:xfrm xmlns:a="http://schemas.openxmlformats.org/drawingml/2006/main">
            <a:off x="6191250" y="4762500"/>
            <a:ext cx="4476750" cy="1428750"/>
          </a:xfrm>
          <a:prstGeom xmlns:a="http://schemas.openxmlformats.org/drawingml/2006/main" prst="roundRect">
            <a:avLst>
              <a:gd name="adj" fmla="val 6667"/>
            </a:avLst>
          </a:prstGeom>
          <a:solidFill xmlns:a="http://schemas.openxmlformats.org/drawingml/2006/main">
            <a:srgbClr val="FEE2E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5B95307-606D-40AF-BE97-D6A3E5006F8B}"/>
              </a:ext>
            </a:extLst>
          </p:cNvPr>
          <p:cNvSpPr>
            <a:spLocks xmlns:a="http://schemas.openxmlformats.org/drawingml/2006/main" noGrp="1"/>
          </p:cNvSpPr>
          <p:nvPr/>
        </p:nvSpPr>
        <p:spPr>
          <a:xfrm xmlns:a="http://schemas.openxmlformats.org/drawingml/2006/main">
            <a:off x="6381750" y="4933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2626"/>
                </a:solidFill>
              </a:defRPr>
            </a:pPr>
            <a:r>
              <a:rPr sz="1650" b="1">
                <a:solidFill>
                  <a:srgbClr val="DC2626"/>
                </a:solidFill>
              </a:rPr>
              <a:t>Decision impact</a:t>
            </a:r>
          </a:p>
        </p:txBody>
      </p:sp>
      <p:sp>
        <p:nvSpPr>
          <p:cNvPr id="18" name="">
            <a:extLst xmlns:a="http://schemas.openxmlformats.org/drawingml/2006/main">
              <a:ext uri="{FF2B5EF4-FFF2-40B4-BE49-F238E27FC236}">
                <a16:creationId xmlns:a16="http://schemas.microsoft.com/office/drawing/2014/main" id="{2F47CFB3-0130-4AEC-A330-C4E58981E7F7}"/>
              </a:ext>
            </a:extLst>
          </p:cNvPr>
          <p:cNvSpPr>
            <a:spLocks xmlns:a="http://schemas.openxmlformats.org/drawingml/2006/main" noGrp="1"/>
          </p:cNvSpPr>
          <p:nvPr/>
        </p:nvSpPr>
        <p:spPr>
          <a:xfrm xmlns:a="http://schemas.openxmlformats.org/drawingml/2006/main">
            <a:off x="6381750" y="531495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This diagnostic supports the sensitivity model that removes usage_component_total_hours, notifications_per_screen_hour, and app_opens_per_screen_hour from the recommended final model.</a:t>
            </a:r>
          </a:p>
        </p:txBody>
      </p:sp>
      <p:sp>
        <p:nvSpPr>
          <p:cNvPr id="19" name="">
            <a:extLst xmlns:a="http://schemas.openxmlformats.org/drawingml/2006/main">
              <a:ext uri="{FF2B5EF4-FFF2-40B4-BE49-F238E27FC236}">
                <a16:creationId xmlns:a16="http://schemas.microsoft.com/office/drawing/2014/main" id="{60883CD5-B976-4636-B6E6-94C3621E912A}"/>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20" name="">
            <a:extLst xmlns:a="http://schemas.openxmlformats.org/drawingml/2006/main">
              <a:ext uri="{FF2B5EF4-FFF2-40B4-BE49-F238E27FC236}">
                <a16:creationId xmlns:a16="http://schemas.microsoft.com/office/drawing/2014/main" id="{406F3DD1-2CD9-48DF-B57E-871DC43E9CFA}"/>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13</a:t>
            </a:r>
          </a:p>
        </p:txBody>
      </p:sp>
    </p:spTree>
    <p:extLst>
      <p:ext uri="{BB962C8B-B14F-4D97-AF65-F5344CB8AC3E}">
        <p14:creationId xmlns:p14="http://schemas.microsoft.com/office/powerpoint/2010/main" val="16937719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61DF5A-EFD5-4A04-B945-0FDE5A76924F}"/>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B757A647-D89A-4890-ADF8-32FE3F459D2F}"/>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Modeling workflow</a:t>
            </a:r>
          </a:p>
        </p:txBody>
      </p:sp>
      <p:sp>
        <p:nvSpPr>
          <p:cNvPr id="3" name="">
            <a:extLst xmlns:a="http://schemas.openxmlformats.org/drawingml/2006/main">
              <a:ext uri="{FF2B5EF4-FFF2-40B4-BE49-F238E27FC236}">
                <a16:creationId xmlns:a16="http://schemas.microsoft.com/office/drawing/2014/main" id="{D96DF796-69E8-4099-A34F-ED7A0F3D67B8}"/>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model was selected with training-only evidence, then evaluated on the held-out test set.</a:t>
            </a:r>
          </a:p>
        </p:txBody>
      </p:sp>
      <p:sp>
        <p:nvSpPr>
          <p:cNvPr id="4" name="">
            <a:extLst xmlns:a="http://schemas.openxmlformats.org/drawingml/2006/main">
              <a:ext uri="{FF2B5EF4-FFF2-40B4-BE49-F238E27FC236}">
                <a16:creationId xmlns:a16="http://schemas.microsoft.com/office/drawing/2014/main" id="{3D16BBA1-502B-40E5-BBEB-EF0BDD34392B}"/>
              </a:ext>
            </a:extLst>
          </p:cNvPr>
          <p:cNvSpPr>
            <a:spLocks xmlns:a="http://schemas.openxmlformats.org/drawingml/2006/main" noGrp="1"/>
          </p:cNvSpPr>
          <p:nvPr/>
        </p:nvSpPr>
        <p:spPr>
          <a:xfrm xmlns:a="http://schemas.openxmlformats.org/drawingml/2006/main">
            <a:off x="714375" y="2095500"/>
            <a:ext cx="2952750" cy="10668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5F6814A-2DAF-4452-B478-B34979F726F8}"/>
              </a:ext>
            </a:extLst>
          </p:cNvPr>
          <p:cNvSpPr>
            <a:spLocks xmlns:a="http://schemas.openxmlformats.org/drawingml/2006/main" noGrp="1"/>
          </p:cNvSpPr>
          <p:nvPr/>
        </p:nvSpPr>
        <p:spPr>
          <a:xfrm xmlns:a="http://schemas.openxmlformats.org/drawingml/2006/main">
            <a:off x="885825" y="22479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563EB"/>
                </a:solidFill>
              </a:defRPr>
            </a:pPr>
            <a:r>
              <a:rPr sz="1650" b="1">
                <a:solidFill>
                  <a:srgbClr val="2563EB"/>
                </a:solidFill>
              </a:rPr>
              <a:t>1. Split</a:t>
            </a:r>
          </a:p>
        </p:txBody>
      </p:sp>
      <p:sp>
        <p:nvSpPr>
          <p:cNvPr id="6" name="">
            <a:extLst xmlns:a="http://schemas.openxmlformats.org/drawingml/2006/main">
              <a:ext uri="{FF2B5EF4-FFF2-40B4-BE49-F238E27FC236}">
                <a16:creationId xmlns:a16="http://schemas.microsoft.com/office/drawing/2014/main" id="{5EBC101C-6B13-452C-9AEC-19AEF2E80551}"/>
              </a:ext>
            </a:extLst>
          </p:cNvPr>
          <p:cNvSpPr>
            <a:spLocks xmlns:a="http://schemas.openxmlformats.org/drawingml/2006/main" noGrp="1"/>
          </p:cNvSpPr>
          <p:nvPr/>
        </p:nvSpPr>
        <p:spPr>
          <a:xfrm xmlns:a="http://schemas.openxmlformats.org/drawingml/2006/main">
            <a:off x="885825" y="2571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80/20 train-test split with stratification.</a:t>
            </a:r>
          </a:p>
        </p:txBody>
      </p:sp>
      <p:sp>
        <p:nvSpPr>
          <p:cNvPr id="7" name="">
            <a:extLst xmlns:a="http://schemas.openxmlformats.org/drawingml/2006/main">
              <a:ext uri="{FF2B5EF4-FFF2-40B4-BE49-F238E27FC236}">
                <a16:creationId xmlns:a16="http://schemas.microsoft.com/office/drawing/2014/main" id="{C57AD592-D4F5-4411-9CF6-4A1F6E9400A4}"/>
              </a:ext>
            </a:extLst>
          </p:cNvPr>
          <p:cNvSpPr>
            <a:spLocks xmlns:a="http://schemas.openxmlformats.org/drawingml/2006/main" noGrp="1"/>
          </p:cNvSpPr>
          <p:nvPr/>
        </p:nvSpPr>
        <p:spPr>
          <a:xfrm xmlns:a="http://schemas.openxmlformats.org/drawingml/2006/main">
            <a:off x="4238625" y="2095500"/>
            <a:ext cx="2952750" cy="10668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DC6BE5B6-442F-4477-A725-25A5FDFEF0A4}"/>
              </a:ext>
            </a:extLst>
          </p:cNvPr>
          <p:cNvSpPr>
            <a:spLocks xmlns:a="http://schemas.openxmlformats.org/drawingml/2006/main" noGrp="1"/>
          </p:cNvSpPr>
          <p:nvPr/>
        </p:nvSpPr>
        <p:spPr>
          <a:xfrm xmlns:a="http://schemas.openxmlformats.org/drawingml/2006/main">
            <a:off x="4410075" y="22479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563EB"/>
                </a:solidFill>
              </a:defRPr>
            </a:pPr>
            <a:r>
              <a:rPr sz="1650" b="1">
                <a:solidFill>
                  <a:srgbClr val="2563EB"/>
                </a:solidFill>
              </a:rPr>
              <a:t>2. Compare</a:t>
            </a:r>
          </a:p>
        </p:txBody>
      </p:sp>
      <p:sp>
        <p:nvSpPr>
          <p:cNvPr id="9" name="">
            <a:extLst xmlns:a="http://schemas.openxmlformats.org/drawingml/2006/main">
              <a:ext uri="{FF2B5EF4-FFF2-40B4-BE49-F238E27FC236}">
                <a16:creationId xmlns:a16="http://schemas.microsoft.com/office/drawing/2014/main" id="{23A5DF2F-BAE6-4E9F-BDF9-71B4DBE0A02C}"/>
              </a:ext>
            </a:extLst>
          </p:cNvPr>
          <p:cNvSpPr>
            <a:spLocks xmlns:a="http://schemas.openxmlformats.org/drawingml/2006/main" noGrp="1"/>
          </p:cNvSpPr>
          <p:nvPr/>
        </p:nvSpPr>
        <p:spPr>
          <a:xfrm xmlns:a="http://schemas.openxmlformats.org/drawingml/2006/main">
            <a:off x="4410075" y="2571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Use 5-fold CV inside training data.</a:t>
            </a:r>
          </a:p>
        </p:txBody>
      </p:sp>
      <p:sp>
        <p:nvSpPr>
          <p:cNvPr id="10" name="">
            <a:extLst xmlns:a="http://schemas.openxmlformats.org/drawingml/2006/main">
              <a:ext uri="{FF2B5EF4-FFF2-40B4-BE49-F238E27FC236}">
                <a16:creationId xmlns:a16="http://schemas.microsoft.com/office/drawing/2014/main" id="{135D064C-109C-46D2-B572-66CCE3B436E6}"/>
              </a:ext>
            </a:extLst>
          </p:cNvPr>
          <p:cNvSpPr>
            <a:spLocks xmlns:a="http://schemas.openxmlformats.org/drawingml/2006/main" noGrp="1"/>
          </p:cNvSpPr>
          <p:nvPr/>
        </p:nvSpPr>
        <p:spPr>
          <a:xfrm xmlns:a="http://schemas.openxmlformats.org/drawingml/2006/main">
            <a:off x="7762875" y="2095500"/>
            <a:ext cx="2952750" cy="10668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077917A-9F9B-411D-A8F0-63F66A5428B7}"/>
              </a:ext>
            </a:extLst>
          </p:cNvPr>
          <p:cNvSpPr>
            <a:spLocks xmlns:a="http://schemas.openxmlformats.org/drawingml/2006/main" noGrp="1"/>
          </p:cNvSpPr>
          <p:nvPr/>
        </p:nvSpPr>
        <p:spPr>
          <a:xfrm xmlns:a="http://schemas.openxmlformats.org/drawingml/2006/main">
            <a:off x="7934325" y="22479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563EB"/>
                </a:solidFill>
              </a:defRPr>
            </a:pPr>
            <a:r>
              <a:rPr sz="1650" b="1">
                <a:solidFill>
                  <a:srgbClr val="2563EB"/>
                </a:solidFill>
              </a:rPr>
              <a:t>3. Select</a:t>
            </a:r>
          </a:p>
        </p:txBody>
      </p:sp>
      <p:sp>
        <p:nvSpPr>
          <p:cNvPr id="12" name="">
            <a:extLst xmlns:a="http://schemas.openxmlformats.org/drawingml/2006/main">
              <a:ext uri="{FF2B5EF4-FFF2-40B4-BE49-F238E27FC236}">
                <a16:creationId xmlns:a16="http://schemas.microsoft.com/office/drawing/2014/main" id="{6EBAFBBB-3D5C-4385-9AED-54C4DE69399F}"/>
              </a:ext>
            </a:extLst>
          </p:cNvPr>
          <p:cNvSpPr>
            <a:spLocks xmlns:a="http://schemas.openxmlformats.org/drawingml/2006/main" noGrp="1"/>
          </p:cNvSpPr>
          <p:nvPr/>
        </p:nvSpPr>
        <p:spPr>
          <a:xfrm xmlns:a="http://schemas.openxmlformats.org/drawingml/2006/main">
            <a:off x="7934325" y="2571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Decision tree wins by CV F1-score.</a:t>
            </a:r>
          </a:p>
        </p:txBody>
      </p:sp>
      <p:sp>
        <p:nvSpPr>
          <p:cNvPr id="13" name="">
            <a:extLst xmlns:a="http://schemas.openxmlformats.org/drawingml/2006/main">
              <a:ext uri="{FF2B5EF4-FFF2-40B4-BE49-F238E27FC236}">
                <a16:creationId xmlns:a16="http://schemas.microsoft.com/office/drawing/2014/main" id="{77658E82-2D7D-4673-99C6-5B78659F548B}"/>
              </a:ext>
            </a:extLst>
          </p:cNvPr>
          <p:cNvSpPr>
            <a:spLocks xmlns:a="http://schemas.openxmlformats.org/drawingml/2006/main" noGrp="1"/>
          </p:cNvSpPr>
          <p:nvPr/>
        </p:nvSpPr>
        <p:spPr>
          <a:xfrm xmlns:a="http://schemas.openxmlformats.org/drawingml/2006/main">
            <a:off x="714375" y="3524250"/>
            <a:ext cx="2952750" cy="10668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B12C907-81C9-456A-82F3-B34B10C6AD17}"/>
              </a:ext>
            </a:extLst>
          </p:cNvPr>
          <p:cNvSpPr>
            <a:spLocks xmlns:a="http://schemas.openxmlformats.org/drawingml/2006/main" noGrp="1"/>
          </p:cNvSpPr>
          <p:nvPr/>
        </p:nvSpPr>
        <p:spPr>
          <a:xfrm xmlns:a="http://schemas.openxmlformats.org/drawingml/2006/main">
            <a:off x="885825" y="36766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563EB"/>
                </a:solidFill>
              </a:defRPr>
            </a:pPr>
            <a:r>
              <a:rPr sz="1650" b="1">
                <a:solidFill>
                  <a:srgbClr val="2563EB"/>
                </a:solidFill>
              </a:rPr>
              <a:t>4. Tune</a:t>
            </a:r>
          </a:p>
        </p:txBody>
      </p:sp>
      <p:sp>
        <p:nvSpPr>
          <p:cNvPr id="15" name="">
            <a:extLst xmlns:a="http://schemas.openxmlformats.org/drawingml/2006/main">
              <a:ext uri="{FF2B5EF4-FFF2-40B4-BE49-F238E27FC236}">
                <a16:creationId xmlns:a16="http://schemas.microsoft.com/office/drawing/2014/main" id="{71D6191C-E672-4467-B018-0E466D4A14BE}"/>
              </a:ext>
            </a:extLst>
          </p:cNvPr>
          <p:cNvSpPr>
            <a:spLocks xmlns:a="http://schemas.openxmlformats.org/drawingml/2006/main" noGrp="1"/>
          </p:cNvSpPr>
          <p:nvPr/>
        </p:nvSpPr>
        <p:spPr>
          <a:xfrm xmlns:a="http://schemas.openxmlformats.org/drawingml/2006/main">
            <a:off x="885825" y="40005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Grid search over depth, criterion, and leaf size.</a:t>
            </a:r>
          </a:p>
        </p:txBody>
      </p:sp>
      <p:sp>
        <p:nvSpPr>
          <p:cNvPr id="16" name="">
            <a:extLst xmlns:a="http://schemas.openxmlformats.org/drawingml/2006/main">
              <a:ext uri="{FF2B5EF4-FFF2-40B4-BE49-F238E27FC236}">
                <a16:creationId xmlns:a16="http://schemas.microsoft.com/office/drawing/2014/main" id="{FED939D2-6439-4A90-BC1C-14EE37A01FC7}"/>
              </a:ext>
            </a:extLst>
          </p:cNvPr>
          <p:cNvSpPr>
            <a:spLocks xmlns:a="http://schemas.openxmlformats.org/drawingml/2006/main" noGrp="1"/>
          </p:cNvSpPr>
          <p:nvPr/>
        </p:nvSpPr>
        <p:spPr>
          <a:xfrm xmlns:a="http://schemas.openxmlformats.org/drawingml/2006/main">
            <a:off x="4238625" y="3524250"/>
            <a:ext cx="2952750" cy="10668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A9585A6-FB8E-4566-AFBD-6B8EDA9FF277}"/>
              </a:ext>
            </a:extLst>
          </p:cNvPr>
          <p:cNvSpPr>
            <a:spLocks xmlns:a="http://schemas.openxmlformats.org/drawingml/2006/main" noGrp="1"/>
          </p:cNvSpPr>
          <p:nvPr/>
        </p:nvSpPr>
        <p:spPr>
          <a:xfrm xmlns:a="http://schemas.openxmlformats.org/drawingml/2006/main">
            <a:off x="4410075" y="36766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563EB"/>
                </a:solidFill>
              </a:defRPr>
            </a:pPr>
            <a:r>
              <a:rPr sz="1650" b="1">
                <a:solidFill>
                  <a:srgbClr val="2563EB"/>
                </a:solidFill>
              </a:rPr>
              <a:t>5. Sensitivity</a:t>
            </a:r>
          </a:p>
        </p:txBody>
      </p:sp>
      <p:sp>
        <p:nvSpPr>
          <p:cNvPr id="18" name="">
            <a:extLst xmlns:a="http://schemas.openxmlformats.org/drawingml/2006/main">
              <a:ext uri="{FF2B5EF4-FFF2-40B4-BE49-F238E27FC236}">
                <a16:creationId xmlns:a16="http://schemas.microsoft.com/office/drawing/2014/main" id="{A76463E3-33FD-4E2D-9E33-FF413EDE197F}"/>
              </a:ext>
            </a:extLst>
          </p:cNvPr>
          <p:cNvSpPr>
            <a:spLocks xmlns:a="http://schemas.openxmlformats.org/drawingml/2006/main" noGrp="1"/>
          </p:cNvSpPr>
          <p:nvPr/>
        </p:nvSpPr>
        <p:spPr>
          <a:xfrm xmlns:a="http://schemas.openxmlformats.org/drawingml/2006/main">
            <a:off x="4410075" y="40005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Remove questionable engineered features.</a:t>
            </a:r>
          </a:p>
        </p:txBody>
      </p:sp>
      <p:sp>
        <p:nvSpPr>
          <p:cNvPr id="19" name="">
            <a:extLst xmlns:a="http://schemas.openxmlformats.org/drawingml/2006/main">
              <a:ext uri="{FF2B5EF4-FFF2-40B4-BE49-F238E27FC236}">
                <a16:creationId xmlns:a16="http://schemas.microsoft.com/office/drawing/2014/main" id="{1454F1AE-1B17-499D-9DB1-68DD7C10B05E}"/>
              </a:ext>
            </a:extLst>
          </p:cNvPr>
          <p:cNvSpPr>
            <a:spLocks xmlns:a="http://schemas.openxmlformats.org/drawingml/2006/main" noGrp="1"/>
          </p:cNvSpPr>
          <p:nvPr/>
        </p:nvSpPr>
        <p:spPr>
          <a:xfrm xmlns:a="http://schemas.openxmlformats.org/drawingml/2006/main">
            <a:off x="7762875" y="3524250"/>
            <a:ext cx="2952750" cy="10668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BFD79067-67BD-493D-8B60-9CB9C9B6AAC7}"/>
              </a:ext>
            </a:extLst>
          </p:cNvPr>
          <p:cNvSpPr>
            <a:spLocks xmlns:a="http://schemas.openxmlformats.org/drawingml/2006/main" noGrp="1"/>
          </p:cNvSpPr>
          <p:nvPr/>
        </p:nvSpPr>
        <p:spPr>
          <a:xfrm xmlns:a="http://schemas.openxmlformats.org/drawingml/2006/main">
            <a:off x="7934325" y="36766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563EB"/>
                </a:solidFill>
              </a:defRPr>
            </a:pPr>
            <a:r>
              <a:rPr sz="1650" b="1">
                <a:solidFill>
                  <a:srgbClr val="2563EB"/>
                </a:solidFill>
              </a:rPr>
              <a:t>6. Report</a:t>
            </a:r>
          </a:p>
        </p:txBody>
      </p:sp>
      <p:sp>
        <p:nvSpPr>
          <p:cNvPr id="21" name="">
            <a:extLst xmlns:a="http://schemas.openxmlformats.org/drawingml/2006/main">
              <a:ext uri="{FF2B5EF4-FFF2-40B4-BE49-F238E27FC236}">
                <a16:creationId xmlns:a16="http://schemas.microsoft.com/office/drawing/2014/main" id="{E7D08522-60D8-4360-A179-CB09A5600CCA}"/>
              </a:ext>
            </a:extLst>
          </p:cNvPr>
          <p:cNvSpPr>
            <a:spLocks xmlns:a="http://schemas.openxmlformats.org/drawingml/2006/main" noGrp="1"/>
          </p:cNvSpPr>
          <p:nvPr/>
        </p:nvSpPr>
        <p:spPr>
          <a:xfrm xmlns:a="http://schemas.openxmlformats.org/drawingml/2006/main">
            <a:off x="7934325" y="40005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Use held-out test only for final metrics.</a:t>
            </a:r>
          </a:p>
        </p:txBody>
      </p:sp>
      <p:sp>
        <p:nvSpPr>
          <p:cNvPr id="22" name="">
            <a:extLst xmlns:a="http://schemas.openxmlformats.org/drawingml/2006/main">
              <a:ext uri="{FF2B5EF4-FFF2-40B4-BE49-F238E27FC236}">
                <a16:creationId xmlns:a16="http://schemas.microsoft.com/office/drawing/2014/main" id="{0869D5DB-D65F-4795-ABBE-FCE920D345A5}"/>
              </a:ext>
            </a:extLst>
          </p:cNvPr>
          <p:cNvSpPr>
            <a:spLocks xmlns:a="http://schemas.openxmlformats.org/drawingml/2006/main" noGrp="1"/>
          </p:cNvSpPr>
          <p:nvPr/>
        </p:nvSpPr>
        <p:spPr>
          <a:xfrm xmlns:a="http://schemas.openxmlformats.org/drawingml/2006/main">
            <a:off x="800100" y="5810250"/>
            <a:ext cx="9810750" cy="400050"/>
          </a:xfrm>
          <a:prstGeom xmlns:a="http://schemas.openxmlformats.org/drawingml/2006/main" prst="roundRect">
            <a:avLst>
              <a:gd name="adj" fmla="val 23810"/>
            </a:avLst>
          </a:prstGeom>
          <a:solidFill xmlns:a="http://schemas.openxmlformats.org/drawingml/2006/main">
            <a:srgbClr val="0F172A"/>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408EE4A4-06FA-4476-A84A-3F876C835C95}"/>
              </a:ext>
            </a:extLst>
          </p:cNvPr>
          <p:cNvSpPr>
            <a:spLocks xmlns:a="http://schemas.openxmlformats.org/drawingml/2006/main" noGrp="1"/>
          </p:cNvSpPr>
          <p:nvPr/>
        </p:nvSpPr>
        <p:spPr>
          <a:xfrm xmlns:a="http://schemas.openxmlformats.org/drawingml/2006/main">
            <a:off x="990600" y="5924550"/>
            <a:ext cx="942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Decision: do not use the test set to choose the model family.</a:t>
            </a:r>
          </a:p>
        </p:txBody>
      </p:sp>
      <p:sp>
        <p:nvSpPr>
          <p:cNvPr id="24" name="">
            <a:extLst xmlns:a="http://schemas.openxmlformats.org/drawingml/2006/main">
              <a:ext uri="{FF2B5EF4-FFF2-40B4-BE49-F238E27FC236}">
                <a16:creationId xmlns:a16="http://schemas.microsoft.com/office/drawing/2014/main" id="{3E8D367C-080B-416A-BDF3-711E0C3B0306}"/>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25" name="">
            <a:extLst xmlns:a="http://schemas.openxmlformats.org/drawingml/2006/main">
              <a:ext uri="{FF2B5EF4-FFF2-40B4-BE49-F238E27FC236}">
                <a16:creationId xmlns:a16="http://schemas.microsoft.com/office/drawing/2014/main" id="{F719815C-8B8E-4B75-9A16-04F604E558AC}"/>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14</a:t>
            </a:r>
          </a:p>
        </p:txBody>
      </p:sp>
    </p:spTree>
    <p:extLst>
      <p:ext uri="{BB962C8B-B14F-4D97-AF65-F5344CB8AC3E}">
        <p14:creationId xmlns:p14="http://schemas.microsoft.com/office/powerpoint/2010/main" val="2103482094"/>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FC3F62-7DE5-4828-BEC7-1CFFD91A52C2}"/>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0DB9AE40-095A-4865-B203-A9502B34E7A4}"/>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Model comparison</a:t>
            </a:r>
          </a:p>
        </p:txBody>
      </p:sp>
      <p:sp>
        <p:nvSpPr>
          <p:cNvPr id="3" name="">
            <a:extLst xmlns:a="http://schemas.openxmlformats.org/drawingml/2006/main">
              <a:ext uri="{FF2B5EF4-FFF2-40B4-BE49-F238E27FC236}">
                <a16:creationId xmlns:a16="http://schemas.microsoft.com/office/drawing/2014/main" id="{1B906C93-FAF7-4859-A767-004B0C412C9A}"/>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decision tree gives the best balance of performance and explainability.</a:t>
            </a:r>
          </a:p>
        </p:txBody>
      </p:sp>
      <p:graphicFrame>
        <p:nvGraphicFramePr>
          <p:cNvPr id="13" name="Chart"/>
          <p:cNvGraphicFramePr/>
          <p:nvPr/>
        </p:nvGraphicFramePr>
        <p:xfrm>
          <a:off xmlns:a="http://schemas.openxmlformats.org/drawingml/2006/main" x="762000" y="2095500"/>
          <a:ext xmlns:a="http://schemas.openxmlformats.org/drawingml/2006/main" cx="7239000" cy="3143250"/>
        </p:xfrm>
        <a:graphic xmlns:a="http://schemas.openxmlformats.org/drawingml/2006/main">
          <a:graphicData uri="http://schemas.openxmlformats.org/drawingml/2006/chart">
            <c:chart xmlns:r="http://schemas.openxmlformats.org/officeDocument/2006/relationships" xmlns:c="http://schemas.openxmlformats.org/drawingml/2006/chart" r:id="R35e2cf845c754669"/>
          </a:graphicData>
        </a:graphic>
      </p:graphicFrame>
      <p:sp>
        <p:nvSpPr>
          <p:cNvPr id="5" name="">
            <a:extLst xmlns:a="http://schemas.openxmlformats.org/drawingml/2006/main">
              <a:ext uri="{FF2B5EF4-FFF2-40B4-BE49-F238E27FC236}">
                <a16:creationId xmlns:a16="http://schemas.microsoft.com/office/drawing/2014/main" id="{E02034AE-7C56-4BB4-B8C6-505B044337C5}"/>
              </a:ext>
            </a:extLst>
          </p:cNvPr>
          <p:cNvSpPr>
            <a:spLocks xmlns:a="http://schemas.openxmlformats.org/drawingml/2006/main" noGrp="1"/>
          </p:cNvSpPr>
          <p:nvPr/>
        </p:nvSpPr>
        <p:spPr>
          <a:xfrm xmlns:a="http://schemas.openxmlformats.org/drawingml/2006/main">
            <a:off x="8524875" y="2333625"/>
            <a:ext cx="2476500" cy="1619250"/>
          </a:xfrm>
          <a:prstGeom xmlns:a="http://schemas.openxmlformats.org/drawingml/2006/main" prst="roundRect">
            <a:avLst>
              <a:gd name="adj" fmla="val 5882"/>
            </a:avLst>
          </a:prstGeom>
          <a:solidFill xmlns:a="http://schemas.openxmlformats.org/drawingml/2006/main">
            <a:srgbClr val="DBEAFE"/>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268BAF5-3588-4CA0-9830-DB3746891B47}"/>
              </a:ext>
            </a:extLst>
          </p:cNvPr>
          <p:cNvSpPr>
            <a:spLocks xmlns:a="http://schemas.openxmlformats.org/drawingml/2006/main" noGrp="1"/>
          </p:cNvSpPr>
          <p:nvPr/>
        </p:nvSpPr>
        <p:spPr>
          <a:xfrm xmlns:a="http://schemas.openxmlformats.org/drawingml/2006/main">
            <a:off x="8715375" y="250507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Why decision tree?</a:t>
            </a:r>
          </a:p>
        </p:txBody>
      </p:sp>
      <p:sp>
        <p:nvSpPr>
          <p:cNvPr id="7" name="">
            <a:extLst xmlns:a="http://schemas.openxmlformats.org/drawingml/2006/main">
              <a:ext uri="{FF2B5EF4-FFF2-40B4-BE49-F238E27FC236}">
                <a16:creationId xmlns:a16="http://schemas.microsoft.com/office/drawing/2014/main" id="{25E0C2AC-16F7-4B70-B218-7A288C91EE04}"/>
              </a:ext>
            </a:extLst>
          </p:cNvPr>
          <p:cNvSpPr>
            <a:spLocks xmlns:a="http://schemas.openxmlformats.org/drawingml/2006/main" noGrp="1"/>
          </p:cNvSpPr>
          <p:nvPr/>
        </p:nvSpPr>
        <p:spPr>
          <a:xfrm xmlns:a="http://schemas.openxmlformats.org/drawingml/2006/main">
            <a:off x="8715375" y="2886075"/>
            <a:ext cx="2095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It has the strongest training cross-validation F1-score, remains explainable through split rules, and is easier to defend in a classroom presentation than a neural network with similar performance.</a:t>
            </a:r>
          </a:p>
        </p:txBody>
      </p:sp>
      <p:sp>
        <p:nvSpPr>
          <p:cNvPr id="8" name="">
            <a:extLst xmlns:a="http://schemas.openxmlformats.org/drawingml/2006/main">
              <a:ext uri="{FF2B5EF4-FFF2-40B4-BE49-F238E27FC236}">
                <a16:creationId xmlns:a16="http://schemas.microsoft.com/office/drawing/2014/main" id="{B3EFD4FE-4074-446E-BB07-875DC381895B}"/>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9" name="">
            <a:extLst xmlns:a="http://schemas.openxmlformats.org/drawingml/2006/main">
              <a:ext uri="{FF2B5EF4-FFF2-40B4-BE49-F238E27FC236}">
                <a16:creationId xmlns:a16="http://schemas.microsoft.com/office/drawing/2014/main" id="{7648660C-1C1E-4EE6-BFBC-B9F39A76D89B}"/>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15</a:t>
            </a:r>
          </a:p>
        </p:txBody>
      </p:sp>
    </p:spTree>
    <p:extLst>
      <p:ext uri="{BB962C8B-B14F-4D97-AF65-F5344CB8AC3E}">
        <p14:creationId xmlns:p14="http://schemas.microsoft.com/office/powerpoint/2010/main" val="211202016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1ACCFA-0456-4173-94F0-5FEC6389CC5F}"/>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24464A57-4B92-45E0-8D61-7CEB4DB813D3}"/>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Final model metrics</a:t>
            </a:r>
          </a:p>
        </p:txBody>
      </p:sp>
      <p:sp>
        <p:nvSpPr>
          <p:cNvPr id="3" name="">
            <a:extLst xmlns:a="http://schemas.openxmlformats.org/drawingml/2006/main">
              <a:ext uri="{FF2B5EF4-FFF2-40B4-BE49-F238E27FC236}">
                <a16:creationId xmlns:a16="http://schemas.microsoft.com/office/drawing/2014/main" id="{DFAC489F-4841-4470-8EBA-9C008099E0BE}"/>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final tree performs strongly on the held-out test set.</a:t>
            </a:r>
          </a:p>
        </p:txBody>
      </p:sp>
      <p:sp>
        <p:nvSpPr>
          <p:cNvPr id="4" name="">
            <a:extLst xmlns:a="http://schemas.openxmlformats.org/drawingml/2006/main">
              <a:ext uri="{FF2B5EF4-FFF2-40B4-BE49-F238E27FC236}">
                <a16:creationId xmlns:a16="http://schemas.microsoft.com/office/drawing/2014/main" id="{C1410C97-B6C2-4164-B91F-FEC27A6E1920}"/>
              </a:ext>
            </a:extLst>
          </p:cNvPr>
          <p:cNvSpPr>
            <a:spLocks xmlns:a="http://schemas.openxmlformats.org/drawingml/2006/main" noGrp="1"/>
          </p:cNvSpPr>
          <p:nvPr/>
        </p:nvSpPr>
        <p:spPr>
          <a:xfrm xmlns:a="http://schemas.openxmlformats.org/drawingml/2006/main">
            <a:off x="666750" y="2000250"/>
            <a:ext cx="24765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90CB468-B1DC-40B7-A36F-0D330470BDCB}"/>
              </a:ext>
            </a:extLst>
          </p:cNvPr>
          <p:cNvSpPr>
            <a:spLocks xmlns:a="http://schemas.openxmlformats.org/drawingml/2006/main" noGrp="1"/>
          </p:cNvSpPr>
          <p:nvPr/>
        </p:nvSpPr>
        <p:spPr>
          <a:xfrm xmlns:a="http://schemas.openxmlformats.org/drawingml/2006/main">
            <a:off x="838200" y="21145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2563EB"/>
                </a:solidFill>
              </a:defRPr>
            </a:pPr>
            <a:r>
              <a:rPr sz="2025" b="1">
                <a:solidFill>
                  <a:srgbClr val="2563EB"/>
                </a:solidFill>
              </a:rPr>
              <a:t>93.53%</a:t>
            </a:r>
          </a:p>
        </p:txBody>
      </p:sp>
      <p:sp>
        <p:nvSpPr>
          <p:cNvPr id="6" name="">
            <a:extLst xmlns:a="http://schemas.openxmlformats.org/drawingml/2006/main">
              <a:ext uri="{FF2B5EF4-FFF2-40B4-BE49-F238E27FC236}">
                <a16:creationId xmlns:a16="http://schemas.microsoft.com/office/drawing/2014/main" id="{80D98F87-8A48-417B-A3DE-8BC72A479974}"/>
              </a:ext>
            </a:extLst>
          </p:cNvPr>
          <p:cNvSpPr>
            <a:spLocks xmlns:a="http://schemas.openxmlformats.org/drawingml/2006/main" noGrp="1"/>
          </p:cNvSpPr>
          <p:nvPr/>
        </p:nvSpPr>
        <p:spPr>
          <a:xfrm xmlns:a="http://schemas.openxmlformats.org/drawingml/2006/main">
            <a:off x="838200" y="24574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Accuracy</a:t>
            </a:r>
          </a:p>
        </p:txBody>
      </p:sp>
      <p:sp>
        <p:nvSpPr>
          <p:cNvPr id="7" name="">
            <a:extLst xmlns:a="http://schemas.openxmlformats.org/drawingml/2006/main">
              <a:ext uri="{FF2B5EF4-FFF2-40B4-BE49-F238E27FC236}">
                <a16:creationId xmlns:a16="http://schemas.microsoft.com/office/drawing/2014/main" id="{41E4BEEA-A129-4060-A87D-77FB2FB1D00C}"/>
              </a:ext>
            </a:extLst>
          </p:cNvPr>
          <p:cNvSpPr>
            <a:spLocks xmlns:a="http://schemas.openxmlformats.org/drawingml/2006/main" noGrp="1"/>
          </p:cNvSpPr>
          <p:nvPr/>
        </p:nvSpPr>
        <p:spPr>
          <a:xfrm xmlns:a="http://schemas.openxmlformats.org/drawingml/2006/main">
            <a:off x="838200" y="270510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Overall correctness</a:t>
            </a:r>
          </a:p>
        </p:txBody>
      </p:sp>
      <p:sp>
        <p:nvSpPr>
          <p:cNvPr id="8" name="">
            <a:extLst xmlns:a="http://schemas.openxmlformats.org/drawingml/2006/main">
              <a:ext uri="{FF2B5EF4-FFF2-40B4-BE49-F238E27FC236}">
                <a16:creationId xmlns:a16="http://schemas.microsoft.com/office/drawing/2014/main" id="{AD663A27-91F9-4500-A09A-3E661E12E2E9}"/>
              </a:ext>
            </a:extLst>
          </p:cNvPr>
          <p:cNvSpPr>
            <a:spLocks xmlns:a="http://schemas.openxmlformats.org/drawingml/2006/main" noGrp="1"/>
          </p:cNvSpPr>
          <p:nvPr/>
        </p:nvSpPr>
        <p:spPr>
          <a:xfrm xmlns:a="http://schemas.openxmlformats.org/drawingml/2006/main">
            <a:off x="3429000" y="2000250"/>
            <a:ext cx="24765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09E50C3-42F3-4205-9AD7-8BD956171637}"/>
              </a:ext>
            </a:extLst>
          </p:cNvPr>
          <p:cNvSpPr>
            <a:spLocks xmlns:a="http://schemas.openxmlformats.org/drawingml/2006/main" noGrp="1"/>
          </p:cNvSpPr>
          <p:nvPr/>
        </p:nvSpPr>
        <p:spPr>
          <a:xfrm xmlns:a="http://schemas.openxmlformats.org/drawingml/2006/main">
            <a:off x="3600450" y="211455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7C3AED"/>
                </a:solidFill>
              </a:defRPr>
            </a:pPr>
            <a:r>
              <a:rPr sz="2025" b="1">
                <a:solidFill>
                  <a:srgbClr val="7C3AED"/>
                </a:solidFill>
              </a:rPr>
              <a:t>95.48%</a:t>
            </a:r>
          </a:p>
        </p:txBody>
      </p:sp>
      <p:sp>
        <p:nvSpPr>
          <p:cNvPr id="10" name="">
            <a:extLst xmlns:a="http://schemas.openxmlformats.org/drawingml/2006/main">
              <a:ext uri="{FF2B5EF4-FFF2-40B4-BE49-F238E27FC236}">
                <a16:creationId xmlns:a16="http://schemas.microsoft.com/office/drawing/2014/main" id="{A92579DB-9F0A-49F2-B34A-E89EC9D9BB97}"/>
              </a:ext>
            </a:extLst>
          </p:cNvPr>
          <p:cNvSpPr>
            <a:spLocks xmlns:a="http://schemas.openxmlformats.org/drawingml/2006/main" noGrp="1"/>
          </p:cNvSpPr>
          <p:nvPr/>
        </p:nvSpPr>
        <p:spPr>
          <a:xfrm xmlns:a="http://schemas.openxmlformats.org/drawingml/2006/main">
            <a:off x="3600450" y="2457450"/>
            <a:ext cx="213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F1-score</a:t>
            </a:r>
          </a:p>
        </p:txBody>
      </p:sp>
      <p:sp>
        <p:nvSpPr>
          <p:cNvPr id="11" name="">
            <a:extLst xmlns:a="http://schemas.openxmlformats.org/drawingml/2006/main">
              <a:ext uri="{FF2B5EF4-FFF2-40B4-BE49-F238E27FC236}">
                <a16:creationId xmlns:a16="http://schemas.microsoft.com/office/drawing/2014/main" id="{A16083F6-B56A-466E-B3B6-12B13F1C4041}"/>
              </a:ext>
            </a:extLst>
          </p:cNvPr>
          <p:cNvSpPr>
            <a:spLocks xmlns:a="http://schemas.openxmlformats.org/drawingml/2006/main" noGrp="1"/>
          </p:cNvSpPr>
          <p:nvPr/>
        </p:nvSpPr>
        <p:spPr>
          <a:xfrm xmlns:a="http://schemas.openxmlformats.org/drawingml/2006/main">
            <a:off x="3600450" y="2705100"/>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Label 1 balance</a:t>
            </a:r>
          </a:p>
        </p:txBody>
      </p:sp>
      <p:sp>
        <p:nvSpPr>
          <p:cNvPr id="12" name="">
            <a:extLst xmlns:a="http://schemas.openxmlformats.org/drawingml/2006/main">
              <a:ext uri="{FF2B5EF4-FFF2-40B4-BE49-F238E27FC236}">
                <a16:creationId xmlns:a16="http://schemas.microsoft.com/office/drawing/2014/main" id="{024AFB83-1307-4709-89C3-A9EA13E81C47}"/>
              </a:ext>
            </a:extLst>
          </p:cNvPr>
          <p:cNvSpPr>
            <a:spLocks xmlns:a="http://schemas.openxmlformats.org/drawingml/2006/main" noGrp="1"/>
          </p:cNvSpPr>
          <p:nvPr/>
        </p:nvSpPr>
        <p:spPr>
          <a:xfrm xmlns:a="http://schemas.openxmlformats.org/drawingml/2006/main">
            <a:off x="6191250" y="2000250"/>
            <a:ext cx="266700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0F2DADF-85D0-42A2-A129-2AECAE6E8D84}"/>
              </a:ext>
            </a:extLst>
          </p:cNvPr>
          <p:cNvSpPr>
            <a:spLocks xmlns:a="http://schemas.openxmlformats.org/drawingml/2006/main" noGrp="1"/>
          </p:cNvSpPr>
          <p:nvPr/>
        </p:nvSpPr>
        <p:spPr>
          <a:xfrm xmlns:a="http://schemas.openxmlformats.org/drawingml/2006/main">
            <a:off x="6362700" y="21145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6A34A"/>
                </a:solidFill>
              </a:defRPr>
            </a:pPr>
            <a:r>
              <a:rPr sz="2025" b="1">
                <a:solidFill>
                  <a:srgbClr val="16A34A"/>
                </a:solidFill>
              </a:rPr>
              <a:t>91.48%</a:t>
            </a:r>
          </a:p>
        </p:txBody>
      </p:sp>
      <p:sp>
        <p:nvSpPr>
          <p:cNvPr id="14" name="">
            <a:extLst xmlns:a="http://schemas.openxmlformats.org/drawingml/2006/main">
              <a:ext uri="{FF2B5EF4-FFF2-40B4-BE49-F238E27FC236}">
                <a16:creationId xmlns:a16="http://schemas.microsoft.com/office/drawing/2014/main" id="{A1D7938A-9661-4A11-B931-59DCD9544778}"/>
              </a:ext>
            </a:extLst>
          </p:cNvPr>
          <p:cNvSpPr>
            <a:spLocks xmlns:a="http://schemas.openxmlformats.org/drawingml/2006/main" noGrp="1"/>
          </p:cNvSpPr>
          <p:nvPr/>
        </p:nvSpPr>
        <p:spPr>
          <a:xfrm xmlns:a="http://schemas.openxmlformats.org/drawingml/2006/main">
            <a:off x="6362700" y="245745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Balanced accuracy</a:t>
            </a:r>
          </a:p>
        </p:txBody>
      </p:sp>
      <p:sp>
        <p:nvSpPr>
          <p:cNvPr id="15" name="">
            <a:extLst xmlns:a="http://schemas.openxmlformats.org/drawingml/2006/main">
              <a:ext uri="{FF2B5EF4-FFF2-40B4-BE49-F238E27FC236}">
                <a16:creationId xmlns:a16="http://schemas.microsoft.com/office/drawing/2014/main" id="{B6ABAF32-FC74-4963-9F0A-A78B3B858067}"/>
              </a:ext>
            </a:extLst>
          </p:cNvPr>
          <p:cNvSpPr>
            <a:spLocks xmlns:a="http://schemas.openxmlformats.org/drawingml/2006/main" noGrp="1"/>
          </p:cNvSpPr>
          <p:nvPr/>
        </p:nvSpPr>
        <p:spPr>
          <a:xfrm xmlns:a="http://schemas.openxmlformats.org/drawingml/2006/main">
            <a:off x="6362700" y="27051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Average recall</a:t>
            </a:r>
          </a:p>
        </p:txBody>
      </p:sp>
      <p:sp>
        <p:nvSpPr>
          <p:cNvPr id="16" name="">
            <a:extLst xmlns:a="http://schemas.openxmlformats.org/drawingml/2006/main">
              <a:ext uri="{FF2B5EF4-FFF2-40B4-BE49-F238E27FC236}">
                <a16:creationId xmlns:a16="http://schemas.microsoft.com/office/drawing/2014/main" id="{B8722486-5682-44B7-ADE2-50DA4A98E894}"/>
              </a:ext>
            </a:extLst>
          </p:cNvPr>
          <p:cNvSpPr>
            <a:spLocks xmlns:a="http://schemas.openxmlformats.org/drawingml/2006/main" noGrp="1"/>
          </p:cNvSpPr>
          <p:nvPr/>
        </p:nvSpPr>
        <p:spPr>
          <a:xfrm xmlns:a="http://schemas.openxmlformats.org/drawingml/2006/main">
            <a:off x="9144000" y="2000250"/>
            <a:ext cx="2381250" cy="10477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BD8E65B1-907F-4006-8B35-E858117127D9}"/>
              </a:ext>
            </a:extLst>
          </p:cNvPr>
          <p:cNvSpPr>
            <a:spLocks xmlns:a="http://schemas.openxmlformats.org/drawingml/2006/main" noGrp="1"/>
          </p:cNvSpPr>
          <p:nvPr/>
        </p:nvSpPr>
        <p:spPr>
          <a:xfrm xmlns:a="http://schemas.openxmlformats.org/drawingml/2006/main">
            <a:off x="9315450" y="21145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0F766E"/>
                </a:solidFill>
              </a:defRPr>
            </a:pPr>
            <a:r>
              <a:rPr sz="2025" b="1">
                <a:solidFill>
                  <a:srgbClr val="0F766E"/>
                </a:solidFill>
              </a:rPr>
              <a:t>92.07%</a:t>
            </a:r>
          </a:p>
        </p:txBody>
      </p:sp>
      <p:sp>
        <p:nvSpPr>
          <p:cNvPr id="18" name="">
            <a:extLst xmlns:a="http://schemas.openxmlformats.org/drawingml/2006/main">
              <a:ext uri="{FF2B5EF4-FFF2-40B4-BE49-F238E27FC236}">
                <a16:creationId xmlns:a16="http://schemas.microsoft.com/office/drawing/2014/main" id="{AE6A18B3-16B9-4706-B96D-DA15B30D19C7}"/>
              </a:ext>
            </a:extLst>
          </p:cNvPr>
          <p:cNvSpPr>
            <a:spLocks xmlns:a="http://schemas.openxmlformats.org/drawingml/2006/main" noGrp="1"/>
          </p:cNvSpPr>
          <p:nvPr/>
        </p:nvSpPr>
        <p:spPr>
          <a:xfrm xmlns:a="http://schemas.openxmlformats.org/drawingml/2006/main">
            <a:off x="9315450" y="245745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F172A"/>
                </a:solidFill>
              </a:defRPr>
            </a:pPr>
            <a:r>
              <a:rPr sz="1125" b="1">
                <a:solidFill>
                  <a:srgbClr val="0F172A"/>
                </a:solidFill>
              </a:rPr>
              <a:t>Macro-F1</a:t>
            </a:r>
          </a:p>
        </p:txBody>
      </p:sp>
      <p:sp>
        <p:nvSpPr>
          <p:cNvPr id="19" name="">
            <a:extLst xmlns:a="http://schemas.openxmlformats.org/drawingml/2006/main">
              <a:ext uri="{FF2B5EF4-FFF2-40B4-BE49-F238E27FC236}">
                <a16:creationId xmlns:a16="http://schemas.microsoft.com/office/drawing/2014/main" id="{58E3EACC-2DAD-4116-B4C2-0049D60E1263}"/>
              </a:ext>
            </a:extLst>
          </p:cNvPr>
          <p:cNvSpPr>
            <a:spLocks xmlns:a="http://schemas.openxmlformats.org/drawingml/2006/main" noGrp="1"/>
          </p:cNvSpPr>
          <p:nvPr/>
        </p:nvSpPr>
        <p:spPr>
          <a:xfrm xmlns:a="http://schemas.openxmlformats.org/drawingml/2006/main">
            <a:off x="9315450" y="27051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75569"/>
                </a:solidFill>
              </a:defRPr>
            </a:pPr>
            <a:r>
              <a:rPr sz="900" b="0">
                <a:solidFill>
                  <a:srgbClr val="475569"/>
                </a:solidFill>
              </a:rPr>
              <a:t>Class-balanced F1</a:t>
            </a:r>
          </a:p>
        </p:txBody>
      </p:sp>
      <p:graphicFrame>
        <p:nvGraphicFramePr>
          <p:cNvPr id="45" name=""/>
          <p:cNvGraphicFramePr/>
          <p:nvPr/>
        </p:nvGraphicFramePr>
        <p:xfrm>
          <a:off xmlns:a="http://schemas.openxmlformats.org/drawingml/2006/main" x="1104900" y="3714750"/>
          <a:ext xmlns:a="http://schemas.openxmlformats.org/drawingml/2006/main" cx="4000500" cy="1571625"/>
        </p:xfrm>
        <a:graphic xmlns:a="http://schemas.openxmlformats.org/drawingml/2006/main">
          <a:graphicData uri="http://schemas.openxmlformats.org/drawingml/2006/table">
            <a:tbl>
              <a:tblPr firstRow="1" bandRow="1"/>
              <a:tblGrid>
                <a:gridCol w="1333500"/>
                <a:gridCol w="1333500"/>
                <a:gridCol w="1333500"/>
              </a:tblGrid>
              <a:tr h="523875">
                <a:tc>
                  <a:txBody>
                    <a:bodyPr/>
                    <a:lstStyle/>
                    <a:p>
                      <a:r>
                        <a:rPr sz="825" b="1">
                          <a:solidFill>
                            <a:srgbClr val="FFFFFF"/>
                          </a:solidFill>
                        </a:rPr>
                        <a:t/>
                      </a:r>
                    </a:p>
                  </a:txBody>
                  <a:tcPr marL="91440" marR="91440" marT="45720" marB="45720">
                    <a:solidFill>
                      <a:srgbClr val="0F172A"/>
                    </a:solidFill>
                  </a:tcPr>
                </a:tc>
                <a:tc>
                  <a:txBody>
                    <a:bodyPr/>
                    <a:lstStyle/>
                    <a:p>
                      <a:r>
                        <a:rPr sz="825" b="1">
                          <a:solidFill>
                            <a:srgbClr val="FFFFFF"/>
                          </a:solidFill>
                        </a:rPr>
                        <a:t>Predicted 0</a:t>
                      </a:r>
                    </a:p>
                  </a:txBody>
                  <a:tcPr marL="91440" marR="91440" marT="45720" marB="45720">
                    <a:solidFill>
                      <a:srgbClr val="0F172A"/>
                    </a:solidFill>
                  </a:tcPr>
                </a:tc>
                <a:tc>
                  <a:txBody>
                    <a:bodyPr/>
                    <a:lstStyle/>
                    <a:p>
                      <a:r>
                        <a:rPr sz="825" b="1">
                          <a:solidFill>
                            <a:srgbClr val="FFFFFF"/>
                          </a:solidFill>
                        </a:rPr>
                        <a:t>Predicted 1</a:t>
                      </a:r>
                    </a:p>
                  </a:txBody>
                  <a:tcPr marL="91440" marR="91440" marT="45720" marB="45720">
                    <a:solidFill>
                      <a:srgbClr val="0F172A"/>
                    </a:solidFill>
                  </a:tcPr>
                </a:tc>
              </a:tr>
              <a:tr h="523875">
                <a:tc>
                  <a:txBody>
                    <a:bodyPr/>
                    <a:lstStyle/>
                    <a:p>
                      <a:r>
                        <a:rPr sz="825">
                          <a:solidFill>
                            <a:srgbClr val="111827"/>
                          </a:solidFill>
                        </a:rPr>
                        <a:t>Actual 0</a:t>
                      </a:r>
                    </a:p>
                  </a:txBody>
                  <a:tcPr marL="91440" marR="91440" marT="45720" marB="45720"/>
                </a:tc>
                <a:tc>
                  <a:txBody>
                    <a:bodyPr/>
                    <a:lstStyle/>
                    <a:p>
                      <a:r>
                        <a:rPr sz="825">
                          <a:solidFill>
                            <a:srgbClr val="111827"/>
                          </a:solidFill>
                        </a:rPr>
                        <a:t>379</a:t>
                      </a:r>
                    </a:p>
                  </a:txBody>
                  <a:tcPr marL="91440" marR="91440" marT="45720" marB="45720"/>
                </a:tc>
                <a:tc>
                  <a:txBody>
                    <a:bodyPr/>
                    <a:lstStyle/>
                    <a:p>
                      <a:r>
                        <a:rPr sz="825">
                          <a:solidFill>
                            <a:srgbClr val="111827"/>
                          </a:solidFill>
                        </a:rPr>
                        <a:t>59</a:t>
                      </a:r>
                    </a:p>
                  </a:txBody>
                  <a:tcPr marL="91440" marR="91440" marT="45720" marB="45720"/>
                </a:tc>
              </a:tr>
              <a:tr h="523875">
                <a:tc>
                  <a:txBody>
                    <a:bodyPr/>
                    <a:lstStyle/>
                    <a:p>
                      <a:r>
                        <a:rPr sz="825">
                          <a:solidFill>
                            <a:srgbClr val="111827"/>
                          </a:solidFill>
                        </a:rPr>
                        <a:t>Actual 1</a:t>
                      </a:r>
                    </a:p>
                  </a:txBody>
                  <a:tcPr marL="91440" marR="91440" marT="45720" marB="45720"/>
                </a:tc>
                <a:tc>
                  <a:txBody>
                    <a:bodyPr/>
                    <a:lstStyle/>
                    <a:p>
                      <a:r>
                        <a:rPr sz="825">
                          <a:solidFill>
                            <a:srgbClr val="111827"/>
                          </a:solidFill>
                        </a:rPr>
                        <a:t>38</a:t>
                      </a:r>
                    </a:p>
                  </a:txBody>
                  <a:tcPr marL="91440" marR="91440" marT="45720" marB="45720"/>
                </a:tc>
                <a:tc>
                  <a:txBody>
                    <a:bodyPr/>
                    <a:lstStyle/>
                    <a:p>
                      <a:r>
                        <a:rPr sz="825">
                          <a:solidFill>
                            <a:srgbClr val="111827"/>
                          </a:solidFill>
                        </a:rPr>
                        <a:t>1,024</a:t>
                      </a:r>
                    </a:p>
                  </a:txBody>
                  <a:tcPr marL="91440" marR="91440" marT="45720" marB="45720"/>
                </a:tc>
              </a:tr>
            </a:tbl>
          </a:graphicData>
        </a:graphic>
      </p:graphicFrame>
      <p:sp>
        <p:nvSpPr>
          <p:cNvPr id="21" name="">
            <a:extLst xmlns:a="http://schemas.openxmlformats.org/drawingml/2006/main">
              <a:ext uri="{FF2B5EF4-FFF2-40B4-BE49-F238E27FC236}">
                <a16:creationId xmlns:a16="http://schemas.microsoft.com/office/drawing/2014/main" id="{D83F7B98-7989-4E42-A946-09FD067C16DA}"/>
              </a:ext>
            </a:extLst>
          </p:cNvPr>
          <p:cNvSpPr>
            <a:spLocks xmlns:a="http://schemas.openxmlformats.org/drawingml/2006/main" noGrp="1"/>
          </p:cNvSpPr>
          <p:nvPr/>
        </p:nvSpPr>
        <p:spPr>
          <a:xfrm xmlns:a="http://schemas.openxmlformats.org/drawingml/2006/main">
            <a:off x="6191250" y="3714750"/>
            <a:ext cx="4095750" cy="1285875"/>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FA33912-EA5B-4BAF-83D2-1D93154C43DD}"/>
              </a:ext>
            </a:extLst>
          </p:cNvPr>
          <p:cNvSpPr>
            <a:spLocks xmlns:a="http://schemas.openxmlformats.org/drawingml/2006/main" noGrp="1"/>
          </p:cNvSpPr>
          <p:nvPr/>
        </p:nvSpPr>
        <p:spPr>
          <a:xfrm xmlns:a="http://schemas.openxmlformats.org/drawingml/2006/main">
            <a:off x="6381750" y="3886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Confusion matrix interpretation</a:t>
            </a:r>
          </a:p>
        </p:txBody>
      </p:sp>
      <p:sp>
        <p:nvSpPr>
          <p:cNvPr id="23" name="">
            <a:extLst xmlns:a="http://schemas.openxmlformats.org/drawingml/2006/main">
              <a:ext uri="{FF2B5EF4-FFF2-40B4-BE49-F238E27FC236}">
                <a16:creationId xmlns:a16="http://schemas.microsoft.com/office/drawing/2014/main" id="{95937FFE-0116-45F6-B98A-824F9CCB0EEA}"/>
              </a:ext>
            </a:extLst>
          </p:cNvPr>
          <p:cNvSpPr>
            <a:spLocks xmlns:a="http://schemas.openxmlformats.org/drawingml/2006/main" noGrp="1"/>
          </p:cNvSpPr>
          <p:nvPr/>
        </p:nvSpPr>
        <p:spPr>
          <a:xfrm xmlns:a="http://schemas.openxmlformats.org/drawingml/2006/main">
            <a:off x="6381750" y="4267200"/>
            <a:ext cx="3714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final tree correctly identifies most positives and negatives. It has 1,024 true positives and 379 true negatives, with 59 false positives and 38 false negatives.</a:t>
            </a:r>
          </a:p>
        </p:txBody>
      </p:sp>
      <p:sp>
        <p:nvSpPr>
          <p:cNvPr id="24" name="">
            <a:extLst xmlns:a="http://schemas.openxmlformats.org/drawingml/2006/main">
              <a:ext uri="{FF2B5EF4-FFF2-40B4-BE49-F238E27FC236}">
                <a16:creationId xmlns:a16="http://schemas.microsoft.com/office/drawing/2014/main" id="{684A4A4F-9C6E-4B2D-8FC5-D8F9024EB44B}"/>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25" name="">
            <a:extLst xmlns:a="http://schemas.openxmlformats.org/drawingml/2006/main">
              <a:ext uri="{FF2B5EF4-FFF2-40B4-BE49-F238E27FC236}">
                <a16:creationId xmlns:a16="http://schemas.microsoft.com/office/drawing/2014/main" id="{539475D6-396B-46E0-92EA-CAFDD3900479}"/>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16</a:t>
            </a:r>
          </a:p>
        </p:txBody>
      </p:sp>
    </p:spTree>
    <p:extLst>
      <p:ext uri="{BB962C8B-B14F-4D97-AF65-F5344CB8AC3E}">
        <p14:creationId xmlns:p14="http://schemas.microsoft.com/office/powerpoint/2010/main" val="1930361355"/>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515CA7-2F38-49D1-A08B-CC9354F2F78F}"/>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AB922A22-DE10-47A8-AA8A-D16A484038DE}"/>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What the final tree actually uses</a:t>
            </a:r>
          </a:p>
        </p:txBody>
      </p:sp>
      <p:sp>
        <p:nvSpPr>
          <p:cNvPr id="3" name="">
            <a:extLst xmlns:a="http://schemas.openxmlformats.org/drawingml/2006/main">
              <a:ext uri="{FF2B5EF4-FFF2-40B4-BE49-F238E27FC236}">
                <a16:creationId xmlns:a16="http://schemas.microsoft.com/office/drawing/2014/main" id="{AA3F52CC-E9E0-4D4C-B8F2-9A0731D6434D}"/>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Feature importance supports the earlier EDA story.</a:t>
            </a:r>
          </a:p>
        </p:txBody>
      </p:sp>
      <p:graphicFrame>
        <p:nvGraphicFramePr>
          <p:cNvPr id="15" name="Chart"/>
          <p:cNvGraphicFramePr/>
          <p:nvPr/>
        </p:nvGraphicFramePr>
        <p:xfrm>
          <a:off xmlns:a="http://schemas.openxmlformats.org/drawingml/2006/main" x="1047750" y="2095500"/>
          <a:ext xmlns:a="http://schemas.openxmlformats.org/drawingml/2006/main" cx="6191250" cy="3143250"/>
        </p:xfrm>
        <a:graphic xmlns:a="http://schemas.openxmlformats.org/drawingml/2006/main">
          <a:graphicData uri="http://schemas.openxmlformats.org/drawingml/2006/chart">
            <c:chart xmlns:r="http://schemas.openxmlformats.org/officeDocument/2006/relationships" xmlns:c="http://schemas.openxmlformats.org/drawingml/2006/chart" r:id="Rdd404ddd961c41d0"/>
          </a:graphicData>
        </a:graphic>
      </p:graphicFrame>
      <p:sp>
        <p:nvSpPr>
          <p:cNvPr id="5" name="">
            <a:extLst xmlns:a="http://schemas.openxmlformats.org/drawingml/2006/main">
              <a:ext uri="{FF2B5EF4-FFF2-40B4-BE49-F238E27FC236}">
                <a16:creationId xmlns:a16="http://schemas.microsoft.com/office/drawing/2014/main" id="{7E3EB845-FB44-41C8-B7A3-F9EDE79E82B0}"/>
              </a:ext>
            </a:extLst>
          </p:cNvPr>
          <p:cNvSpPr>
            <a:spLocks xmlns:a="http://schemas.openxmlformats.org/drawingml/2006/main" noGrp="1"/>
          </p:cNvSpPr>
          <p:nvPr/>
        </p:nvSpPr>
        <p:spPr>
          <a:xfrm xmlns:a="http://schemas.openxmlformats.org/drawingml/2006/main">
            <a:off x="7810500" y="2381250"/>
            <a:ext cx="2952750" cy="16192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6E24ABD-8FA5-4F53-BDF4-88566B811FEC}"/>
              </a:ext>
            </a:extLst>
          </p:cNvPr>
          <p:cNvSpPr>
            <a:spLocks xmlns:a="http://schemas.openxmlformats.org/drawingml/2006/main" noGrp="1"/>
          </p:cNvSpPr>
          <p:nvPr/>
        </p:nvSpPr>
        <p:spPr>
          <a:xfrm xmlns:a="http://schemas.openxmlformats.org/drawingml/2006/main">
            <a:off x="8001000" y="255270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Interpretation</a:t>
            </a:r>
          </a:p>
        </p:txBody>
      </p:sp>
      <p:sp>
        <p:nvSpPr>
          <p:cNvPr id="7" name="">
            <a:extLst xmlns:a="http://schemas.openxmlformats.org/drawingml/2006/main">
              <a:ext uri="{FF2B5EF4-FFF2-40B4-BE49-F238E27FC236}">
                <a16:creationId xmlns:a16="http://schemas.microsoft.com/office/drawing/2014/main" id="{32F2007B-97FB-4AD6-950C-8210DCCC24CC}"/>
              </a:ext>
            </a:extLst>
          </p:cNvPr>
          <p:cNvSpPr>
            <a:spLocks xmlns:a="http://schemas.openxmlformats.org/drawingml/2006/main" noGrp="1"/>
          </p:cNvSpPr>
          <p:nvPr/>
        </p:nvSpPr>
        <p:spPr>
          <a:xfrm xmlns:a="http://schemas.openxmlformats.org/drawingml/2006/main">
            <a:off x="8001000" y="2933700"/>
            <a:ext cx="2571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selected final tree depends almost entirely on daily screen time and social-media hours. This agrees with the EDA and effect-size diagnostics, and it also shows that many other variables add little to the final model.</a:t>
            </a:r>
          </a:p>
        </p:txBody>
      </p:sp>
      <p:sp>
        <p:nvSpPr>
          <p:cNvPr id="8" name="">
            <a:extLst xmlns:a="http://schemas.openxmlformats.org/drawingml/2006/main">
              <a:ext uri="{FF2B5EF4-FFF2-40B4-BE49-F238E27FC236}">
                <a16:creationId xmlns:a16="http://schemas.microsoft.com/office/drawing/2014/main" id="{30113710-1DD0-4CE2-A620-F8646E309FDA}"/>
              </a:ext>
            </a:extLst>
          </p:cNvPr>
          <p:cNvSpPr>
            <a:spLocks xmlns:a="http://schemas.openxmlformats.org/drawingml/2006/main" noGrp="1"/>
          </p:cNvSpPr>
          <p:nvPr/>
        </p:nvSpPr>
        <p:spPr>
          <a:xfrm xmlns:a="http://schemas.openxmlformats.org/drawingml/2006/main">
            <a:off x="800100" y="5810250"/>
            <a:ext cx="9810750" cy="400050"/>
          </a:xfrm>
          <a:prstGeom xmlns:a="http://schemas.openxmlformats.org/drawingml/2006/main" prst="roundRect">
            <a:avLst>
              <a:gd name="adj" fmla="val 23810"/>
            </a:avLst>
          </a:prstGeom>
          <a:solidFill xmlns:a="http://schemas.openxmlformats.org/drawingml/2006/main">
            <a:srgbClr val="0F172A"/>
          </a:solidFill>
          <a:ln xmlns:a="http://schemas.openxmlformats.org/drawingml/2006/main" w="9525">
            <a:solidFill>
              <a:srgbClr val="0F17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E5017766-12C7-4FEB-A3F4-F23581306ED7}"/>
              </a:ext>
            </a:extLst>
          </p:cNvPr>
          <p:cNvSpPr>
            <a:spLocks xmlns:a="http://schemas.openxmlformats.org/drawingml/2006/main" noGrp="1"/>
          </p:cNvSpPr>
          <p:nvPr/>
        </p:nvSpPr>
        <p:spPr>
          <a:xfrm xmlns:a="http://schemas.openxmlformats.org/drawingml/2006/main">
            <a:off x="990600" y="5924550"/>
            <a:ext cx="942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Decision: explain the final model through the two strongest behavioral predictors, not a long feature list.</a:t>
            </a:r>
          </a:p>
        </p:txBody>
      </p:sp>
      <p:sp>
        <p:nvSpPr>
          <p:cNvPr id="10" name="">
            <a:extLst xmlns:a="http://schemas.openxmlformats.org/drawingml/2006/main">
              <a:ext uri="{FF2B5EF4-FFF2-40B4-BE49-F238E27FC236}">
                <a16:creationId xmlns:a16="http://schemas.microsoft.com/office/drawing/2014/main" id="{A0E35E84-D0EB-42B2-A851-906985E02070}"/>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1" name="">
            <a:extLst xmlns:a="http://schemas.openxmlformats.org/drawingml/2006/main">
              <a:ext uri="{FF2B5EF4-FFF2-40B4-BE49-F238E27FC236}">
                <a16:creationId xmlns:a16="http://schemas.microsoft.com/office/drawing/2014/main" id="{3FBB2861-5CB3-42EE-A2B6-0823E46AD833}"/>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17</a:t>
            </a:r>
          </a:p>
        </p:txBody>
      </p:sp>
    </p:spTree>
    <p:extLst>
      <p:ext uri="{BB962C8B-B14F-4D97-AF65-F5344CB8AC3E}">
        <p14:creationId xmlns:p14="http://schemas.microsoft.com/office/powerpoint/2010/main" val="21269626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A20379-204F-4114-9F54-793613B2D5AC}"/>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92CDFF9A-DDE9-4A28-8DB2-3B0E11207E7D}"/>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Critical interpretation caveat</a:t>
            </a:r>
          </a:p>
        </p:txBody>
      </p:sp>
      <p:sp>
        <p:nvSpPr>
          <p:cNvPr id="3" name="">
            <a:extLst xmlns:a="http://schemas.openxmlformats.org/drawingml/2006/main">
              <a:ext uri="{FF2B5EF4-FFF2-40B4-BE49-F238E27FC236}">
                <a16:creationId xmlns:a16="http://schemas.microsoft.com/office/drawing/2014/main" id="{3A7A13B3-0078-40B1-A0D9-60AC4FBEE161}"/>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The model reconstructs a rule-defined target; it is not a clinical diagnosis tool.</a:t>
            </a:r>
          </a:p>
        </p:txBody>
      </p:sp>
      <p:sp>
        <p:nvSpPr>
          <p:cNvPr id="4" name="">
            <a:extLst xmlns:a="http://schemas.openxmlformats.org/drawingml/2006/main">
              <a:ext uri="{FF2B5EF4-FFF2-40B4-BE49-F238E27FC236}">
                <a16:creationId xmlns:a16="http://schemas.microsoft.com/office/drawing/2014/main" id="{6566409C-6FC7-4391-8680-23F750EFF64E}"/>
              </a:ext>
            </a:extLst>
          </p:cNvPr>
          <p:cNvSpPr>
            <a:spLocks xmlns:a="http://schemas.openxmlformats.org/drawingml/2006/main" noGrp="1"/>
          </p:cNvSpPr>
          <p:nvPr/>
        </p:nvSpPr>
        <p:spPr>
          <a:xfrm xmlns:a="http://schemas.openxmlformats.org/drawingml/2006/main">
            <a:off x="762000" y="2095500"/>
            <a:ext cx="4286250" cy="1571625"/>
          </a:xfrm>
          <a:prstGeom xmlns:a="http://schemas.openxmlformats.org/drawingml/2006/main" prst="roundRect">
            <a:avLst>
              <a:gd name="adj" fmla="val 6061"/>
            </a:avLst>
          </a:prstGeom>
          <a:solidFill xmlns:a="http://schemas.openxmlformats.org/drawingml/2006/main">
            <a:srgbClr val="DCFCE7"/>
          </a:solidFill>
          <a:ln xmlns:a="http://schemas.openxmlformats.org/drawingml/2006/main" w="9525">
            <a:solidFill>
              <a:srgbClr val="86EFA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C9A91F6-BF7E-45B2-A5FC-2FE0F70C2B27}"/>
              </a:ext>
            </a:extLst>
          </p:cNvPr>
          <p:cNvSpPr>
            <a:spLocks xmlns:a="http://schemas.openxmlformats.org/drawingml/2006/main" noGrp="1"/>
          </p:cNvSpPr>
          <p:nvPr/>
        </p:nvSpPr>
        <p:spPr>
          <a:xfrm xmlns:a="http://schemas.openxmlformats.org/drawingml/2006/main">
            <a:off x="952500" y="2266950"/>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What the metrics do show</a:t>
            </a:r>
          </a:p>
        </p:txBody>
      </p:sp>
      <p:sp>
        <p:nvSpPr>
          <p:cNvPr id="6" name="">
            <a:extLst xmlns:a="http://schemas.openxmlformats.org/drawingml/2006/main">
              <a:ext uri="{FF2B5EF4-FFF2-40B4-BE49-F238E27FC236}">
                <a16:creationId xmlns:a16="http://schemas.microsoft.com/office/drawing/2014/main" id="{2BC420F9-B5B1-4ED8-8DC2-95AA9936481E}"/>
              </a:ext>
            </a:extLst>
          </p:cNvPr>
          <p:cNvSpPr>
            <a:spLocks xmlns:a="http://schemas.openxmlformats.org/drawingml/2006/main" noGrp="1"/>
          </p:cNvSpPr>
          <p:nvPr/>
        </p:nvSpPr>
        <p:spPr>
          <a:xfrm xmlns:a="http://schemas.openxmlformats.org/drawingml/2006/main">
            <a:off x="952500" y="2647950"/>
            <a:ext cx="39052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model can use behavioral variables, especially screen time and social-media hours, to reconstruct the binary addicted_label in this dataset with high accuracy and F1-score.</a:t>
            </a:r>
          </a:p>
        </p:txBody>
      </p:sp>
      <p:sp>
        <p:nvSpPr>
          <p:cNvPr id="7" name="">
            <a:extLst xmlns:a="http://schemas.openxmlformats.org/drawingml/2006/main">
              <a:ext uri="{FF2B5EF4-FFF2-40B4-BE49-F238E27FC236}">
                <a16:creationId xmlns:a16="http://schemas.microsoft.com/office/drawing/2014/main" id="{F797C2C5-DCBF-4CC8-8C89-2A28E1FC473A}"/>
              </a:ext>
            </a:extLst>
          </p:cNvPr>
          <p:cNvSpPr>
            <a:spLocks xmlns:a="http://schemas.openxmlformats.org/drawingml/2006/main" noGrp="1"/>
          </p:cNvSpPr>
          <p:nvPr/>
        </p:nvSpPr>
        <p:spPr>
          <a:xfrm xmlns:a="http://schemas.openxmlformats.org/drawingml/2006/main">
            <a:off x="762000" y="3952875"/>
            <a:ext cx="4286250" cy="1476375"/>
          </a:xfrm>
          <a:prstGeom xmlns:a="http://schemas.openxmlformats.org/drawingml/2006/main" prst="roundRect">
            <a:avLst>
              <a:gd name="adj" fmla="val 6452"/>
            </a:avLst>
          </a:prstGeom>
          <a:solidFill xmlns:a="http://schemas.openxmlformats.org/drawingml/2006/main">
            <a:srgbClr val="FEE2E2"/>
          </a:solidFill>
          <a:ln xmlns:a="http://schemas.openxmlformats.org/drawingml/2006/main" w="9525">
            <a:solidFill>
              <a:srgbClr val="FECAC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EE7A29B-055B-4524-9104-F2E1C225985F}"/>
              </a:ext>
            </a:extLst>
          </p:cNvPr>
          <p:cNvSpPr>
            <a:spLocks xmlns:a="http://schemas.openxmlformats.org/drawingml/2006/main" noGrp="1"/>
          </p:cNvSpPr>
          <p:nvPr/>
        </p:nvSpPr>
        <p:spPr>
          <a:xfrm xmlns:a="http://schemas.openxmlformats.org/drawingml/2006/main">
            <a:off x="952500" y="412432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2626"/>
                </a:solidFill>
              </a:defRPr>
            </a:pPr>
            <a:r>
              <a:rPr sz="1650" b="1">
                <a:solidFill>
                  <a:srgbClr val="DC2626"/>
                </a:solidFill>
              </a:rPr>
              <a:t>What the metrics do not show</a:t>
            </a:r>
          </a:p>
        </p:txBody>
      </p:sp>
      <p:sp>
        <p:nvSpPr>
          <p:cNvPr id="9" name="">
            <a:extLst xmlns:a="http://schemas.openxmlformats.org/drawingml/2006/main">
              <a:ext uri="{FF2B5EF4-FFF2-40B4-BE49-F238E27FC236}">
                <a16:creationId xmlns:a16="http://schemas.microsoft.com/office/drawing/2014/main" id="{A4627619-AC2A-4258-94E0-7F0478EA1C34}"/>
              </a:ext>
            </a:extLst>
          </p:cNvPr>
          <p:cNvSpPr>
            <a:spLocks xmlns:a="http://schemas.openxmlformats.org/drawingml/2006/main" noGrp="1"/>
          </p:cNvSpPr>
          <p:nvPr/>
        </p:nvSpPr>
        <p:spPr>
          <a:xfrm xmlns:a="http://schemas.openxmlformats.org/drawingml/2006/main">
            <a:off x="952500" y="4505325"/>
            <a:ext cx="3905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metrics do not prove that the variables cause addiction, and they do not validate the model for real-world clinical diagnosis. The target is derived from addiction_level, so the task is partly rule reconstruction.</a:t>
            </a:r>
          </a:p>
        </p:txBody>
      </p:sp>
      <p:sp>
        <p:nvSpPr>
          <p:cNvPr id="10" name="">
            <a:extLst xmlns:a="http://schemas.openxmlformats.org/drawingml/2006/main">
              <a:ext uri="{FF2B5EF4-FFF2-40B4-BE49-F238E27FC236}">
                <a16:creationId xmlns:a16="http://schemas.microsoft.com/office/drawing/2014/main" id="{2C6A3CFA-794F-4240-B6BE-BF1BA3CF5C58}"/>
              </a:ext>
            </a:extLst>
          </p:cNvPr>
          <p:cNvSpPr>
            <a:spLocks xmlns:a="http://schemas.openxmlformats.org/drawingml/2006/main" noGrp="1"/>
          </p:cNvSpPr>
          <p:nvPr/>
        </p:nvSpPr>
        <p:spPr>
          <a:xfrm xmlns:a="http://schemas.openxmlformats.org/drawingml/2006/main">
            <a:off x="5810250" y="2714625"/>
            <a:ext cx="4286250" cy="1524000"/>
          </a:xfrm>
          <a:prstGeom xmlns:a="http://schemas.openxmlformats.org/drawingml/2006/main" prst="roundRect">
            <a:avLst>
              <a:gd name="adj" fmla="val 6250"/>
            </a:avLst>
          </a:prstGeom>
          <a:solidFill xmlns:a="http://schemas.openxmlformats.org/drawingml/2006/main">
            <a:srgbClr val="FEF3C7"/>
          </a:solidFill>
          <a:ln xmlns:a="http://schemas.openxmlformats.org/drawingml/2006/main" w="9525">
            <a:solidFill>
              <a:srgbClr val="F59E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D4D0699-6440-4605-895F-4445D18D0732}"/>
              </a:ext>
            </a:extLst>
          </p:cNvPr>
          <p:cNvSpPr>
            <a:spLocks xmlns:a="http://schemas.openxmlformats.org/drawingml/2006/main" noGrp="1"/>
          </p:cNvSpPr>
          <p:nvPr/>
        </p:nvSpPr>
        <p:spPr>
          <a:xfrm xmlns:a="http://schemas.openxmlformats.org/drawingml/2006/main">
            <a:off x="6000750" y="28860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Reporting boundary</a:t>
            </a:r>
          </a:p>
        </p:txBody>
      </p:sp>
      <p:sp>
        <p:nvSpPr>
          <p:cNvPr id="12" name="">
            <a:extLst xmlns:a="http://schemas.openxmlformats.org/drawingml/2006/main">
              <a:ext uri="{FF2B5EF4-FFF2-40B4-BE49-F238E27FC236}">
                <a16:creationId xmlns:a16="http://schemas.microsoft.com/office/drawing/2014/main" id="{D339026C-A04C-4E9A-B0EA-8647DF3526D9}"/>
              </a:ext>
            </a:extLst>
          </p:cNvPr>
          <p:cNvSpPr>
            <a:spLocks xmlns:a="http://schemas.openxmlformats.org/drawingml/2006/main" noGrp="1"/>
          </p:cNvSpPr>
          <p:nvPr/>
        </p:nvSpPr>
        <p:spPr>
          <a:xfrm xmlns:a="http://schemas.openxmlformats.org/drawingml/2006/main">
            <a:off x="6000750" y="3267075"/>
            <a:ext cx="3905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model predicts the dataset target well using non-leaking behavioral features. It should not be described as a clinical smartphone-addiction diagnosis model.</a:t>
            </a:r>
          </a:p>
        </p:txBody>
      </p:sp>
      <p:sp>
        <p:nvSpPr>
          <p:cNvPr id="13" name="">
            <a:extLst xmlns:a="http://schemas.openxmlformats.org/drawingml/2006/main">
              <a:ext uri="{FF2B5EF4-FFF2-40B4-BE49-F238E27FC236}">
                <a16:creationId xmlns:a16="http://schemas.microsoft.com/office/drawing/2014/main" id="{44423170-3BD0-46B5-A6CE-CDF8EF061625}"/>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4" name="">
            <a:extLst xmlns:a="http://schemas.openxmlformats.org/drawingml/2006/main">
              <a:ext uri="{FF2B5EF4-FFF2-40B4-BE49-F238E27FC236}">
                <a16:creationId xmlns:a16="http://schemas.microsoft.com/office/drawing/2014/main" id="{ECC8F61B-FFE4-4843-94EF-E9CA85F8AC88}"/>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18</a:t>
            </a:r>
          </a:p>
        </p:txBody>
      </p:sp>
    </p:spTree>
    <p:extLst>
      <p:ext uri="{BB962C8B-B14F-4D97-AF65-F5344CB8AC3E}">
        <p14:creationId xmlns:p14="http://schemas.microsoft.com/office/powerpoint/2010/main" val="883018354"/>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BA166E-34C5-4404-A3E7-14F32D0A55D9}"/>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1B378641-0440-416E-9168-84259A24E596}"/>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Final decision log</a:t>
            </a:r>
          </a:p>
        </p:txBody>
      </p:sp>
      <p:sp>
        <p:nvSpPr>
          <p:cNvPr id="3" name="">
            <a:extLst xmlns:a="http://schemas.openxmlformats.org/drawingml/2006/main">
              <a:ext uri="{FF2B5EF4-FFF2-40B4-BE49-F238E27FC236}">
                <a16:creationId xmlns:a16="http://schemas.microsoft.com/office/drawing/2014/main" id="{0CDED518-05D4-44DD-BC47-843A4A4B13D7}"/>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Defensible analytical decisions and the evidence behind them.</a:t>
            </a:r>
          </a:p>
        </p:txBody>
      </p:sp>
      <p:graphicFrame>
        <p:nvGraphicFramePr>
          <p:cNvPr id="10" name=""/>
          <p:cNvGraphicFramePr/>
          <p:nvPr/>
        </p:nvGraphicFramePr>
        <p:xfrm>
          <a:off xmlns:a="http://schemas.openxmlformats.org/drawingml/2006/main" x="619125" y="1952625"/>
          <a:ext xmlns:a="http://schemas.openxmlformats.org/drawingml/2006/main" cx="10668000" cy="3476625"/>
        </p:xfrm>
        <a:graphic xmlns:a="http://schemas.openxmlformats.org/drawingml/2006/main">
          <a:graphicData uri="http://schemas.openxmlformats.org/drawingml/2006/table">
            <a:tbl>
              <a:tblPr firstRow="1" bandRow="1"/>
              <a:tblGrid>
                <a:gridCol w="3556000"/>
                <a:gridCol w="3556000"/>
                <a:gridCol w="3556000"/>
              </a:tblGrid>
              <a:tr h="434578">
                <a:tc>
                  <a:txBody>
                    <a:bodyPr/>
                    <a:lstStyle/>
                    <a:p>
                      <a:r>
                        <a:rPr sz="825" b="1">
                          <a:solidFill>
                            <a:srgbClr val="FFFFFF"/>
                          </a:solidFill>
                        </a:rPr>
                        <a:t>Decision</a:t>
                      </a:r>
                    </a:p>
                  </a:txBody>
                  <a:tcPr marL="91440" marR="91440" marT="45720" marB="45720">
                    <a:solidFill>
                      <a:srgbClr val="0F172A"/>
                    </a:solidFill>
                  </a:tcPr>
                </a:tc>
                <a:tc>
                  <a:txBody>
                    <a:bodyPr/>
                    <a:lstStyle/>
                    <a:p>
                      <a:r>
                        <a:rPr sz="825" b="1">
                          <a:solidFill>
                            <a:srgbClr val="FFFFFF"/>
                          </a:solidFill>
                        </a:rPr>
                        <a:t>Evidence</a:t>
                      </a:r>
                    </a:p>
                  </a:txBody>
                  <a:tcPr marL="91440" marR="91440" marT="45720" marB="45720">
                    <a:solidFill>
                      <a:srgbClr val="0F172A"/>
                    </a:solidFill>
                  </a:tcPr>
                </a:tc>
                <a:tc>
                  <a:txBody>
                    <a:bodyPr/>
                    <a:lstStyle/>
                    <a:p>
                      <a:r>
                        <a:rPr sz="825" b="1">
                          <a:solidFill>
                            <a:srgbClr val="FFFFFF"/>
                          </a:solidFill>
                        </a:rPr>
                        <a:t>Impact</a:t>
                      </a:r>
                    </a:p>
                  </a:txBody>
                  <a:tcPr marL="91440" marR="91440" marT="45720" marB="45720">
                    <a:solidFill>
                      <a:srgbClr val="0F172A"/>
                    </a:solidFill>
                  </a:tcPr>
                </a:tc>
              </a:tr>
              <a:tr h="434578">
                <a:tc>
                  <a:txBody>
                    <a:bodyPr/>
                    <a:lstStyle/>
                    <a:p>
                      <a:r>
                        <a:rPr sz="825">
                          <a:solidFill>
                            <a:srgbClr val="111827"/>
                          </a:solidFill>
                        </a:rPr>
                        <a:t>Correct CSV loading</a:t>
                      </a:r>
                    </a:p>
                  </a:txBody>
                  <a:tcPr marL="91440" marR="91440" marT="45720" marB="45720"/>
                </a:tc>
                <a:tc>
                  <a:txBody>
                    <a:bodyPr/>
                    <a:lstStyle/>
                    <a:p>
                      <a:r>
                        <a:rPr sz="825">
                          <a:solidFill>
                            <a:srgbClr val="111827"/>
                          </a:solidFill>
                        </a:rPr>
                        <a:t>None has 819 real rows</a:t>
                      </a:r>
                    </a:p>
                  </a:txBody>
                  <a:tcPr marL="91440" marR="91440" marT="45720" marB="45720"/>
                </a:tc>
                <a:tc>
                  <a:txBody>
                    <a:bodyPr/>
                    <a:lstStyle/>
                    <a:p>
                      <a:r>
                        <a:rPr sz="825">
                          <a:solidFill>
                            <a:srgbClr val="111827"/>
                          </a:solidFill>
                        </a:rPr>
                        <a:t>No fake missingness narrative</a:t>
                      </a:r>
                    </a:p>
                  </a:txBody>
                  <a:tcPr marL="91440" marR="91440" marT="45720" marB="45720"/>
                </a:tc>
              </a:tr>
              <a:tr h="434578">
                <a:tc>
                  <a:txBody>
                    <a:bodyPr/>
                    <a:lstStyle/>
                    <a:p>
                      <a:r>
                        <a:rPr sz="825">
                          <a:solidFill>
                            <a:srgbClr val="111827"/>
                          </a:solidFill>
                        </a:rPr>
                        <a:t>Keep all rows</a:t>
                      </a:r>
                    </a:p>
                  </a:txBody>
                  <a:tcPr marL="91440" marR="91440" marT="45720" marB="45720"/>
                </a:tc>
                <a:tc>
                  <a:txBody>
                    <a:bodyPr/>
                    <a:lstStyle/>
                    <a:p>
                      <a:r>
                        <a:rPr sz="825">
                          <a:solidFill>
                            <a:srgbClr val="111827"/>
                          </a:solidFill>
                        </a:rPr>
                        <a:t>0 duplicates and 0 true missing values</a:t>
                      </a:r>
                    </a:p>
                  </a:txBody>
                  <a:tcPr marL="91440" marR="91440" marT="45720" marB="45720"/>
                </a:tc>
                <a:tc>
                  <a:txBody>
                    <a:bodyPr/>
                    <a:lstStyle/>
                    <a:p>
                      <a:r>
                        <a:rPr sz="825">
                          <a:solidFill>
                            <a:srgbClr val="111827"/>
                          </a:solidFill>
                        </a:rPr>
                        <a:t>Full 7,500-row dataset retained</a:t>
                      </a:r>
                    </a:p>
                  </a:txBody>
                  <a:tcPr marL="91440" marR="91440" marT="45720" marB="45720"/>
                </a:tc>
              </a:tr>
              <a:tr h="434578">
                <a:tc>
                  <a:txBody>
                    <a:bodyPr/>
                    <a:lstStyle/>
                    <a:p>
                      <a:r>
                        <a:rPr sz="825">
                          <a:solidFill>
                            <a:srgbClr val="111827"/>
                          </a:solidFill>
                        </a:rPr>
                        <a:t>Exclude addiction_level</a:t>
                      </a:r>
                    </a:p>
                  </a:txBody>
                  <a:tcPr marL="91440" marR="91440" marT="45720" marB="45720"/>
                </a:tc>
                <a:tc>
                  <a:txBody>
                    <a:bodyPr/>
                    <a:lstStyle/>
                    <a:p>
                      <a:r>
                        <a:rPr sz="825">
                          <a:solidFill>
                            <a:srgbClr val="111827"/>
                          </a:solidFill>
                        </a:rPr>
                        <a:t>Deterministic mapping to target</a:t>
                      </a:r>
                    </a:p>
                  </a:txBody>
                  <a:tcPr marL="91440" marR="91440" marT="45720" marB="45720"/>
                </a:tc>
                <a:tc>
                  <a:txBody>
                    <a:bodyPr/>
                    <a:lstStyle/>
                    <a:p>
                      <a:r>
                        <a:rPr sz="825">
                          <a:solidFill>
                            <a:srgbClr val="111827"/>
                          </a:solidFill>
                        </a:rPr>
                        <a:t>Prevents leakage</a:t>
                      </a:r>
                    </a:p>
                  </a:txBody>
                  <a:tcPr marL="91440" marR="91440" marT="45720" marB="45720"/>
                </a:tc>
              </a:tr>
              <a:tr h="434578">
                <a:tc>
                  <a:txBody>
                    <a:bodyPr/>
                    <a:lstStyle/>
                    <a:p>
                      <a:r>
                        <a:rPr sz="825">
                          <a:solidFill>
                            <a:srgbClr val="111827"/>
                          </a:solidFill>
                        </a:rPr>
                        <a:t>Exclude gender from X</a:t>
                      </a:r>
                    </a:p>
                  </a:txBody>
                  <a:tcPr marL="91440" marR="91440" marT="45720" marB="45720"/>
                </a:tc>
                <a:tc>
                  <a:txBody>
                    <a:bodyPr/>
                    <a:lstStyle/>
                    <a:p>
                      <a:r>
                        <a:rPr sz="825">
                          <a:solidFill>
                            <a:srgbClr val="111827"/>
                          </a:solidFill>
                        </a:rPr>
                        <a:t>Cramer's V = 0.0232</a:t>
                      </a:r>
                    </a:p>
                  </a:txBody>
                  <a:tcPr marL="91440" marR="91440" marT="45720" marB="45720"/>
                </a:tc>
                <a:tc>
                  <a:txBody>
                    <a:bodyPr/>
                    <a:lstStyle/>
                    <a:p>
                      <a:r>
                        <a:rPr sz="825">
                          <a:solidFill>
                            <a:srgbClr val="111827"/>
                          </a:solidFill>
                        </a:rPr>
                        <a:t>Avoids weak demographic modeling</a:t>
                      </a:r>
                    </a:p>
                  </a:txBody>
                  <a:tcPr marL="91440" marR="91440" marT="45720" marB="45720"/>
                </a:tc>
              </a:tr>
              <a:tr h="434578">
                <a:tc>
                  <a:txBody>
                    <a:bodyPr/>
                    <a:lstStyle/>
                    <a:p>
                      <a:r>
                        <a:rPr sz="825">
                          <a:solidFill>
                            <a:srgbClr val="111827"/>
                          </a:solidFill>
                        </a:rPr>
                        <a:t>Use effect sizes</a:t>
                      </a:r>
                    </a:p>
                  </a:txBody>
                  <a:tcPr marL="91440" marR="91440" marT="45720" marB="45720"/>
                </a:tc>
                <a:tc>
                  <a:txBody>
                    <a:bodyPr/>
                    <a:lstStyle/>
                    <a:p>
                      <a:r>
                        <a:rPr sz="825">
                          <a:solidFill>
                            <a:srgbClr val="111827"/>
                          </a:solidFill>
                        </a:rPr>
                        <a:t>Only three variables have practical signal</a:t>
                      </a:r>
                    </a:p>
                  </a:txBody>
                  <a:tcPr marL="91440" marR="91440" marT="45720" marB="45720"/>
                </a:tc>
                <a:tc>
                  <a:txBody>
                    <a:bodyPr/>
                    <a:lstStyle/>
                    <a:p>
                      <a:r>
                        <a:rPr sz="825">
                          <a:solidFill>
                            <a:srgbClr val="111827"/>
                          </a:solidFill>
                        </a:rPr>
                        <a:t>Avoids overclaiming</a:t>
                      </a:r>
                    </a:p>
                  </a:txBody>
                  <a:tcPr marL="91440" marR="91440" marT="45720" marB="45720"/>
                </a:tc>
              </a:tr>
              <a:tr h="434578">
                <a:tc>
                  <a:txBody>
                    <a:bodyPr/>
                    <a:lstStyle/>
                    <a:p>
                      <a:r>
                        <a:rPr sz="825">
                          <a:solidFill>
                            <a:srgbClr val="111827"/>
                          </a:solidFill>
                        </a:rPr>
                        <a:t>Drop ratio features</a:t>
                      </a:r>
                    </a:p>
                  </a:txBody>
                  <a:tcPr marL="91440" marR="91440" marT="45720" marB="45720"/>
                </a:tc>
                <a:tc>
                  <a:txBody>
                    <a:bodyPr/>
                    <a:lstStyle/>
                    <a:p>
                      <a:r>
                        <a:rPr sz="825">
                          <a:solidFill>
                            <a:srgbClr val="111827"/>
                          </a:solidFill>
                        </a:rPr>
                        <a:t>60.71% component-hour inconsistency</a:t>
                      </a:r>
                    </a:p>
                  </a:txBody>
                  <a:tcPr marL="91440" marR="91440" marT="45720" marB="45720"/>
                </a:tc>
                <a:tc>
                  <a:txBody>
                    <a:bodyPr/>
                    <a:lstStyle/>
                    <a:p>
                      <a:r>
                        <a:rPr sz="825">
                          <a:solidFill>
                            <a:srgbClr val="111827"/>
                          </a:solidFill>
                        </a:rPr>
                        <a:t>Final model is simpler</a:t>
                      </a:r>
                    </a:p>
                  </a:txBody>
                  <a:tcPr marL="91440" marR="91440" marT="45720" marB="45720"/>
                </a:tc>
              </a:tr>
              <a:tr h="434578">
                <a:tc>
                  <a:txBody>
                    <a:bodyPr/>
                    <a:lstStyle/>
                    <a:p>
                      <a:r>
                        <a:rPr sz="825">
                          <a:solidFill>
                            <a:srgbClr val="111827"/>
                          </a:solidFill>
                        </a:rPr>
                        <a:t>Frame metrics honestly</a:t>
                      </a:r>
                    </a:p>
                  </a:txBody>
                  <a:tcPr marL="91440" marR="91440" marT="45720" marB="45720"/>
                </a:tc>
                <a:tc>
                  <a:txBody>
                    <a:bodyPr/>
                    <a:lstStyle/>
                    <a:p>
                      <a:r>
                        <a:rPr sz="825">
                          <a:solidFill>
                            <a:srgbClr val="111827"/>
                          </a:solidFill>
                        </a:rPr>
                        <a:t>Target is rule-defined</a:t>
                      </a:r>
                    </a:p>
                  </a:txBody>
                  <a:tcPr marL="91440" marR="91440" marT="45720" marB="45720"/>
                </a:tc>
                <a:tc>
                  <a:txBody>
                    <a:bodyPr/>
                    <a:lstStyle/>
                    <a:p>
                      <a:r>
                        <a:rPr sz="825">
                          <a:solidFill>
                            <a:srgbClr val="111827"/>
                          </a:solidFill>
                        </a:rPr>
                        <a:t>No clinical claim</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1F219765-CDE1-462C-9925-4CFFA031D181}"/>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6" name="">
            <a:extLst xmlns:a="http://schemas.openxmlformats.org/drawingml/2006/main">
              <a:ext uri="{FF2B5EF4-FFF2-40B4-BE49-F238E27FC236}">
                <a16:creationId xmlns:a16="http://schemas.microsoft.com/office/drawing/2014/main" id="{B84EDC15-375F-4060-BAE2-505C57F17060}"/>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19</a:t>
            </a:r>
          </a:p>
        </p:txBody>
      </p:sp>
    </p:spTree>
    <p:extLst>
      <p:ext uri="{BB962C8B-B14F-4D97-AF65-F5344CB8AC3E}">
        <p14:creationId xmlns:p14="http://schemas.microsoft.com/office/powerpoint/2010/main" val="7584311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FB5028-EA6C-442A-9468-58D03BDF4CD4}"/>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1EAA4F76-E98D-4C12-A56A-0A1FA65F4ABB}"/>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Final summary by analysis area</a:t>
            </a:r>
          </a:p>
        </p:txBody>
      </p:sp>
      <p:sp>
        <p:nvSpPr>
          <p:cNvPr id="3" name="">
            <a:extLst xmlns:a="http://schemas.openxmlformats.org/drawingml/2006/main">
              <a:ext uri="{FF2B5EF4-FFF2-40B4-BE49-F238E27FC236}">
                <a16:creationId xmlns:a16="http://schemas.microsoft.com/office/drawing/2014/main" id="{4148A779-7E71-44FC-9432-E9330FD8A670}"/>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Each section contributes one defensible conclusion.</a:t>
            </a:r>
          </a:p>
        </p:txBody>
      </p:sp>
      <p:sp>
        <p:nvSpPr>
          <p:cNvPr id="4" name="">
            <a:extLst xmlns:a="http://schemas.openxmlformats.org/drawingml/2006/main">
              <a:ext uri="{FF2B5EF4-FFF2-40B4-BE49-F238E27FC236}">
                <a16:creationId xmlns:a16="http://schemas.microsoft.com/office/drawing/2014/main" id="{F73FDEBB-4D8D-488F-969B-B4CED44C2B68}"/>
              </a:ext>
            </a:extLst>
          </p:cNvPr>
          <p:cNvSpPr>
            <a:spLocks xmlns:a="http://schemas.openxmlformats.org/drawingml/2006/main" noGrp="1"/>
          </p:cNvSpPr>
          <p:nvPr/>
        </p:nvSpPr>
        <p:spPr>
          <a:xfrm xmlns:a="http://schemas.openxmlformats.org/drawingml/2006/main">
            <a:off x="666750" y="2047875"/>
            <a:ext cx="4953000" cy="1428750"/>
          </a:xfrm>
          <a:prstGeom xmlns:a="http://schemas.openxmlformats.org/drawingml/2006/main" prst="roundRect">
            <a:avLst>
              <a:gd name="adj" fmla="val 6667"/>
            </a:avLst>
          </a:prstGeom>
          <a:solidFill xmlns:a="http://schemas.openxmlformats.org/drawingml/2006/main">
            <a:srgbClr val="DBEAFE"/>
          </a:solidFill>
          <a:ln xmlns:a="http://schemas.openxmlformats.org/drawingml/2006/main" w="9525">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D59EE50-D150-4C01-9E5D-27CE2A29441E}"/>
              </a:ext>
            </a:extLst>
          </p:cNvPr>
          <p:cNvSpPr>
            <a:spLocks xmlns:a="http://schemas.openxmlformats.org/drawingml/2006/main" noGrp="1"/>
          </p:cNvSpPr>
          <p:nvPr/>
        </p:nvSpPr>
        <p:spPr>
          <a:xfrm xmlns:a="http://schemas.openxmlformats.org/drawingml/2006/main">
            <a:off x="857250" y="22002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Data quality</a:t>
            </a:r>
          </a:p>
        </p:txBody>
      </p:sp>
      <p:sp>
        <p:nvSpPr>
          <p:cNvPr id="6" name="">
            <a:extLst xmlns:a="http://schemas.openxmlformats.org/drawingml/2006/main">
              <a:ext uri="{FF2B5EF4-FFF2-40B4-BE49-F238E27FC236}">
                <a16:creationId xmlns:a16="http://schemas.microsoft.com/office/drawing/2014/main" id="{4588D4B9-0D03-4DE4-AEA2-1B685BB76B00}"/>
              </a:ext>
            </a:extLst>
          </p:cNvPr>
          <p:cNvSpPr>
            <a:spLocks xmlns:a="http://schemas.openxmlformats.org/drawingml/2006/main" noGrp="1"/>
          </p:cNvSpPr>
          <p:nvPr/>
        </p:nvSpPr>
        <p:spPr>
          <a:xfrm xmlns:a="http://schemas.openxmlformats.org/drawingml/2006/main">
            <a:off x="895350" y="2600325"/>
            <a:ext cx="4495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 The dataset has no actual missing values after correct loading.</a:t>
            </a:r>
          </a:p>
          <a:p xmlns:a="http://schemas.openxmlformats.org/drawingml/2006/main">
            <a:pPr algn="l">
              <a:defRPr sz="1200" b="0">
                <a:solidFill>
                  <a:srgbClr val="111827"/>
                </a:solidFill>
              </a:defRPr>
            </a:pPr>
            <a:r>
              <a:rPr sz="1200" b="0">
                <a:solidFill>
                  <a:srgbClr val="111827"/>
                </a:solidFill>
              </a:rPr>
              <a:t>- None is a real addiction_level category, not missing data.</a:t>
            </a:r>
          </a:p>
        </p:txBody>
      </p:sp>
      <p:sp>
        <p:nvSpPr>
          <p:cNvPr id="7" name="">
            <a:extLst xmlns:a="http://schemas.openxmlformats.org/drawingml/2006/main">
              <a:ext uri="{FF2B5EF4-FFF2-40B4-BE49-F238E27FC236}">
                <a16:creationId xmlns:a16="http://schemas.microsoft.com/office/drawing/2014/main" id="{279AC5EA-4AFA-400C-A5F4-A16015FF6157}"/>
              </a:ext>
            </a:extLst>
          </p:cNvPr>
          <p:cNvSpPr>
            <a:spLocks xmlns:a="http://schemas.openxmlformats.org/drawingml/2006/main" noGrp="1"/>
          </p:cNvSpPr>
          <p:nvPr/>
        </p:nvSpPr>
        <p:spPr>
          <a:xfrm xmlns:a="http://schemas.openxmlformats.org/drawingml/2006/main">
            <a:off x="6191250" y="2047875"/>
            <a:ext cx="4953000" cy="1428750"/>
          </a:xfrm>
          <a:prstGeom xmlns:a="http://schemas.openxmlformats.org/drawingml/2006/main" prst="roundRect">
            <a:avLst>
              <a:gd name="adj" fmla="val 6667"/>
            </a:avLst>
          </a:prstGeom>
          <a:solidFill xmlns:a="http://schemas.openxmlformats.org/drawingml/2006/main">
            <a:srgbClr val="CCFBF1"/>
          </a:solidFill>
          <a:ln xmlns:a="http://schemas.openxmlformats.org/drawingml/2006/main" w="9525">
            <a:solidFill>
              <a:srgbClr val="5EEAD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8098312A-7DEA-47CD-B335-593C41D5890D}"/>
              </a:ext>
            </a:extLst>
          </p:cNvPr>
          <p:cNvSpPr>
            <a:spLocks xmlns:a="http://schemas.openxmlformats.org/drawingml/2006/main" noGrp="1"/>
          </p:cNvSpPr>
          <p:nvPr/>
        </p:nvSpPr>
        <p:spPr>
          <a:xfrm xmlns:a="http://schemas.openxmlformats.org/drawingml/2006/main">
            <a:off x="6381750" y="22002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Preprocessing and leakage</a:t>
            </a:r>
          </a:p>
        </p:txBody>
      </p:sp>
      <p:sp>
        <p:nvSpPr>
          <p:cNvPr id="9" name="">
            <a:extLst xmlns:a="http://schemas.openxmlformats.org/drawingml/2006/main">
              <a:ext uri="{FF2B5EF4-FFF2-40B4-BE49-F238E27FC236}">
                <a16:creationId xmlns:a16="http://schemas.microsoft.com/office/drawing/2014/main" id="{1A111EF2-DCD1-4DBC-9131-9EA712740E7B}"/>
              </a:ext>
            </a:extLst>
          </p:cNvPr>
          <p:cNvSpPr>
            <a:spLocks xmlns:a="http://schemas.openxmlformats.org/drawingml/2006/main" noGrp="1"/>
          </p:cNvSpPr>
          <p:nvPr/>
        </p:nvSpPr>
        <p:spPr>
          <a:xfrm xmlns:a="http://schemas.openxmlformats.org/drawingml/2006/main">
            <a:off x="6419850" y="2600325"/>
            <a:ext cx="4495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 The model excludes identifiers, target fields, addiction_level, and gender.</a:t>
            </a:r>
          </a:p>
          <a:p xmlns:a="http://schemas.openxmlformats.org/drawingml/2006/main">
            <a:pPr algn="l">
              <a:defRPr sz="1200" b="0">
                <a:solidFill>
                  <a:srgbClr val="111827"/>
                </a:solidFill>
              </a:defRPr>
            </a:pPr>
            <a:r>
              <a:rPr sz="1200" b="0">
                <a:solidFill>
                  <a:srgbClr val="111827"/>
                </a:solidFill>
              </a:rPr>
              <a:t>- This protects the modeling task from leakage and weak demographic features.</a:t>
            </a:r>
          </a:p>
        </p:txBody>
      </p:sp>
      <p:sp>
        <p:nvSpPr>
          <p:cNvPr id="10" name="">
            <a:extLst xmlns:a="http://schemas.openxmlformats.org/drawingml/2006/main">
              <a:ext uri="{FF2B5EF4-FFF2-40B4-BE49-F238E27FC236}">
                <a16:creationId xmlns:a16="http://schemas.microsoft.com/office/drawing/2014/main" id="{6112C164-1A0D-4342-AA10-05F4B8E16AF8}"/>
              </a:ext>
            </a:extLst>
          </p:cNvPr>
          <p:cNvSpPr>
            <a:spLocks xmlns:a="http://schemas.openxmlformats.org/drawingml/2006/main" noGrp="1"/>
          </p:cNvSpPr>
          <p:nvPr/>
        </p:nvSpPr>
        <p:spPr>
          <a:xfrm xmlns:a="http://schemas.openxmlformats.org/drawingml/2006/main">
            <a:off x="666750" y="4000500"/>
            <a:ext cx="4953000" cy="1428750"/>
          </a:xfrm>
          <a:prstGeom xmlns:a="http://schemas.openxmlformats.org/drawingml/2006/main" prst="roundRect">
            <a:avLst>
              <a:gd name="adj" fmla="val 6667"/>
            </a:avLst>
          </a:prstGeom>
          <a:solidFill xmlns:a="http://schemas.openxmlformats.org/drawingml/2006/main">
            <a:srgbClr val="FEF3C7"/>
          </a:solidFill>
          <a:ln xmlns:a="http://schemas.openxmlformats.org/drawingml/2006/main" w="9525">
            <a:solidFill>
              <a:srgbClr val="F59E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EF34F32-4FB9-409E-8646-6B7C551B5C24}"/>
              </a:ext>
            </a:extLst>
          </p:cNvPr>
          <p:cNvSpPr>
            <a:spLocks xmlns:a="http://schemas.openxmlformats.org/drawingml/2006/main" noGrp="1"/>
          </p:cNvSpPr>
          <p:nvPr/>
        </p:nvSpPr>
        <p:spPr>
          <a:xfrm xmlns:a="http://schemas.openxmlformats.org/drawingml/2006/main">
            <a:off x="857250" y="41529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EDA diagnostics</a:t>
            </a:r>
          </a:p>
        </p:txBody>
      </p:sp>
      <p:sp>
        <p:nvSpPr>
          <p:cNvPr id="12" name="">
            <a:extLst xmlns:a="http://schemas.openxmlformats.org/drawingml/2006/main">
              <a:ext uri="{FF2B5EF4-FFF2-40B4-BE49-F238E27FC236}">
                <a16:creationId xmlns:a16="http://schemas.microsoft.com/office/drawing/2014/main" id="{535B2A8D-215F-411C-9D0C-F290D601EFB9}"/>
              </a:ext>
            </a:extLst>
          </p:cNvPr>
          <p:cNvSpPr>
            <a:spLocks xmlns:a="http://schemas.openxmlformats.org/drawingml/2006/main" noGrp="1"/>
          </p:cNvSpPr>
          <p:nvPr/>
        </p:nvSpPr>
        <p:spPr>
          <a:xfrm xmlns:a="http://schemas.openxmlformats.org/drawingml/2006/main">
            <a:off x="895350" y="4552950"/>
            <a:ext cx="4495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 Screen-time and social-media variables carry the practical signal.</a:t>
            </a:r>
          </a:p>
          <a:p xmlns:a="http://schemas.openxmlformats.org/drawingml/2006/main">
            <a:pPr algn="l">
              <a:defRPr sz="1200" b="0">
                <a:solidFill>
                  <a:srgbClr val="111827"/>
                </a:solidFill>
              </a:defRPr>
            </a:pPr>
            <a:r>
              <a:rPr sz="1200" b="0">
                <a:solidFill>
                  <a:srgbClr val="111827"/>
                </a:solidFill>
              </a:rPr>
              <a:t>- Collinearity and arithmetic checks limit how far we can interpret engineered features.</a:t>
            </a:r>
          </a:p>
        </p:txBody>
      </p:sp>
      <p:sp>
        <p:nvSpPr>
          <p:cNvPr id="13" name="">
            <a:extLst xmlns:a="http://schemas.openxmlformats.org/drawingml/2006/main">
              <a:ext uri="{FF2B5EF4-FFF2-40B4-BE49-F238E27FC236}">
                <a16:creationId xmlns:a16="http://schemas.microsoft.com/office/drawing/2014/main" id="{DE7B4E2F-4D00-4981-AE80-68EC95BA233D}"/>
              </a:ext>
            </a:extLst>
          </p:cNvPr>
          <p:cNvSpPr>
            <a:spLocks xmlns:a="http://schemas.openxmlformats.org/drawingml/2006/main" noGrp="1"/>
          </p:cNvSpPr>
          <p:nvPr/>
        </p:nvSpPr>
        <p:spPr>
          <a:xfrm xmlns:a="http://schemas.openxmlformats.org/drawingml/2006/main">
            <a:off x="6191250" y="4000500"/>
            <a:ext cx="4953000" cy="1428750"/>
          </a:xfrm>
          <a:prstGeom xmlns:a="http://schemas.openxmlformats.org/drawingml/2006/main" prst="roundRect">
            <a:avLst>
              <a:gd name="adj" fmla="val 6667"/>
            </a:avLst>
          </a:prstGeom>
          <a:solidFill xmlns:a="http://schemas.openxmlformats.org/drawingml/2006/main">
            <a:srgbClr val="EDE9FE"/>
          </a:solidFill>
          <a:ln xmlns:a="http://schemas.openxmlformats.org/drawingml/2006/main" w="9525">
            <a:solidFill>
              <a:srgbClr val="C4B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4A35DD8A-76F0-496A-A7B0-AD3A65670283}"/>
              </a:ext>
            </a:extLst>
          </p:cNvPr>
          <p:cNvSpPr>
            <a:spLocks xmlns:a="http://schemas.openxmlformats.org/drawingml/2006/main" noGrp="1"/>
          </p:cNvSpPr>
          <p:nvPr/>
        </p:nvSpPr>
        <p:spPr>
          <a:xfrm xmlns:a="http://schemas.openxmlformats.org/drawingml/2006/main">
            <a:off x="6381750" y="41529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Modeling interpretation</a:t>
            </a:r>
          </a:p>
        </p:txBody>
      </p:sp>
      <p:sp>
        <p:nvSpPr>
          <p:cNvPr id="15" name="">
            <a:extLst xmlns:a="http://schemas.openxmlformats.org/drawingml/2006/main">
              <a:ext uri="{FF2B5EF4-FFF2-40B4-BE49-F238E27FC236}">
                <a16:creationId xmlns:a16="http://schemas.microsoft.com/office/drawing/2014/main" id="{58F3BC8F-273A-4D9A-8D6E-1F91261C9E10}"/>
              </a:ext>
            </a:extLst>
          </p:cNvPr>
          <p:cNvSpPr>
            <a:spLocks xmlns:a="http://schemas.openxmlformats.org/drawingml/2006/main" noGrp="1"/>
          </p:cNvSpPr>
          <p:nvPr/>
        </p:nvSpPr>
        <p:spPr>
          <a:xfrm xmlns:a="http://schemas.openxmlformats.org/drawingml/2006/main">
            <a:off x="6419850" y="4552950"/>
            <a:ext cx="4495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 The tuned decision tree is strong and explainable.</a:t>
            </a:r>
          </a:p>
          <a:p xmlns:a="http://schemas.openxmlformats.org/drawingml/2006/main">
            <a:pPr algn="l">
              <a:defRPr sz="1200" b="0">
                <a:solidFill>
                  <a:srgbClr val="111827"/>
                </a:solidFill>
              </a:defRPr>
            </a:pPr>
            <a:r>
              <a:rPr sz="1200" b="0">
                <a:solidFill>
                  <a:srgbClr val="111827"/>
                </a:solidFill>
              </a:rPr>
              <a:t>- The honest conclusion is target reconstruction, not diagnosis.</a:t>
            </a:r>
          </a:p>
        </p:txBody>
      </p:sp>
      <p:sp>
        <p:nvSpPr>
          <p:cNvPr id="16" name="">
            <a:extLst xmlns:a="http://schemas.openxmlformats.org/drawingml/2006/main">
              <a:ext uri="{FF2B5EF4-FFF2-40B4-BE49-F238E27FC236}">
                <a16:creationId xmlns:a16="http://schemas.microsoft.com/office/drawing/2014/main" id="{28F59741-645E-42CC-BE9F-0C4A967ECDBA}"/>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7" name="">
            <a:extLst xmlns:a="http://schemas.openxmlformats.org/drawingml/2006/main">
              <a:ext uri="{FF2B5EF4-FFF2-40B4-BE49-F238E27FC236}">
                <a16:creationId xmlns:a16="http://schemas.microsoft.com/office/drawing/2014/main" id="{A6E264C2-34F9-4D55-9C38-9A5ECCA3099A}"/>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20</a:t>
            </a:r>
          </a:p>
        </p:txBody>
      </p:sp>
    </p:spTree>
    <p:extLst>
      <p:ext uri="{BB962C8B-B14F-4D97-AF65-F5344CB8AC3E}">
        <p14:creationId xmlns:p14="http://schemas.microsoft.com/office/powerpoint/2010/main" val="1221220258"/>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59CDFA-F0E3-4268-8988-351A63D1B74E}"/>
              </a:ext>
            </a:extLst>
          </p:cNvPr>
          <p:cNvSpPr>
            <a:spLocks xmlns:a="http://schemas.openxmlformats.org/drawingml/2006/main" noGrp="1"/>
          </p:cNvSpPr>
          <p:nvPr/>
        </p:nvSpPr>
        <p:spPr>
          <a:xfrm xmlns:a="http://schemas.openxmlformats.org/drawingml/2006/main">
            <a:off x="6096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2563EB"/>
                </a:solidFill>
              </a:defRPr>
            </a:pPr>
            <a:r>
              <a:rPr sz="900" b="1">
                <a:solidFill>
                  <a:srgbClr val="2563EB"/>
                </a:solidFill>
              </a:rPr>
              <a:t>SMARTPHONE USAGE ANALYSIS</a:t>
            </a:r>
          </a:p>
        </p:txBody>
      </p:sp>
      <p:sp>
        <p:nvSpPr>
          <p:cNvPr id="2" name="">
            <a:extLst xmlns:a="http://schemas.openxmlformats.org/drawingml/2006/main">
              <a:ext uri="{FF2B5EF4-FFF2-40B4-BE49-F238E27FC236}">
                <a16:creationId xmlns:a16="http://schemas.microsoft.com/office/drawing/2014/main" id="{44A73B2D-8E4F-42F6-BA4F-044C30E34A74}"/>
              </a:ext>
            </a:extLst>
          </p:cNvPr>
          <p:cNvSpPr>
            <a:spLocks xmlns:a="http://schemas.openxmlformats.org/drawingml/2006/main" noGrp="1"/>
          </p:cNvSpPr>
          <p:nvPr/>
        </p:nvSpPr>
        <p:spPr>
          <a:xfrm xmlns:a="http://schemas.openxmlformats.org/drawingml/2006/main">
            <a:off x="609600" y="742950"/>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F172A"/>
                </a:solidFill>
              </a:defRPr>
            </a:pPr>
            <a:r>
              <a:rPr sz="2700" b="1">
                <a:solidFill>
                  <a:srgbClr val="0F172A"/>
                </a:solidFill>
              </a:rPr>
              <a:t>Closing statement</a:t>
            </a:r>
          </a:p>
        </p:txBody>
      </p:sp>
      <p:sp>
        <p:nvSpPr>
          <p:cNvPr id="3" name="">
            <a:extLst xmlns:a="http://schemas.openxmlformats.org/drawingml/2006/main">
              <a:ext uri="{FF2B5EF4-FFF2-40B4-BE49-F238E27FC236}">
                <a16:creationId xmlns:a16="http://schemas.microsoft.com/office/drawing/2014/main" id="{29D03D61-226A-47D3-81B8-455C89106CAA}"/>
              </a:ext>
            </a:extLst>
          </p:cNvPr>
          <p:cNvSpPr>
            <a:spLocks xmlns:a="http://schemas.openxmlformats.org/drawingml/2006/main" noGrp="1"/>
          </p:cNvSpPr>
          <p:nvPr/>
        </p:nvSpPr>
        <p:spPr>
          <a:xfrm xmlns:a="http://schemas.openxmlformats.org/drawingml/2006/main">
            <a:off x="628650" y="13525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75569"/>
                </a:solidFill>
              </a:defRPr>
            </a:pPr>
            <a:r>
              <a:rPr sz="1350" b="0">
                <a:solidFill>
                  <a:srgbClr val="475569"/>
                </a:solidFill>
              </a:rPr>
              <a:t>Final conclusion and limitations.</a:t>
            </a:r>
          </a:p>
        </p:txBody>
      </p:sp>
      <p:sp>
        <p:nvSpPr>
          <p:cNvPr id="4" name="">
            <a:extLst xmlns:a="http://schemas.openxmlformats.org/drawingml/2006/main">
              <a:ext uri="{FF2B5EF4-FFF2-40B4-BE49-F238E27FC236}">
                <a16:creationId xmlns:a16="http://schemas.microsoft.com/office/drawing/2014/main" id="{DEEFE909-B326-457D-885B-9551DF38E3AA}"/>
              </a:ext>
            </a:extLst>
          </p:cNvPr>
          <p:cNvSpPr>
            <a:spLocks xmlns:a="http://schemas.openxmlformats.org/drawingml/2006/main" noGrp="1"/>
          </p:cNvSpPr>
          <p:nvPr/>
        </p:nvSpPr>
        <p:spPr>
          <a:xfrm xmlns:a="http://schemas.openxmlformats.org/drawingml/2006/main">
            <a:off x="1714500" y="2286000"/>
            <a:ext cx="8572500" cy="18097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3E2480B4-9A67-4AE5-8750-73B4BCEED57D}"/>
              </a:ext>
            </a:extLst>
          </p:cNvPr>
          <p:cNvSpPr>
            <a:spLocks xmlns:a="http://schemas.openxmlformats.org/drawingml/2006/main" noGrp="1"/>
          </p:cNvSpPr>
          <p:nvPr/>
        </p:nvSpPr>
        <p:spPr>
          <a:xfrm xmlns:a="http://schemas.openxmlformats.org/drawingml/2006/main">
            <a:off x="1905000" y="2457450"/>
            <a:ext cx="819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Final conclusion</a:t>
            </a:r>
          </a:p>
        </p:txBody>
      </p:sp>
      <p:sp>
        <p:nvSpPr>
          <p:cNvPr id="6" name="">
            <a:extLst xmlns:a="http://schemas.openxmlformats.org/drawingml/2006/main">
              <a:ext uri="{FF2B5EF4-FFF2-40B4-BE49-F238E27FC236}">
                <a16:creationId xmlns:a16="http://schemas.microsoft.com/office/drawing/2014/main" id="{10EA0826-7AFE-4082-80DD-FB10A4A73A4A}"/>
              </a:ext>
            </a:extLst>
          </p:cNvPr>
          <p:cNvSpPr>
            <a:spLocks xmlns:a="http://schemas.openxmlformats.org/drawingml/2006/main" noGrp="1"/>
          </p:cNvSpPr>
          <p:nvPr/>
        </p:nvSpPr>
        <p:spPr>
          <a:xfrm xmlns:a="http://schemas.openxmlformats.org/drawingml/2006/main">
            <a:off x="1905000" y="2838450"/>
            <a:ext cx="8191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analysis became stronger after correcting the data-loading issue. It keeps all 7,500 rows, controls leakage, identifies behavioral variables with practical signal, and selects an explainable decision tree. The final model performs strongly, but it reconstructs a rule-defined dataset target and should not be treated as a clinical addiction diagnosis.</a:t>
            </a:r>
          </a:p>
        </p:txBody>
      </p:sp>
      <p:sp>
        <p:nvSpPr>
          <p:cNvPr id="7" name="">
            <a:extLst xmlns:a="http://schemas.openxmlformats.org/drawingml/2006/main">
              <a:ext uri="{FF2B5EF4-FFF2-40B4-BE49-F238E27FC236}">
                <a16:creationId xmlns:a16="http://schemas.microsoft.com/office/drawing/2014/main" id="{C18EAE3C-81F6-4712-8254-0A3857C4EEF7}"/>
              </a:ext>
            </a:extLst>
          </p:cNvPr>
          <p:cNvSpPr>
            <a:spLocks xmlns:a="http://schemas.openxmlformats.org/drawingml/2006/main" noGrp="1"/>
          </p:cNvSpPr>
          <p:nvPr/>
        </p:nvSpPr>
        <p:spPr>
          <a:xfrm xmlns:a="http://schemas.openxmlformats.org/drawingml/2006/main">
            <a:off x="2381250" y="4572000"/>
            <a:ext cx="7239000" cy="952500"/>
          </a:xfrm>
          <a:prstGeom xmlns:a="http://schemas.openxmlformats.org/drawingml/2006/main" prst="roundRect">
            <a:avLst>
              <a:gd name="adj" fmla="val 10000"/>
            </a:avLst>
          </a:prstGeom>
          <a:solidFill xmlns:a="http://schemas.openxmlformats.org/drawingml/2006/main">
            <a:srgbClr val="FEF3C7"/>
          </a:solidFill>
          <a:ln xmlns:a="http://schemas.openxmlformats.org/drawingml/2006/main" w="9525">
            <a:solidFill>
              <a:srgbClr val="F59E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8880A14-90FA-455A-A642-AF37DBF77083}"/>
              </a:ext>
            </a:extLst>
          </p:cNvPr>
          <p:cNvSpPr>
            <a:spLocks xmlns:a="http://schemas.openxmlformats.org/drawingml/2006/main" noGrp="1"/>
          </p:cNvSpPr>
          <p:nvPr/>
        </p:nvSpPr>
        <p:spPr>
          <a:xfrm xmlns:a="http://schemas.openxmlformats.org/drawingml/2006/main">
            <a:off x="2571750" y="4743450"/>
            <a:ext cx="685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172A"/>
                </a:solidFill>
              </a:defRPr>
            </a:pPr>
            <a:r>
              <a:rPr sz="1650" b="1">
                <a:solidFill>
                  <a:srgbClr val="0F172A"/>
                </a:solidFill>
              </a:rPr>
              <a:t>Limitations anchor</a:t>
            </a:r>
          </a:p>
        </p:txBody>
      </p:sp>
      <p:sp>
        <p:nvSpPr>
          <p:cNvPr id="9" name="">
            <a:extLst xmlns:a="http://schemas.openxmlformats.org/drawingml/2006/main">
              <a:ext uri="{FF2B5EF4-FFF2-40B4-BE49-F238E27FC236}">
                <a16:creationId xmlns:a16="http://schemas.microsoft.com/office/drawing/2014/main" id="{89A7ED29-ABA1-4E9B-9586-D3067390D5F2}"/>
              </a:ext>
            </a:extLst>
          </p:cNvPr>
          <p:cNvSpPr>
            <a:spLocks xmlns:a="http://schemas.openxmlformats.org/drawingml/2006/main" noGrp="1"/>
          </p:cNvSpPr>
          <p:nvPr/>
        </p:nvSpPr>
        <p:spPr>
          <a:xfrm xmlns:a="http://schemas.openxmlformats.org/drawingml/2006/main">
            <a:off x="2571750" y="51244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111827"/>
                </a:solidFill>
              </a:defRPr>
            </a:pPr>
            <a:r>
              <a:rPr sz="1200" b="0">
                <a:solidFill>
                  <a:srgbClr val="111827"/>
                </a:solidFill>
              </a:rPr>
              <a:t>The key limitations are that the target is derived from addiction_level, the dataset appears synthetic or rule-defined, and the strongest predictors are associated with the label rather than proven causes.</a:t>
            </a:r>
          </a:p>
        </p:txBody>
      </p:sp>
      <p:sp>
        <p:nvSpPr>
          <p:cNvPr id="10" name="">
            <a:extLst xmlns:a="http://schemas.openxmlformats.org/drawingml/2006/main">
              <a:ext uri="{FF2B5EF4-FFF2-40B4-BE49-F238E27FC236}">
                <a16:creationId xmlns:a16="http://schemas.microsoft.com/office/drawing/2014/main" id="{0370AB57-C55D-4400-B069-1D5DA3A04FD2}"/>
              </a:ext>
            </a:extLst>
          </p:cNvPr>
          <p:cNvSpPr>
            <a:spLocks xmlns:a="http://schemas.openxmlformats.org/drawingml/2006/main" noGrp="1"/>
          </p:cNvSpPr>
          <p:nvPr/>
        </p:nvSpPr>
        <p:spPr>
          <a:xfrm xmlns:a="http://schemas.openxmlformats.org/drawingml/2006/main">
            <a:off x="609600" y="64389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4748B"/>
                </a:solidFill>
              </a:defRPr>
            </a:pPr>
            <a:r>
              <a:rPr sz="825" b="0">
                <a:solidFill>
                  <a:srgbClr val="64748B"/>
                </a:solidFill>
              </a:rPr>
              <a:t>Detailed 20-minute explanation deck</a:t>
            </a:r>
          </a:p>
        </p:txBody>
      </p:sp>
      <p:sp>
        <p:nvSpPr>
          <p:cNvPr id="11" name="">
            <a:extLst xmlns:a="http://schemas.openxmlformats.org/drawingml/2006/main">
              <a:ext uri="{FF2B5EF4-FFF2-40B4-BE49-F238E27FC236}">
                <a16:creationId xmlns:a16="http://schemas.microsoft.com/office/drawing/2014/main" id="{1EA04A43-6341-429F-B53B-77863FA9E314}"/>
              </a:ext>
            </a:extLst>
          </p:cNvPr>
          <p:cNvSpPr>
            <a:spLocks xmlns:a="http://schemas.openxmlformats.org/drawingml/2006/main" noGrp="1"/>
          </p:cNvSpPr>
          <p:nvPr/>
        </p:nvSpPr>
        <p:spPr>
          <a:xfrm xmlns:a="http://schemas.openxmlformats.org/drawingml/2006/main">
            <a:off x="11049000" y="64389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0">
                <a:solidFill>
                  <a:srgbClr val="64748B"/>
                </a:solidFill>
              </a:defRPr>
            </a:pPr>
            <a:r>
              <a:rPr sz="825" b="0">
                <a:solidFill>
                  <a:srgbClr val="64748B"/>
                </a:solidFill>
              </a:rPr>
              <a:t>21</a:t>
            </a:r>
          </a:p>
        </p:txBody>
      </p:sp>
    </p:spTree>
    <p:extLst>
      <p:ext uri="{BB962C8B-B14F-4D97-AF65-F5344CB8AC3E}">
        <p14:creationId xmlns:p14="http://schemas.microsoft.com/office/powerpoint/2010/main" val="15397387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2026-06-22T16:10:17.8440000Z</dcterms:created>
  <dcterms:modified xsi:type="dcterms:W3CDTF">2026-06-22T16:10:17.8440000Z</dcterms:modified>
</coreProperties>
</file>